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2.xml" ContentType="application/vnd.openxmlformats-officedocument.drawingml.chart+xml"/>
  <Override PartName="/ppt/theme/themeOverride1.xml" ContentType="application/vnd.openxmlformats-officedocument.themeOverr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8.xml" ContentType="application/vnd.openxmlformats-officedocument.presentationml.notesSlide+xml"/>
  <Override PartName="/ppt/charts/chart4.xml" ContentType="application/vnd.openxmlformats-officedocument.drawingml.chart+xml"/>
  <Override PartName="/ppt/theme/themeOverride2.xml" ContentType="application/vnd.openxmlformats-officedocument.themeOverr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63" r:id="rId3"/>
    <p:sldMasterId id="2147483666" r:id="rId4"/>
    <p:sldMasterId id="2147483669" r:id="rId5"/>
  </p:sldMasterIdLst>
  <p:notesMasterIdLst>
    <p:notesMasterId r:id="rId4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84" r:id="rId18"/>
    <p:sldId id="268" r:id="rId19"/>
    <p:sldId id="286" r:id="rId20"/>
    <p:sldId id="269" r:id="rId21"/>
    <p:sldId id="285" r:id="rId22"/>
    <p:sldId id="270" r:id="rId23"/>
    <p:sldId id="271" r:id="rId24"/>
    <p:sldId id="272" r:id="rId25"/>
    <p:sldId id="273" r:id="rId26"/>
    <p:sldId id="287" r:id="rId27"/>
    <p:sldId id="293" r:id="rId28"/>
    <p:sldId id="296" r:id="rId29"/>
    <p:sldId id="297" r:id="rId30"/>
    <p:sldId id="275" r:id="rId31"/>
    <p:sldId id="276" r:id="rId32"/>
    <p:sldId id="299" r:id="rId33"/>
    <p:sldId id="277" r:id="rId34"/>
    <p:sldId id="278" r:id="rId35"/>
    <p:sldId id="280" r:id="rId36"/>
    <p:sldId id="289" r:id="rId37"/>
    <p:sldId id="290" r:id="rId38"/>
    <p:sldId id="291" r:id="rId39"/>
    <p:sldId id="281" r:id="rId40"/>
    <p:sldId id="282" r:id="rId41"/>
    <p:sldId id="292" r:id="rId4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iHoW9I8C+QGToRWfH/y6R2Pvk9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C90DBF-FC51-4E21-B4E3-DF21BC108ACA}">
  <a:tblStyle styleId="{E0C90DBF-FC51-4E21-B4E3-DF21BC108AC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B878C64C-D725-4E01-9F0C-7CD5349F8D5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91" autoAdjust="0"/>
    <p:restoredTop sz="92410" autoAdjust="0"/>
  </p:normalViewPr>
  <p:slideViewPr>
    <p:cSldViewPr snapToGrid="0">
      <p:cViewPr varScale="1">
        <p:scale>
          <a:sx n="103" d="100"/>
          <a:sy n="103" d="100"/>
        </p:scale>
        <p:origin x="71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iver\Documents\Work%20Docs\NMSAS\CR\CRW_SST_Data-Graphs-Fig1v2-8-2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31.jpg"/><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iver\Documents\Work%20Docs\NMSAS\CR\Precip.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173438823506373E-2"/>
          <c:y val="3.1483974724475783E-2"/>
          <c:w val="0.90365312235298723"/>
          <c:h val="0.7429886743331009"/>
        </c:manualLayout>
      </c:layout>
      <c:areaChart>
        <c:grouping val="standard"/>
        <c:varyColors val="0"/>
        <c:ser>
          <c:idx val="6"/>
          <c:order val="6"/>
          <c:tx>
            <c:strRef>
              <c:f>Final!$I$1</c:f>
              <c:strCache>
                <c:ptCount val="1"/>
                <c:pt idx="0">
                  <c:v>El Nino</c:v>
                </c:pt>
              </c:strCache>
            </c:strRef>
          </c:tx>
          <c:spPr>
            <a:solidFill>
              <a:schemeClr val="bg1">
                <a:lumMod val="85000"/>
              </a:schemeClr>
            </a:solidFill>
            <a:ln w="25400">
              <a:noFill/>
            </a:ln>
            <a:effectLst/>
          </c:spPr>
          <c:cat>
            <c:numRef>
              <c:f>Final!$B$2:$B$425</c:f>
              <c:numCache>
                <c:formatCode>m/d/yyyy</c:formatCode>
                <c:ptCount val="424"/>
                <c:pt idx="0">
                  <c:v>31062</c:v>
                </c:pt>
                <c:pt idx="1">
                  <c:v>31093</c:v>
                </c:pt>
                <c:pt idx="2">
                  <c:v>31121</c:v>
                </c:pt>
                <c:pt idx="3">
                  <c:v>31152</c:v>
                </c:pt>
                <c:pt idx="4">
                  <c:v>31182</c:v>
                </c:pt>
                <c:pt idx="5">
                  <c:v>31213</c:v>
                </c:pt>
                <c:pt idx="6">
                  <c:v>31243</c:v>
                </c:pt>
                <c:pt idx="7">
                  <c:v>31274</c:v>
                </c:pt>
                <c:pt idx="8">
                  <c:v>31305</c:v>
                </c:pt>
                <c:pt idx="9">
                  <c:v>31335</c:v>
                </c:pt>
                <c:pt idx="10">
                  <c:v>31366</c:v>
                </c:pt>
                <c:pt idx="11">
                  <c:v>31396</c:v>
                </c:pt>
                <c:pt idx="12">
                  <c:v>31427</c:v>
                </c:pt>
                <c:pt idx="13">
                  <c:v>31458</c:v>
                </c:pt>
                <c:pt idx="14">
                  <c:v>31486</c:v>
                </c:pt>
                <c:pt idx="15">
                  <c:v>31517</c:v>
                </c:pt>
                <c:pt idx="16">
                  <c:v>31547</c:v>
                </c:pt>
                <c:pt idx="17">
                  <c:v>31578</c:v>
                </c:pt>
                <c:pt idx="18">
                  <c:v>31608</c:v>
                </c:pt>
                <c:pt idx="19">
                  <c:v>31639</c:v>
                </c:pt>
                <c:pt idx="20">
                  <c:v>31670</c:v>
                </c:pt>
                <c:pt idx="21">
                  <c:v>31700</c:v>
                </c:pt>
                <c:pt idx="22">
                  <c:v>31731</c:v>
                </c:pt>
                <c:pt idx="23">
                  <c:v>31761</c:v>
                </c:pt>
                <c:pt idx="24">
                  <c:v>31792</c:v>
                </c:pt>
                <c:pt idx="25">
                  <c:v>31823</c:v>
                </c:pt>
                <c:pt idx="26">
                  <c:v>31851</c:v>
                </c:pt>
                <c:pt idx="27">
                  <c:v>31882</c:v>
                </c:pt>
                <c:pt idx="28">
                  <c:v>31912</c:v>
                </c:pt>
                <c:pt idx="29">
                  <c:v>31943</c:v>
                </c:pt>
                <c:pt idx="30">
                  <c:v>31973</c:v>
                </c:pt>
                <c:pt idx="31">
                  <c:v>32004</c:v>
                </c:pt>
                <c:pt idx="32">
                  <c:v>32035</c:v>
                </c:pt>
                <c:pt idx="33">
                  <c:v>32065</c:v>
                </c:pt>
                <c:pt idx="34">
                  <c:v>32096</c:v>
                </c:pt>
                <c:pt idx="35">
                  <c:v>32126</c:v>
                </c:pt>
                <c:pt idx="36">
                  <c:v>32157</c:v>
                </c:pt>
                <c:pt idx="37">
                  <c:v>32188</c:v>
                </c:pt>
                <c:pt idx="38">
                  <c:v>32217</c:v>
                </c:pt>
                <c:pt idx="39">
                  <c:v>32248</c:v>
                </c:pt>
                <c:pt idx="40">
                  <c:v>32278</c:v>
                </c:pt>
                <c:pt idx="41">
                  <c:v>32309</c:v>
                </c:pt>
                <c:pt idx="42">
                  <c:v>32339</c:v>
                </c:pt>
                <c:pt idx="43">
                  <c:v>32370</c:v>
                </c:pt>
                <c:pt idx="44">
                  <c:v>32401</c:v>
                </c:pt>
                <c:pt idx="45">
                  <c:v>32431</c:v>
                </c:pt>
                <c:pt idx="46">
                  <c:v>32462</c:v>
                </c:pt>
                <c:pt idx="47">
                  <c:v>32492</c:v>
                </c:pt>
                <c:pt idx="48">
                  <c:v>32523</c:v>
                </c:pt>
                <c:pt idx="49">
                  <c:v>32554</c:v>
                </c:pt>
                <c:pt idx="50">
                  <c:v>32582</c:v>
                </c:pt>
                <c:pt idx="51">
                  <c:v>32613</c:v>
                </c:pt>
                <c:pt idx="52">
                  <c:v>32643</c:v>
                </c:pt>
                <c:pt idx="53">
                  <c:v>32674</c:v>
                </c:pt>
                <c:pt idx="54">
                  <c:v>32704</c:v>
                </c:pt>
                <c:pt idx="55">
                  <c:v>32735</c:v>
                </c:pt>
                <c:pt idx="56">
                  <c:v>32766</c:v>
                </c:pt>
                <c:pt idx="57">
                  <c:v>32796</c:v>
                </c:pt>
                <c:pt idx="58">
                  <c:v>32827</c:v>
                </c:pt>
                <c:pt idx="59">
                  <c:v>32857</c:v>
                </c:pt>
                <c:pt idx="60">
                  <c:v>32888</c:v>
                </c:pt>
                <c:pt idx="61">
                  <c:v>32919</c:v>
                </c:pt>
                <c:pt idx="62">
                  <c:v>32947</c:v>
                </c:pt>
                <c:pt idx="63">
                  <c:v>32978</c:v>
                </c:pt>
                <c:pt idx="64">
                  <c:v>33008</c:v>
                </c:pt>
                <c:pt idx="65">
                  <c:v>33039</c:v>
                </c:pt>
                <c:pt idx="66">
                  <c:v>33069</c:v>
                </c:pt>
                <c:pt idx="67">
                  <c:v>33100</c:v>
                </c:pt>
                <c:pt idx="68">
                  <c:v>33131</c:v>
                </c:pt>
                <c:pt idx="69">
                  <c:v>33161</c:v>
                </c:pt>
                <c:pt idx="70">
                  <c:v>33192</c:v>
                </c:pt>
                <c:pt idx="71">
                  <c:v>33222</c:v>
                </c:pt>
                <c:pt idx="72">
                  <c:v>33253</c:v>
                </c:pt>
                <c:pt idx="73">
                  <c:v>33284</c:v>
                </c:pt>
                <c:pt idx="74">
                  <c:v>33312</c:v>
                </c:pt>
                <c:pt idx="75">
                  <c:v>33343</c:v>
                </c:pt>
                <c:pt idx="76">
                  <c:v>33373</c:v>
                </c:pt>
                <c:pt idx="77">
                  <c:v>33404</c:v>
                </c:pt>
                <c:pt idx="78">
                  <c:v>33434</c:v>
                </c:pt>
                <c:pt idx="79">
                  <c:v>33465</c:v>
                </c:pt>
                <c:pt idx="80">
                  <c:v>33496</c:v>
                </c:pt>
                <c:pt idx="81">
                  <c:v>33526</c:v>
                </c:pt>
                <c:pt idx="82">
                  <c:v>33557</c:v>
                </c:pt>
                <c:pt idx="83">
                  <c:v>33587</c:v>
                </c:pt>
                <c:pt idx="84">
                  <c:v>33618</c:v>
                </c:pt>
                <c:pt idx="85">
                  <c:v>33649</c:v>
                </c:pt>
                <c:pt idx="86">
                  <c:v>33678</c:v>
                </c:pt>
                <c:pt idx="87">
                  <c:v>33709</c:v>
                </c:pt>
                <c:pt idx="88">
                  <c:v>33739</c:v>
                </c:pt>
                <c:pt idx="89">
                  <c:v>33770</c:v>
                </c:pt>
                <c:pt idx="90">
                  <c:v>33800</c:v>
                </c:pt>
                <c:pt idx="91">
                  <c:v>33831</c:v>
                </c:pt>
                <c:pt idx="92">
                  <c:v>33862</c:v>
                </c:pt>
                <c:pt idx="93">
                  <c:v>33892</c:v>
                </c:pt>
                <c:pt idx="94">
                  <c:v>33923</c:v>
                </c:pt>
                <c:pt idx="95">
                  <c:v>33953</c:v>
                </c:pt>
                <c:pt idx="96">
                  <c:v>33984</c:v>
                </c:pt>
                <c:pt idx="97">
                  <c:v>34015</c:v>
                </c:pt>
                <c:pt idx="98">
                  <c:v>34043</c:v>
                </c:pt>
                <c:pt idx="99">
                  <c:v>34074</c:v>
                </c:pt>
                <c:pt idx="100">
                  <c:v>34104</c:v>
                </c:pt>
                <c:pt idx="101">
                  <c:v>34135</c:v>
                </c:pt>
                <c:pt idx="102">
                  <c:v>34165</c:v>
                </c:pt>
                <c:pt idx="103">
                  <c:v>34196</c:v>
                </c:pt>
                <c:pt idx="104">
                  <c:v>34227</c:v>
                </c:pt>
                <c:pt idx="105">
                  <c:v>34257</c:v>
                </c:pt>
                <c:pt idx="106">
                  <c:v>34288</c:v>
                </c:pt>
                <c:pt idx="107">
                  <c:v>34318</c:v>
                </c:pt>
                <c:pt idx="108">
                  <c:v>34349</c:v>
                </c:pt>
                <c:pt idx="109">
                  <c:v>34380</c:v>
                </c:pt>
                <c:pt idx="110">
                  <c:v>34408</c:v>
                </c:pt>
                <c:pt idx="111">
                  <c:v>34439</c:v>
                </c:pt>
                <c:pt idx="112">
                  <c:v>34469</c:v>
                </c:pt>
                <c:pt idx="113">
                  <c:v>34500</c:v>
                </c:pt>
                <c:pt idx="114">
                  <c:v>34530</c:v>
                </c:pt>
                <c:pt idx="115">
                  <c:v>34561</c:v>
                </c:pt>
                <c:pt idx="116">
                  <c:v>34592</c:v>
                </c:pt>
                <c:pt idx="117">
                  <c:v>34622</c:v>
                </c:pt>
                <c:pt idx="118">
                  <c:v>34653</c:v>
                </c:pt>
                <c:pt idx="119">
                  <c:v>34683</c:v>
                </c:pt>
                <c:pt idx="120">
                  <c:v>34714</c:v>
                </c:pt>
                <c:pt idx="121">
                  <c:v>34745</c:v>
                </c:pt>
                <c:pt idx="122">
                  <c:v>34773</c:v>
                </c:pt>
                <c:pt idx="123">
                  <c:v>34804</c:v>
                </c:pt>
                <c:pt idx="124">
                  <c:v>34834</c:v>
                </c:pt>
                <c:pt idx="125">
                  <c:v>34865</c:v>
                </c:pt>
                <c:pt idx="126">
                  <c:v>34895</c:v>
                </c:pt>
                <c:pt idx="127">
                  <c:v>34926</c:v>
                </c:pt>
                <c:pt idx="128">
                  <c:v>34957</c:v>
                </c:pt>
                <c:pt idx="129">
                  <c:v>34987</c:v>
                </c:pt>
                <c:pt idx="130">
                  <c:v>35018</c:v>
                </c:pt>
                <c:pt idx="131">
                  <c:v>35048</c:v>
                </c:pt>
                <c:pt idx="132">
                  <c:v>35079</c:v>
                </c:pt>
                <c:pt idx="133">
                  <c:v>35110</c:v>
                </c:pt>
                <c:pt idx="134">
                  <c:v>35139</c:v>
                </c:pt>
                <c:pt idx="135">
                  <c:v>35170</c:v>
                </c:pt>
                <c:pt idx="136">
                  <c:v>35200</c:v>
                </c:pt>
                <c:pt idx="137">
                  <c:v>35231</c:v>
                </c:pt>
                <c:pt idx="138">
                  <c:v>35261</c:v>
                </c:pt>
                <c:pt idx="139">
                  <c:v>35292</c:v>
                </c:pt>
                <c:pt idx="140">
                  <c:v>35323</c:v>
                </c:pt>
                <c:pt idx="141">
                  <c:v>35353</c:v>
                </c:pt>
                <c:pt idx="142">
                  <c:v>35384</c:v>
                </c:pt>
                <c:pt idx="143">
                  <c:v>35414</c:v>
                </c:pt>
                <c:pt idx="144">
                  <c:v>35445</c:v>
                </c:pt>
                <c:pt idx="145">
                  <c:v>35476</c:v>
                </c:pt>
                <c:pt idx="146">
                  <c:v>35504</c:v>
                </c:pt>
                <c:pt idx="147">
                  <c:v>35535</c:v>
                </c:pt>
                <c:pt idx="148">
                  <c:v>35565</c:v>
                </c:pt>
                <c:pt idx="149">
                  <c:v>35596</c:v>
                </c:pt>
                <c:pt idx="150">
                  <c:v>35626</c:v>
                </c:pt>
                <c:pt idx="151">
                  <c:v>35657</c:v>
                </c:pt>
                <c:pt idx="152">
                  <c:v>35688</c:v>
                </c:pt>
                <c:pt idx="153">
                  <c:v>35718</c:v>
                </c:pt>
                <c:pt idx="154">
                  <c:v>35749</c:v>
                </c:pt>
                <c:pt idx="155">
                  <c:v>35779</c:v>
                </c:pt>
                <c:pt idx="156">
                  <c:v>35810</c:v>
                </c:pt>
                <c:pt idx="157">
                  <c:v>35841</c:v>
                </c:pt>
                <c:pt idx="158">
                  <c:v>35869</c:v>
                </c:pt>
                <c:pt idx="159">
                  <c:v>35900</c:v>
                </c:pt>
                <c:pt idx="160">
                  <c:v>35930</c:v>
                </c:pt>
                <c:pt idx="161">
                  <c:v>35961</c:v>
                </c:pt>
                <c:pt idx="162">
                  <c:v>35991</c:v>
                </c:pt>
                <c:pt idx="163">
                  <c:v>36022</c:v>
                </c:pt>
                <c:pt idx="164">
                  <c:v>36053</c:v>
                </c:pt>
                <c:pt idx="165">
                  <c:v>36083</c:v>
                </c:pt>
                <c:pt idx="166">
                  <c:v>36114</c:v>
                </c:pt>
                <c:pt idx="167">
                  <c:v>36144</c:v>
                </c:pt>
                <c:pt idx="168">
                  <c:v>36175</c:v>
                </c:pt>
                <c:pt idx="169">
                  <c:v>36206</c:v>
                </c:pt>
                <c:pt idx="170">
                  <c:v>36234</c:v>
                </c:pt>
                <c:pt idx="171">
                  <c:v>36265</c:v>
                </c:pt>
                <c:pt idx="172">
                  <c:v>36295</c:v>
                </c:pt>
                <c:pt idx="173">
                  <c:v>36326</c:v>
                </c:pt>
                <c:pt idx="174">
                  <c:v>36356</c:v>
                </c:pt>
                <c:pt idx="175">
                  <c:v>36387</c:v>
                </c:pt>
                <c:pt idx="176">
                  <c:v>36418</c:v>
                </c:pt>
                <c:pt idx="177">
                  <c:v>36448</c:v>
                </c:pt>
                <c:pt idx="178">
                  <c:v>36479</c:v>
                </c:pt>
                <c:pt idx="179">
                  <c:v>36509</c:v>
                </c:pt>
                <c:pt idx="180">
                  <c:v>36540</c:v>
                </c:pt>
                <c:pt idx="181">
                  <c:v>36571</c:v>
                </c:pt>
                <c:pt idx="182">
                  <c:v>36600</c:v>
                </c:pt>
                <c:pt idx="183">
                  <c:v>36631</c:v>
                </c:pt>
                <c:pt idx="184">
                  <c:v>36661</c:v>
                </c:pt>
                <c:pt idx="185">
                  <c:v>36692</c:v>
                </c:pt>
                <c:pt idx="186">
                  <c:v>36722</c:v>
                </c:pt>
                <c:pt idx="187">
                  <c:v>36753</c:v>
                </c:pt>
                <c:pt idx="188">
                  <c:v>36784</c:v>
                </c:pt>
                <c:pt idx="189">
                  <c:v>36814</c:v>
                </c:pt>
                <c:pt idx="190">
                  <c:v>36845</c:v>
                </c:pt>
                <c:pt idx="191">
                  <c:v>36875</c:v>
                </c:pt>
                <c:pt idx="192">
                  <c:v>36906</c:v>
                </c:pt>
                <c:pt idx="193">
                  <c:v>36937</c:v>
                </c:pt>
                <c:pt idx="194">
                  <c:v>36965</c:v>
                </c:pt>
                <c:pt idx="195">
                  <c:v>36996</c:v>
                </c:pt>
                <c:pt idx="196">
                  <c:v>37026</c:v>
                </c:pt>
                <c:pt idx="197">
                  <c:v>37057</c:v>
                </c:pt>
                <c:pt idx="198">
                  <c:v>37087</c:v>
                </c:pt>
                <c:pt idx="199">
                  <c:v>37118</c:v>
                </c:pt>
                <c:pt idx="200">
                  <c:v>37149</c:v>
                </c:pt>
                <c:pt idx="201">
                  <c:v>37179</c:v>
                </c:pt>
                <c:pt idx="202">
                  <c:v>37210</c:v>
                </c:pt>
                <c:pt idx="203">
                  <c:v>37240</c:v>
                </c:pt>
                <c:pt idx="204">
                  <c:v>37271</c:v>
                </c:pt>
                <c:pt idx="205">
                  <c:v>37302</c:v>
                </c:pt>
                <c:pt idx="206">
                  <c:v>37330</c:v>
                </c:pt>
                <c:pt idx="207">
                  <c:v>37361</c:v>
                </c:pt>
                <c:pt idx="208">
                  <c:v>37391</c:v>
                </c:pt>
                <c:pt idx="209">
                  <c:v>37422</c:v>
                </c:pt>
                <c:pt idx="210">
                  <c:v>37452</c:v>
                </c:pt>
                <c:pt idx="211">
                  <c:v>37483</c:v>
                </c:pt>
                <c:pt idx="212">
                  <c:v>37514</c:v>
                </c:pt>
                <c:pt idx="213">
                  <c:v>37544</c:v>
                </c:pt>
                <c:pt idx="214">
                  <c:v>37575</c:v>
                </c:pt>
                <c:pt idx="215">
                  <c:v>37605</c:v>
                </c:pt>
                <c:pt idx="216">
                  <c:v>37636</c:v>
                </c:pt>
                <c:pt idx="217">
                  <c:v>37667</c:v>
                </c:pt>
                <c:pt idx="218">
                  <c:v>37695</c:v>
                </c:pt>
                <c:pt idx="219">
                  <c:v>37726</c:v>
                </c:pt>
                <c:pt idx="220">
                  <c:v>37756</c:v>
                </c:pt>
                <c:pt idx="221">
                  <c:v>37787</c:v>
                </c:pt>
                <c:pt idx="222">
                  <c:v>37817</c:v>
                </c:pt>
                <c:pt idx="223">
                  <c:v>37848</c:v>
                </c:pt>
                <c:pt idx="224">
                  <c:v>37879</c:v>
                </c:pt>
                <c:pt idx="225">
                  <c:v>37909</c:v>
                </c:pt>
                <c:pt idx="226">
                  <c:v>37940</c:v>
                </c:pt>
                <c:pt idx="227">
                  <c:v>37970</c:v>
                </c:pt>
                <c:pt idx="228">
                  <c:v>38001</c:v>
                </c:pt>
                <c:pt idx="229">
                  <c:v>38032</c:v>
                </c:pt>
                <c:pt idx="230">
                  <c:v>38061</c:v>
                </c:pt>
                <c:pt idx="231">
                  <c:v>38092</c:v>
                </c:pt>
                <c:pt idx="232">
                  <c:v>38122</c:v>
                </c:pt>
                <c:pt idx="233">
                  <c:v>38153</c:v>
                </c:pt>
                <c:pt idx="234">
                  <c:v>38183</c:v>
                </c:pt>
                <c:pt idx="235">
                  <c:v>38214</c:v>
                </c:pt>
                <c:pt idx="236">
                  <c:v>38245</c:v>
                </c:pt>
                <c:pt idx="237">
                  <c:v>38275</c:v>
                </c:pt>
                <c:pt idx="238">
                  <c:v>38306</c:v>
                </c:pt>
                <c:pt idx="239">
                  <c:v>38336</c:v>
                </c:pt>
                <c:pt idx="240">
                  <c:v>38367</c:v>
                </c:pt>
                <c:pt idx="241">
                  <c:v>38398</c:v>
                </c:pt>
                <c:pt idx="242">
                  <c:v>38426</c:v>
                </c:pt>
                <c:pt idx="243">
                  <c:v>38457</c:v>
                </c:pt>
                <c:pt idx="244">
                  <c:v>38487</c:v>
                </c:pt>
                <c:pt idx="245">
                  <c:v>38518</c:v>
                </c:pt>
                <c:pt idx="246">
                  <c:v>38548</c:v>
                </c:pt>
                <c:pt idx="247">
                  <c:v>38579</c:v>
                </c:pt>
                <c:pt idx="248">
                  <c:v>38610</c:v>
                </c:pt>
                <c:pt idx="249">
                  <c:v>38640</c:v>
                </c:pt>
                <c:pt idx="250">
                  <c:v>38671</c:v>
                </c:pt>
                <c:pt idx="251">
                  <c:v>38701</c:v>
                </c:pt>
                <c:pt idx="252">
                  <c:v>38732</c:v>
                </c:pt>
                <c:pt idx="253">
                  <c:v>38763</c:v>
                </c:pt>
                <c:pt idx="254">
                  <c:v>38791</c:v>
                </c:pt>
                <c:pt idx="255">
                  <c:v>38822</c:v>
                </c:pt>
                <c:pt idx="256">
                  <c:v>38852</c:v>
                </c:pt>
                <c:pt idx="257">
                  <c:v>38883</c:v>
                </c:pt>
                <c:pt idx="258">
                  <c:v>38913</c:v>
                </c:pt>
                <c:pt idx="259">
                  <c:v>38944</c:v>
                </c:pt>
                <c:pt idx="260">
                  <c:v>38975</c:v>
                </c:pt>
                <c:pt idx="261">
                  <c:v>39005</c:v>
                </c:pt>
                <c:pt idx="262">
                  <c:v>39036</c:v>
                </c:pt>
                <c:pt idx="263">
                  <c:v>39066</c:v>
                </c:pt>
                <c:pt idx="264">
                  <c:v>39097</c:v>
                </c:pt>
                <c:pt idx="265">
                  <c:v>39128</c:v>
                </c:pt>
                <c:pt idx="266">
                  <c:v>39156</c:v>
                </c:pt>
                <c:pt idx="267">
                  <c:v>39187</c:v>
                </c:pt>
                <c:pt idx="268">
                  <c:v>39217</c:v>
                </c:pt>
                <c:pt idx="269">
                  <c:v>39248</c:v>
                </c:pt>
                <c:pt idx="270">
                  <c:v>39278</c:v>
                </c:pt>
                <c:pt idx="271">
                  <c:v>39309</c:v>
                </c:pt>
                <c:pt idx="272">
                  <c:v>39340</c:v>
                </c:pt>
                <c:pt idx="273">
                  <c:v>39370</c:v>
                </c:pt>
                <c:pt idx="274">
                  <c:v>39401</c:v>
                </c:pt>
                <c:pt idx="275">
                  <c:v>39431</c:v>
                </c:pt>
                <c:pt idx="276">
                  <c:v>39462</c:v>
                </c:pt>
                <c:pt idx="277">
                  <c:v>39493</c:v>
                </c:pt>
                <c:pt idx="278">
                  <c:v>39522</c:v>
                </c:pt>
                <c:pt idx="279">
                  <c:v>39553</c:v>
                </c:pt>
                <c:pt idx="280">
                  <c:v>39583</c:v>
                </c:pt>
                <c:pt idx="281">
                  <c:v>39614</c:v>
                </c:pt>
                <c:pt idx="282">
                  <c:v>39644</c:v>
                </c:pt>
                <c:pt idx="283">
                  <c:v>39675</c:v>
                </c:pt>
                <c:pt idx="284">
                  <c:v>39706</c:v>
                </c:pt>
                <c:pt idx="285">
                  <c:v>39736</c:v>
                </c:pt>
                <c:pt idx="286">
                  <c:v>39767</c:v>
                </c:pt>
                <c:pt idx="287">
                  <c:v>39797</c:v>
                </c:pt>
                <c:pt idx="288">
                  <c:v>39828</c:v>
                </c:pt>
                <c:pt idx="289">
                  <c:v>39859</c:v>
                </c:pt>
                <c:pt idx="290">
                  <c:v>39887</c:v>
                </c:pt>
                <c:pt idx="291">
                  <c:v>39918</c:v>
                </c:pt>
                <c:pt idx="292">
                  <c:v>39948</c:v>
                </c:pt>
                <c:pt idx="293">
                  <c:v>39979</c:v>
                </c:pt>
                <c:pt idx="294">
                  <c:v>40009</c:v>
                </c:pt>
                <c:pt idx="295">
                  <c:v>40040</c:v>
                </c:pt>
                <c:pt idx="296">
                  <c:v>40071</c:v>
                </c:pt>
                <c:pt idx="297">
                  <c:v>40101</c:v>
                </c:pt>
                <c:pt idx="298">
                  <c:v>40132</c:v>
                </c:pt>
                <c:pt idx="299">
                  <c:v>40162</c:v>
                </c:pt>
                <c:pt idx="300">
                  <c:v>40193</c:v>
                </c:pt>
                <c:pt idx="301">
                  <c:v>40224</c:v>
                </c:pt>
                <c:pt idx="302">
                  <c:v>40252</c:v>
                </c:pt>
                <c:pt idx="303">
                  <c:v>40283</c:v>
                </c:pt>
                <c:pt idx="304">
                  <c:v>40313</c:v>
                </c:pt>
                <c:pt idx="305">
                  <c:v>40344</c:v>
                </c:pt>
                <c:pt idx="306">
                  <c:v>40374</c:v>
                </c:pt>
                <c:pt idx="307">
                  <c:v>40405</c:v>
                </c:pt>
                <c:pt idx="308">
                  <c:v>40436</c:v>
                </c:pt>
                <c:pt idx="309">
                  <c:v>40466</c:v>
                </c:pt>
                <c:pt idx="310">
                  <c:v>40497</c:v>
                </c:pt>
                <c:pt idx="311">
                  <c:v>40527</c:v>
                </c:pt>
                <c:pt idx="312">
                  <c:v>40558</c:v>
                </c:pt>
                <c:pt idx="313">
                  <c:v>40589</c:v>
                </c:pt>
                <c:pt idx="314">
                  <c:v>40617</c:v>
                </c:pt>
                <c:pt idx="315">
                  <c:v>40648</c:v>
                </c:pt>
                <c:pt idx="316">
                  <c:v>40678</c:v>
                </c:pt>
                <c:pt idx="317">
                  <c:v>40709</c:v>
                </c:pt>
                <c:pt idx="318">
                  <c:v>40739</c:v>
                </c:pt>
                <c:pt idx="319">
                  <c:v>40770</c:v>
                </c:pt>
                <c:pt idx="320">
                  <c:v>40801</c:v>
                </c:pt>
                <c:pt idx="321">
                  <c:v>40831</c:v>
                </c:pt>
                <c:pt idx="322">
                  <c:v>40862</c:v>
                </c:pt>
                <c:pt idx="323">
                  <c:v>40892</c:v>
                </c:pt>
                <c:pt idx="324">
                  <c:v>40923</c:v>
                </c:pt>
                <c:pt idx="325">
                  <c:v>40954</c:v>
                </c:pt>
                <c:pt idx="326">
                  <c:v>40983</c:v>
                </c:pt>
                <c:pt idx="327">
                  <c:v>41014</c:v>
                </c:pt>
                <c:pt idx="328">
                  <c:v>41044</c:v>
                </c:pt>
                <c:pt idx="329">
                  <c:v>41075</c:v>
                </c:pt>
                <c:pt idx="330">
                  <c:v>41105</c:v>
                </c:pt>
                <c:pt idx="331">
                  <c:v>41136</c:v>
                </c:pt>
                <c:pt idx="332">
                  <c:v>41167</c:v>
                </c:pt>
                <c:pt idx="333">
                  <c:v>41197</c:v>
                </c:pt>
                <c:pt idx="334">
                  <c:v>41228</c:v>
                </c:pt>
                <c:pt idx="335">
                  <c:v>41258</c:v>
                </c:pt>
                <c:pt idx="336">
                  <c:v>41289</c:v>
                </c:pt>
                <c:pt idx="337">
                  <c:v>41320</c:v>
                </c:pt>
                <c:pt idx="338">
                  <c:v>41348</c:v>
                </c:pt>
                <c:pt idx="339">
                  <c:v>41379</c:v>
                </c:pt>
                <c:pt idx="340">
                  <c:v>41409</c:v>
                </c:pt>
                <c:pt idx="341">
                  <c:v>41440</c:v>
                </c:pt>
                <c:pt idx="342">
                  <c:v>41470</c:v>
                </c:pt>
                <c:pt idx="343">
                  <c:v>41501</c:v>
                </c:pt>
                <c:pt idx="344">
                  <c:v>41532</c:v>
                </c:pt>
                <c:pt idx="345">
                  <c:v>41562</c:v>
                </c:pt>
                <c:pt idx="346">
                  <c:v>41593</c:v>
                </c:pt>
                <c:pt idx="347">
                  <c:v>41623</c:v>
                </c:pt>
                <c:pt idx="348">
                  <c:v>41654</c:v>
                </c:pt>
                <c:pt idx="349">
                  <c:v>41685</c:v>
                </c:pt>
                <c:pt idx="350">
                  <c:v>41713</c:v>
                </c:pt>
                <c:pt idx="351">
                  <c:v>41744</c:v>
                </c:pt>
                <c:pt idx="352">
                  <c:v>41774</c:v>
                </c:pt>
                <c:pt idx="353">
                  <c:v>41805</c:v>
                </c:pt>
                <c:pt idx="354">
                  <c:v>41835</c:v>
                </c:pt>
                <c:pt idx="355">
                  <c:v>41866</c:v>
                </c:pt>
                <c:pt idx="356">
                  <c:v>41897</c:v>
                </c:pt>
                <c:pt idx="357">
                  <c:v>41927</c:v>
                </c:pt>
                <c:pt idx="358">
                  <c:v>41958</c:v>
                </c:pt>
                <c:pt idx="359">
                  <c:v>41988</c:v>
                </c:pt>
                <c:pt idx="360">
                  <c:v>42019</c:v>
                </c:pt>
                <c:pt idx="361">
                  <c:v>42050</c:v>
                </c:pt>
                <c:pt idx="362">
                  <c:v>42078</c:v>
                </c:pt>
                <c:pt idx="363">
                  <c:v>42109</c:v>
                </c:pt>
                <c:pt idx="364">
                  <c:v>42139</c:v>
                </c:pt>
                <c:pt idx="365">
                  <c:v>42170</c:v>
                </c:pt>
                <c:pt idx="366">
                  <c:v>42200</c:v>
                </c:pt>
                <c:pt idx="367">
                  <c:v>42231</c:v>
                </c:pt>
                <c:pt idx="368">
                  <c:v>42262</c:v>
                </c:pt>
                <c:pt idx="369">
                  <c:v>42292</c:v>
                </c:pt>
                <c:pt idx="370">
                  <c:v>42323</c:v>
                </c:pt>
                <c:pt idx="371">
                  <c:v>42353</c:v>
                </c:pt>
                <c:pt idx="372">
                  <c:v>42384</c:v>
                </c:pt>
                <c:pt idx="373">
                  <c:v>42415</c:v>
                </c:pt>
                <c:pt idx="374">
                  <c:v>42444</c:v>
                </c:pt>
                <c:pt idx="375">
                  <c:v>42475</c:v>
                </c:pt>
                <c:pt idx="376">
                  <c:v>42505</c:v>
                </c:pt>
                <c:pt idx="377">
                  <c:v>42536</c:v>
                </c:pt>
                <c:pt idx="378">
                  <c:v>42566</c:v>
                </c:pt>
                <c:pt idx="379">
                  <c:v>42597</c:v>
                </c:pt>
                <c:pt idx="380">
                  <c:v>42628</c:v>
                </c:pt>
                <c:pt idx="381">
                  <c:v>42658</c:v>
                </c:pt>
                <c:pt idx="382">
                  <c:v>42689</c:v>
                </c:pt>
                <c:pt idx="383">
                  <c:v>42719</c:v>
                </c:pt>
                <c:pt idx="384">
                  <c:v>42750</c:v>
                </c:pt>
                <c:pt idx="385">
                  <c:v>42781</c:v>
                </c:pt>
                <c:pt idx="386">
                  <c:v>42809</c:v>
                </c:pt>
                <c:pt idx="387">
                  <c:v>42840</c:v>
                </c:pt>
                <c:pt idx="388">
                  <c:v>42870</c:v>
                </c:pt>
                <c:pt idx="389">
                  <c:v>42901</c:v>
                </c:pt>
                <c:pt idx="390">
                  <c:v>42931</c:v>
                </c:pt>
                <c:pt idx="391">
                  <c:v>42962</c:v>
                </c:pt>
                <c:pt idx="392">
                  <c:v>42993</c:v>
                </c:pt>
                <c:pt idx="393">
                  <c:v>43023</c:v>
                </c:pt>
                <c:pt idx="394">
                  <c:v>43054</c:v>
                </c:pt>
                <c:pt idx="395">
                  <c:v>43084</c:v>
                </c:pt>
                <c:pt idx="396">
                  <c:v>43115</c:v>
                </c:pt>
                <c:pt idx="397">
                  <c:v>43146</c:v>
                </c:pt>
                <c:pt idx="398">
                  <c:v>43174</c:v>
                </c:pt>
                <c:pt idx="399">
                  <c:v>43205</c:v>
                </c:pt>
                <c:pt idx="400">
                  <c:v>43235</c:v>
                </c:pt>
                <c:pt idx="401">
                  <c:v>43266</c:v>
                </c:pt>
                <c:pt idx="402">
                  <c:v>43296</c:v>
                </c:pt>
                <c:pt idx="403">
                  <c:v>43327</c:v>
                </c:pt>
                <c:pt idx="404">
                  <c:v>43358</c:v>
                </c:pt>
                <c:pt idx="405">
                  <c:v>43388</c:v>
                </c:pt>
                <c:pt idx="406">
                  <c:v>43419</c:v>
                </c:pt>
                <c:pt idx="407">
                  <c:v>43449</c:v>
                </c:pt>
                <c:pt idx="408">
                  <c:v>43480</c:v>
                </c:pt>
                <c:pt idx="409">
                  <c:v>43511</c:v>
                </c:pt>
                <c:pt idx="410">
                  <c:v>43539</c:v>
                </c:pt>
                <c:pt idx="411">
                  <c:v>43570</c:v>
                </c:pt>
                <c:pt idx="412">
                  <c:v>43600</c:v>
                </c:pt>
                <c:pt idx="413">
                  <c:v>43631</c:v>
                </c:pt>
                <c:pt idx="414">
                  <c:v>43661</c:v>
                </c:pt>
                <c:pt idx="415">
                  <c:v>43692</c:v>
                </c:pt>
                <c:pt idx="416">
                  <c:v>43723</c:v>
                </c:pt>
                <c:pt idx="417">
                  <c:v>43753</c:v>
                </c:pt>
                <c:pt idx="418">
                  <c:v>43784</c:v>
                </c:pt>
                <c:pt idx="419">
                  <c:v>43814</c:v>
                </c:pt>
                <c:pt idx="420">
                  <c:v>43845</c:v>
                </c:pt>
                <c:pt idx="421">
                  <c:v>43876</c:v>
                </c:pt>
                <c:pt idx="422">
                  <c:v>43905</c:v>
                </c:pt>
                <c:pt idx="423">
                  <c:v>43936</c:v>
                </c:pt>
              </c:numCache>
            </c:numRef>
          </c:cat>
          <c:val>
            <c:numRef>
              <c:f>Final!$I$2:$I$433</c:f>
              <c:numCache>
                <c:formatCode>General</c:formatCode>
                <c:ptCount val="432"/>
                <c:pt idx="19">
                  <c:v>31</c:v>
                </c:pt>
                <c:pt idx="20">
                  <c:v>31</c:v>
                </c:pt>
                <c:pt idx="21">
                  <c:v>31</c:v>
                </c:pt>
                <c:pt idx="22">
                  <c:v>31</c:v>
                </c:pt>
                <c:pt idx="23">
                  <c:v>31</c:v>
                </c:pt>
                <c:pt idx="24">
                  <c:v>31</c:v>
                </c:pt>
                <c:pt idx="25">
                  <c:v>31</c:v>
                </c:pt>
                <c:pt idx="26">
                  <c:v>31</c:v>
                </c:pt>
                <c:pt idx="27">
                  <c:v>31</c:v>
                </c:pt>
                <c:pt idx="28">
                  <c:v>31</c:v>
                </c:pt>
                <c:pt idx="29">
                  <c:v>31</c:v>
                </c:pt>
                <c:pt idx="30">
                  <c:v>31</c:v>
                </c:pt>
                <c:pt idx="31">
                  <c:v>31</c:v>
                </c:pt>
                <c:pt idx="32">
                  <c:v>31</c:v>
                </c:pt>
                <c:pt idx="33">
                  <c:v>31</c:v>
                </c:pt>
                <c:pt idx="34">
                  <c:v>31</c:v>
                </c:pt>
                <c:pt idx="35">
                  <c:v>31</c:v>
                </c:pt>
                <c:pt idx="36">
                  <c:v>31</c:v>
                </c:pt>
                <c:pt idx="75">
                  <c:v>31</c:v>
                </c:pt>
                <c:pt idx="76">
                  <c:v>31</c:v>
                </c:pt>
                <c:pt idx="77">
                  <c:v>31</c:v>
                </c:pt>
                <c:pt idx="78">
                  <c:v>31</c:v>
                </c:pt>
                <c:pt idx="79">
                  <c:v>31</c:v>
                </c:pt>
                <c:pt idx="80">
                  <c:v>31</c:v>
                </c:pt>
                <c:pt idx="81">
                  <c:v>31</c:v>
                </c:pt>
                <c:pt idx="82">
                  <c:v>31</c:v>
                </c:pt>
                <c:pt idx="83">
                  <c:v>31</c:v>
                </c:pt>
                <c:pt idx="84">
                  <c:v>31</c:v>
                </c:pt>
                <c:pt idx="85">
                  <c:v>31</c:v>
                </c:pt>
                <c:pt idx="86">
                  <c:v>31</c:v>
                </c:pt>
                <c:pt idx="87">
                  <c:v>31</c:v>
                </c:pt>
                <c:pt idx="88">
                  <c:v>31</c:v>
                </c:pt>
                <c:pt idx="89">
                  <c:v>31</c:v>
                </c:pt>
                <c:pt idx="90">
                  <c:v>31</c:v>
                </c:pt>
                <c:pt idx="115">
                  <c:v>31</c:v>
                </c:pt>
                <c:pt idx="116">
                  <c:v>31</c:v>
                </c:pt>
                <c:pt idx="117">
                  <c:v>31</c:v>
                </c:pt>
                <c:pt idx="118">
                  <c:v>31</c:v>
                </c:pt>
                <c:pt idx="119">
                  <c:v>31</c:v>
                </c:pt>
                <c:pt idx="120">
                  <c:v>31</c:v>
                </c:pt>
                <c:pt idx="121">
                  <c:v>31</c:v>
                </c:pt>
                <c:pt idx="122">
                  <c:v>31</c:v>
                </c:pt>
                <c:pt idx="123">
                  <c:v>31</c:v>
                </c:pt>
                <c:pt idx="147">
                  <c:v>31</c:v>
                </c:pt>
                <c:pt idx="148">
                  <c:v>31</c:v>
                </c:pt>
                <c:pt idx="149">
                  <c:v>31</c:v>
                </c:pt>
                <c:pt idx="150">
                  <c:v>31</c:v>
                </c:pt>
                <c:pt idx="151">
                  <c:v>31</c:v>
                </c:pt>
                <c:pt idx="152">
                  <c:v>31</c:v>
                </c:pt>
                <c:pt idx="153">
                  <c:v>31</c:v>
                </c:pt>
                <c:pt idx="154">
                  <c:v>31</c:v>
                </c:pt>
                <c:pt idx="155">
                  <c:v>31</c:v>
                </c:pt>
                <c:pt idx="156">
                  <c:v>31</c:v>
                </c:pt>
                <c:pt idx="157">
                  <c:v>31</c:v>
                </c:pt>
                <c:pt idx="158">
                  <c:v>31</c:v>
                </c:pt>
                <c:pt idx="159">
                  <c:v>31</c:v>
                </c:pt>
                <c:pt idx="160">
                  <c:v>31</c:v>
                </c:pt>
                <c:pt idx="161">
                  <c:v>31</c:v>
                </c:pt>
                <c:pt idx="208">
                  <c:v>31</c:v>
                </c:pt>
                <c:pt idx="209">
                  <c:v>31</c:v>
                </c:pt>
                <c:pt idx="210">
                  <c:v>31</c:v>
                </c:pt>
                <c:pt idx="211">
                  <c:v>31</c:v>
                </c:pt>
                <c:pt idx="212">
                  <c:v>31</c:v>
                </c:pt>
                <c:pt idx="213">
                  <c:v>31</c:v>
                </c:pt>
                <c:pt idx="214">
                  <c:v>31</c:v>
                </c:pt>
                <c:pt idx="215">
                  <c:v>31</c:v>
                </c:pt>
                <c:pt idx="216">
                  <c:v>31</c:v>
                </c:pt>
                <c:pt idx="217">
                  <c:v>31</c:v>
                </c:pt>
                <c:pt idx="218">
                  <c:v>31</c:v>
                </c:pt>
                <c:pt idx="233">
                  <c:v>31</c:v>
                </c:pt>
                <c:pt idx="234">
                  <c:v>31</c:v>
                </c:pt>
                <c:pt idx="235">
                  <c:v>31</c:v>
                </c:pt>
                <c:pt idx="236">
                  <c:v>31</c:v>
                </c:pt>
                <c:pt idx="237">
                  <c:v>31</c:v>
                </c:pt>
                <c:pt idx="238">
                  <c:v>31</c:v>
                </c:pt>
                <c:pt idx="239">
                  <c:v>31</c:v>
                </c:pt>
                <c:pt idx="240">
                  <c:v>31</c:v>
                </c:pt>
                <c:pt idx="241">
                  <c:v>31</c:v>
                </c:pt>
                <c:pt idx="242">
                  <c:v>31</c:v>
                </c:pt>
                <c:pt idx="259">
                  <c:v>31</c:v>
                </c:pt>
                <c:pt idx="260">
                  <c:v>31</c:v>
                </c:pt>
                <c:pt idx="261">
                  <c:v>31</c:v>
                </c:pt>
                <c:pt idx="262">
                  <c:v>31</c:v>
                </c:pt>
                <c:pt idx="263">
                  <c:v>31</c:v>
                </c:pt>
                <c:pt idx="264">
                  <c:v>31</c:v>
                </c:pt>
                <c:pt idx="265">
                  <c:v>31</c:v>
                </c:pt>
                <c:pt idx="293">
                  <c:v>31</c:v>
                </c:pt>
                <c:pt idx="294">
                  <c:v>31</c:v>
                </c:pt>
                <c:pt idx="295">
                  <c:v>31</c:v>
                </c:pt>
                <c:pt idx="296">
                  <c:v>31</c:v>
                </c:pt>
                <c:pt idx="297">
                  <c:v>31</c:v>
                </c:pt>
                <c:pt idx="298">
                  <c:v>31</c:v>
                </c:pt>
                <c:pt idx="299">
                  <c:v>31</c:v>
                </c:pt>
                <c:pt idx="300">
                  <c:v>31</c:v>
                </c:pt>
                <c:pt idx="301">
                  <c:v>31</c:v>
                </c:pt>
                <c:pt idx="302">
                  <c:v>31</c:v>
                </c:pt>
                <c:pt idx="303">
                  <c:v>31</c:v>
                </c:pt>
                <c:pt idx="357">
                  <c:v>31</c:v>
                </c:pt>
                <c:pt idx="358">
                  <c:v>31</c:v>
                </c:pt>
                <c:pt idx="359">
                  <c:v>31</c:v>
                </c:pt>
                <c:pt idx="360">
                  <c:v>31</c:v>
                </c:pt>
                <c:pt idx="361">
                  <c:v>31</c:v>
                </c:pt>
                <c:pt idx="362">
                  <c:v>31</c:v>
                </c:pt>
                <c:pt idx="363">
                  <c:v>31</c:v>
                </c:pt>
                <c:pt idx="364">
                  <c:v>31</c:v>
                </c:pt>
                <c:pt idx="365">
                  <c:v>31</c:v>
                </c:pt>
                <c:pt idx="366">
                  <c:v>31</c:v>
                </c:pt>
                <c:pt idx="367">
                  <c:v>31</c:v>
                </c:pt>
                <c:pt idx="368">
                  <c:v>31</c:v>
                </c:pt>
                <c:pt idx="369">
                  <c:v>31</c:v>
                </c:pt>
                <c:pt idx="370">
                  <c:v>31</c:v>
                </c:pt>
                <c:pt idx="371">
                  <c:v>31</c:v>
                </c:pt>
                <c:pt idx="372">
                  <c:v>31</c:v>
                </c:pt>
                <c:pt idx="373">
                  <c:v>31</c:v>
                </c:pt>
                <c:pt idx="374">
                  <c:v>31</c:v>
                </c:pt>
                <c:pt idx="375">
                  <c:v>31</c:v>
                </c:pt>
                <c:pt idx="376">
                  <c:v>31</c:v>
                </c:pt>
                <c:pt idx="377">
                  <c:v>31</c:v>
                </c:pt>
                <c:pt idx="404">
                  <c:v>31</c:v>
                </c:pt>
                <c:pt idx="405">
                  <c:v>31</c:v>
                </c:pt>
                <c:pt idx="406">
                  <c:v>31</c:v>
                </c:pt>
                <c:pt idx="407">
                  <c:v>31</c:v>
                </c:pt>
                <c:pt idx="408">
                  <c:v>31</c:v>
                </c:pt>
                <c:pt idx="409">
                  <c:v>31</c:v>
                </c:pt>
                <c:pt idx="410">
                  <c:v>31</c:v>
                </c:pt>
                <c:pt idx="411">
                  <c:v>31</c:v>
                </c:pt>
                <c:pt idx="412">
                  <c:v>31</c:v>
                </c:pt>
                <c:pt idx="413">
                  <c:v>31</c:v>
                </c:pt>
                <c:pt idx="414">
                  <c:v>31</c:v>
                </c:pt>
                <c:pt idx="417">
                  <c:v>31</c:v>
                </c:pt>
                <c:pt idx="418">
                  <c:v>31</c:v>
                </c:pt>
                <c:pt idx="419">
                  <c:v>31</c:v>
                </c:pt>
                <c:pt idx="420">
                  <c:v>31</c:v>
                </c:pt>
                <c:pt idx="421">
                  <c:v>31</c:v>
                </c:pt>
                <c:pt idx="422">
                  <c:v>31</c:v>
                </c:pt>
                <c:pt idx="423">
                  <c:v>31</c:v>
                </c:pt>
              </c:numCache>
            </c:numRef>
          </c:val>
          <c:extLst>
            <c:ext xmlns:c16="http://schemas.microsoft.com/office/drawing/2014/chart" uri="{C3380CC4-5D6E-409C-BE32-E72D297353CC}">
              <c16:uniqueId val="{00000000-7D82-4116-ACD2-A2460439D5C7}"/>
            </c:ext>
          </c:extLst>
        </c:ser>
        <c:dLbls>
          <c:showLegendKey val="0"/>
          <c:showVal val="0"/>
          <c:showCatName val="0"/>
          <c:showSerName val="0"/>
          <c:showPercent val="0"/>
          <c:showBubbleSize val="0"/>
        </c:dLbls>
        <c:axId val="444334696"/>
        <c:axId val="444339944"/>
      </c:areaChart>
      <c:areaChart>
        <c:grouping val="standard"/>
        <c:varyColors val="0"/>
        <c:ser>
          <c:idx val="1"/>
          <c:order val="0"/>
          <c:tx>
            <c:strRef>
              <c:f>Final!$E$1</c:f>
              <c:strCache>
                <c:ptCount val="1"/>
                <c:pt idx="0">
                  <c:v>DHW</c:v>
                </c:pt>
              </c:strCache>
            </c:strRef>
          </c:tx>
          <c:spPr>
            <a:solidFill>
              <a:schemeClr val="bg1">
                <a:lumMod val="50000"/>
              </a:schemeClr>
            </a:solidFill>
            <a:ln>
              <a:solidFill>
                <a:schemeClr val="bg2">
                  <a:lumMod val="90000"/>
                </a:schemeClr>
              </a:solidFill>
            </a:ln>
            <a:effectLst/>
          </c:spPr>
          <c:cat>
            <c:multiLvlStrRef>
              <c:f>Final!$A$2:$B$425</c:f>
              <c:multiLvlStrCache>
                <c:ptCount val="424"/>
                <c:lvl>
                  <c:pt idx="0">
                    <c:v>1/15/1985</c:v>
                  </c:pt>
                  <c:pt idx="1">
                    <c:v>2/15/1985</c:v>
                  </c:pt>
                  <c:pt idx="2">
                    <c:v>3/15/1985</c:v>
                  </c:pt>
                  <c:pt idx="3">
                    <c:v>4/15/1985</c:v>
                  </c:pt>
                  <c:pt idx="4">
                    <c:v>5/15/1985</c:v>
                  </c:pt>
                  <c:pt idx="5">
                    <c:v>6/15/1985</c:v>
                  </c:pt>
                  <c:pt idx="6">
                    <c:v>7/15/1985</c:v>
                  </c:pt>
                  <c:pt idx="7">
                    <c:v>8/15/1985</c:v>
                  </c:pt>
                  <c:pt idx="8">
                    <c:v>9/15/1985</c:v>
                  </c:pt>
                  <c:pt idx="9">
                    <c:v>10/15/1985</c:v>
                  </c:pt>
                  <c:pt idx="10">
                    <c:v>11/15/1985</c:v>
                  </c:pt>
                  <c:pt idx="11">
                    <c:v>12/15/1985</c:v>
                  </c:pt>
                  <c:pt idx="12">
                    <c:v>1/15/1986</c:v>
                  </c:pt>
                  <c:pt idx="13">
                    <c:v>2/15/1986</c:v>
                  </c:pt>
                  <c:pt idx="14">
                    <c:v>3/15/1986</c:v>
                  </c:pt>
                  <c:pt idx="15">
                    <c:v>4/15/1986</c:v>
                  </c:pt>
                  <c:pt idx="16">
                    <c:v>5/15/1986</c:v>
                  </c:pt>
                  <c:pt idx="17">
                    <c:v>6/15/1986</c:v>
                  </c:pt>
                  <c:pt idx="18">
                    <c:v>7/15/1986</c:v>
                  </c:pt>
                  <c:pt idx="19">
                    <c:v>8/15/1986</c:v>
                  </c:pt>
                  <c:pt idx="20">
                    <c:v>9/15/1986</c:v>
                  </c:pt>
                  <c:pt idx="21">
                    <c:v>10/15/1986</c:v>
                  </c:pt>
                  <c:pt idx="22">
                    <c:v>11/15/1986</c:v>
                  </c:pt>
                  <c:pt idx="23">
                    <c:v>12/15/1986</c:v>
                  </c:pt>
                  <c:pt idx="24">
                    <c:v>1/15/1987</c:v>
                  </c:pt>
                  <c:pt idx="25">
                    <c:v>2/15/1987</c:v>
                  </c:pt>
                  <c:pt idx="26">
                    <c:v>3/15/1987</c:v>
                  </c:pt>
                  <c:pt idx="27">
                    <c:v>4/15/1987</c:v>
                  </c:pt>
                  <c:pt idx="28">
                    <c:v>5/15/1987</c:v>
                  </c:pt>
                  <c:pt idx="29">
                    <c:v>6/15/1987</c:v>
                  </c:pt>
                  <c:pt idx="30">
                    <c:v>7/15/1987</c:v>
                  </c:pt>
                  <c:pt idx="31">
                    <c:v>8/15/1987</c:v>
                  </c:pt>
                  <c:pt idx="32">
                    <c:v>9/15/1987</c:v>
                  </c:pt>
                  <c:pt idx="33">
                    <c:v>10/15/1987</c:v>
                  </c:pt>
                  <c:pt idx="34">
                    <c:v>11/15/1987</c:v>
                  </c:pt>
                  <c:pt idx="35">
                    <c:v>12/15/1987</c:v>
                  </c:pt>
                  <c:pt idx="36">
                    <c:v>1/15/1988</c:v>
                  </c:pt>
                  <c:pt idx="37">
                    <c:v>2/15/1988</c:v>
                  </c:pt>
                  <c:pt idx="38">
                    <c:v>3/15/1988</c:v>
                  </c:pt>
                  <c:pt idx="39">
                    <c:v>4/15/1988</c:v>
                  </c:pt>
                  <c:pt idx="40">
                    <c:v>5/15/1988</c:v>
                  </c:pt>
                  <c:pt idx="41">
                    <c:v>6/15/1988</c:v>
                  </c:pt>
                  <c:pt idx="42">
                    <c:v>7/15/1988</c:v>
                  </c:pt>
                  <c:pt idx="43">
                    <c:v>8/15/1988</c:v>
                  </c:pt>
                  <c:pt idx="44">
                    <c:v>9/15/1988</c:v>
                  </c:pt>
                  <c:pt idx="45">
                    <c:v>10/15/1988</c:v>
                  </c:pt>
                  <c:pt idx="46">
                    <c:v>11/15/1988</c:v>
                  </c:pt>
                  <c:pt idx="47">
                    <c:v>12/15/1988</c:v>
                  </c:pt>
                  <c:pt idx="48">
                    <c:v>1/15/1989</c:v>
                  </c:pt>
                  <c:pt idx="49">
                    <c:v>2/15/1989</c:v>
                  </c:pt>
                  <c:pt idx="50">
                    <c:v>3/15/1989</c:v>
                  </c:pt>
                  <c:pt idx="51">
                    <c:v>4/15/1989</c:v>
                  </c:pt>
                  <c:pt idx="52">
                    <c:v>5/15/1989</c:v>
                  </c:pt>
                  <c:pt idx="53">
                    <c:v>6/15/1989</c:v>
                  </c:pt>
                  <c:pt idx="54">
                    <c:v>7/15/1989</c:v>
                  </c:pt>
                  <c:pt idx="55">
                    <c:v>8/15/1989</c:v>
                  </c:pt>
                  <c:pt idx="56">
                    <c:v>9/15/1989</c:v>
                  </c:pt>
                  <c:pt idx="57">
                    <c:v>10/15/1989</c:v>
                  </c:pt>
                  <c:pt idx="58">
                    <c:v>11/15/1989</c:v>
                  </c:pt>
                  <c:pt idx="59">
                    <c:v>12/15/1989</c:v>
                  </c:pt>
                  <c:pt idx="60">
                    <c:v>1/15/1990</c:v>
                  </c:pt>
                  <c:pt idx="61">
                    <c:v>2/15/1990</c:v>
                  </c:pt>
                  <c:pt idx="62">
                    <c:v>3/15/1990</c:v>
                  </c:pt>
                  <c:pt idx="63">
                    <c:v>4/15/1990</c:v>
                  </c:pt>
                  <c:pt idx="64">
                    <c:v>5/15/1990</c:v>
                  </c:pt>
                  <c:pt idx="65">
                    <c:v>6/15/1990</c:v>
                  </c:pt>
                  <c:pt idx="66">
                    <c:v>7/15/1990</c:v>
                  </c:pt>
                  <c:pt idx="67">
                    <c:v>8/15/1990</c:v>
                  </c:pt>
                  <c:pt idx="68">
                    <c:v>9/15/1990</c:v>
                  </c:pt>
                  <c:pt idx="69">
                    <c:v>10/15/1990</c:v>
                  </c:pt>
                  <c:pt idx="70">
                    <c:v>11/15/1990</c:v>
                  </c:pt>
                  <c:pt idx="71">
                    <c:v>12/15/1990</c:v>
                  </c:pt>
                  <c:pt idx="72">
                    <c:v>1/15/1991</c:v>
                  </c:pt>
                  <c:pt idx="73">
                    <c:v>2/15/1991</c:v>
                  </c:pt>
                  <c:pt idx="74">
                    <c:v>3/15/1991</c:v>
                  </c:pt>
                  <c:pt idx="75">
                    <c:v>4/15/1991</c:v>
                  </c:pt>
                  <c:pt idx="76">
                    <c:v>5/15/1991</c:v>
                  </c:pt>
                  <c:pt idx="77">
                    <c:v>6/15/1991</c:v>
                  </c:pt>
                  <c:pt idx="78">
                    <c:v>7/15/1991</c:v>
                  </c:pt>
                  <c:pt idx="79">
                    <c:v>8/15/1991</c:v>
                  </c:pt>
                  <c:pt idx="80">
                    <c:v>9/15/1991</c:v>
                  </c:pt>
                  <c:pt idx="81">
                    <c:v>10/15/1991</c:v>
                  </c:pt>
                  <c:pt idx="82">
                    <c:v>11/15/1991</c:v>
                  </c:pt>
                  <c:pt idx="83">
                    <c:v>12/15/1991</c:v>
                  </c:pt>
                  <c:pt idx="84">
                    <c:v>1/15/1992</c:v>
                  </c:pt>
                  <c:pt idx="85">
                    <c:v>2/15/1992</c:v>
                  </c:pt>
                  <c:pt idx="86">
                    <c:v>3/15/1992</c:v>
                  </c:pt>
                  <c:pt idx="87">
                    <c:v>4/15/1992</c:v>
                  </c:pt>
                  <c:pt idx="88">
                    <c:v>5/15/1992</c:v>
                  </c:pt>
                  <c:pt idx="89">
                    <c:v>6/15/1992</c:v>
                  </c:pt>
                  <c:pt idx="90">
                    <c:v>7/15/1992</c:v>
                  </c:pt>
                  <c:pt idx="91">
                    <c:v>8/15/1992</c:v>
                  </c:pt>
                  <c:pt idx="92">
                    <c:v>9/15/1992</c:v>
                  </c:pt>
                  <c:pt idx="93">
                    <c:v>10/15/1992</c:v>
                  </c:pt>
                  <c:pt idx="94">
                    <c:v>11/15/1992</c:v>
                  </c:pt>
                  <c:pt idx="95">
                    <c:v>12/15/1992</c:v>
                  </c:pt>
                  <c:pt idx="96">
                    <c:v>1/15/1993</c:v>
                  </c:pt>
                  <c:pt idx="97">
                    <c:v>2/15/1993</c:v>
                  </c:pt>
                  <c:pt idx="98">
                    <c:v>3/15/1993</c:v>
                  </c:pt>
                  <c:pt idx="99">
                    <c:v>4/15/1993</c:v>
                  </c:pt>
                  <c:pt idx="100">
                    <c:v>5/15/1993</c:v>
                  </c:pt>
                  <c:pt idx="101">
                    <c:v>6/15/1993</c:v>
                  </c:pt>
                  <c:pt idx="102">
                    <c:v>7/15/1993</c:v>
                  </c:pt>
                  <c:pt idx="103">
                    <c:v>8/15/1993</c:v>
                  </c:pt>
                  <c:pt idx="104">
                    <c:v>9/15/1993</c:v>
                  </c:pt>
                  <c:pt idx="105">
                    <c:v>10/15/1993</c:v>
                  </c:pt>
                  <c:pt idx="106">
                    <c:v>11/15/1993</c:v>
                  </c:pt>
                  <c:pt idx="107">
                    <c:v>12/15/1993</c:v>
                  </c:pt>
                  <c:pt idx="108">
                    <c:v>1/15/1994</c:v>
                  </c:pt>
                  <c:pt idx="109">
                    <c:v>2/15/1994</c:v>
                  </c:pt>
                  <c:pt idx="110">
                    <c:v>3/15/1994</c:v>
                  </c:pt>
                  <c:pt idx="111">
                    <c:v>4/15/1994</c:v>
                  </c:pt>
                  <c:pt idx="112">
                    <c:v>5/15/1994</c:v>
                  </c:pt>
                  <c:pt idx="113">
                    <c:v>6/15/1994</c:v>
                  </c:pt>
                  <c:pt idx="114">
                    <c:v>7/15/1994</c:v>
                  </c:pt>
                  <c:pt idx="115">
                    <c:v>8/15/1994</c:v>
                  </c:pt>
                  <c:pt idx="116">
                    <c:v>9/15/1994</c:v>
                  </c:pt>
                  <c:pt idx="117">
                    <c:v>10/15/1994</c:v>
                  </c:pt>
                  <c:pt idx="118">
                    <c:v>11/15/1994</c:v>
                  </c:pt>
                  <c:pt idx="119">
                    <c:v>12/15/1994</c:v>
                  </c:pt>
                  <c:pt idx="120">
                    <c:v>1/15/1995</c:v>
                  </c:pt>
                  <c:pt idx="121">
                    <c:v>2/15/1995</c:v>
                  </c:pt>
                  <c:pt idx="122">
                    <c:v>3/15/1995</c:v>
                  </c:pt>
                  <c:pt idx="123">
                    <c:v>4/15/1995</c:v>
                  </c:pt>
                  <c:pt idx="124">
                    <c:v>5/15/1995</c:v>
                  </c:pt>
                  <c:pt idx="125">
                    <c:v>6/15/1995</c:v>
                  </c:pt>
                  <c:pt idx="126">
                    <c:v>7/15/1995</c:v>
                  </c:pt>
                  <c:pt idx="127">
                    <c:v>8/15/1995</c:v>
                  </c:pt>
                  <c:pt idx="128">
                    <c:v>9/15/1995</c:v>
                  </c:pt>
                  <c:pt idx="129">
                    <c:v>10/15/1995</c:v>
                  </c:pt>
                  <c:pt idx="130">
                    <c:v>11/15/1995</c:v>
                  </c:pt>
                  <c:pt idx="131">
                    <c:v>12/15/1995</c:v>
                  </c:pt>
                  <c:pt idx="132">
                    <c:v>1/15/1996</c:v>
                  </c:pt>
                  <c:pt idx="133">
                    <c:v>2/15/1996</c:v>
                  </c:pt>
                  <c:pt idx="134">
                    <c:v>3/15/1996</c:v>
                  </c:pt>
                  <c:pt idx="135">
                    <c:v>4/15/1996</c:v>
                  </c:pt>
                  <c:pt idx="136">
                    <c:v>5/15/1996</c:v>
                  </c:pt>
                  <c:pt idx="137">
                    <c:v>6/15/1996</c:v>
                  </c:pt>
                  <c:pt idx="138">
                    <c:v>7/15/1996</c:v>
                  </c:pt>
                  <c:pt idx="139">
                    <c:v>8/15/1996</c:v>
                  </c:pt>
                  <c:pt idx="140">
                    <c:v>9/15/1996</c:v>
                  </c:pt>
                  <c:pt idx="141">
                    <c:v>10/15/1996</c:v>
                  </c:pt>
                  <c:pt idx="142">
                    <c:v>11/15/1996</c:v>
                  </c:pt>
                  <c:pt idx="143">
                    <c:v>12/15/1996</c:v>
                  </c:pt>
                  <c:pt idx="144">
                    <c:v>1/15/1997</c:v>
                  </c:pt>
                  <c:pt idx="145">
                    <c:v>2/15/1997</c:v>
                  </c:pt>
                  <c:pt idx="146">
                    <c:v>3/15/1997</c:v>
                  </c:pt>
                  <c:pt idx="147">
                    <c:v>4/15/1997</c:v>
                  </c:pt>
                  <c:pt idx="148">
                    <c:v>5/15/1997</c:v>
                  </c:pt>
                  <c:pt idx="149">
                    <c:v>6/15/1997</c:v>
                  </c:pt>
                  <c:pt idx="150">
                    <c:v>7/15/1997</c:v>
                  </c:pt>
                  <c:pt idx="151">
                    <c:v>8/15/1997</c:v>
                  </c:pt>
                  <c:pt idx="152">
                    <c:v>9/15/1997</c:v>
                  </c:pt>
                  <c:pt idx="153">
                    <c:v>10/15/1997</c:v>
                  </c:pt>
                  <c:pt idx="154">
                    <c:v>11/15/1997</c:v>
                  </c:pt>
                  <c:pt idx="155">
                    <c:v>12/15/1997</c:v>
                  </c:pt>
                  <c:pt idx="156">
                    <c:v>1/15/1998</c:v>
                  </c:pt>
                  <c:pt idx="157">
                    <c:v>2/15/1998</c:v>
                  </c:pt>
                  <c:pt idx="158">
                    <c:v>3/15/1998</c:v>
                  </c:pt>
                  <c:pt idx="159">
                    <c:v>4/15/1998</c:v>
                  </c:pt>
                  <c:pt idx="160">
                    <c:v>5/15/1998</c:v>
                  </c:pt>
                  <c:pt idx="161">
                    <c:v>6/15/1998</c:v>
                  </c:pt>
                  <c:pt idx="162">
                    <c:v>7/15/1998</c:v>
                  </c:pt>
                  <c:pt idx="163">
                    <c:v>8/15/1998</c:v>
                  </c:pt>
                  <c:pt idx="164">
                    <c:v>9/15/1998</c:v>
                  </c:pt>
                  <c:pt idx="165">
                    <c:v>10/15/1998</c:v>
                  </c:pt>
                  <c:pt idx="166">
                    <c:v>11/15/1998</c:v>
                  </c:pt>
                  <c:pt idx="167">
                    <c:v>12/15/1998</c:v>
                  </c:pt>
                  <c:pt idx="168">
                    <c:v>1/15/1999</c:v>
                  </c:pt>
                  <c:pt idx="169">
                    <c:v>2/15/1999</c:v>
                  </c:pt>
                  <c:pt idx="170">
                    <c:v>3/15/1999</c:v>
                  </c:pt>
                  <c:pt idx="171">
                    <c:v>4/15/1999</c:v>
                  </c:pt>
                  <c:pt idx="172">
                    <c:v>5/15/1999</c:v>
                  </c:pt>
                  <c:pt idx="173">
                    <c:v>6/15/1999</c:v>
                  </c:pt>
                  <c:pt idx="174">
                    <c:v>7/15/1999</c:v>
                  </c:pt>
                  <c:pt idx="175">
                    <c:v>8/15/1999</c:v>
                  </c:pt>
                  <c:pt idx="176">
                    <c:v>9/15/1999</c:v>
                  </c:pt>
                  <c:pt idx="177">
                    <c:v>10/15/1999</c:v>
                  </c:pt>
                  <c:pt idx="178">
                    <c:v>11/15/1999</c:v>
                  </c:pt>
                  <c:pt idx="179">
                    <c:v>12/15/1999</c:v>
                  </c:pt>
                  <c:pt idx="180">
                    <c:v>1/15/2000</c:v>
                  </c:pt>
                  <c:pt idx="181">
                    <c:v>2/15/2000</c:v>
                  </c:pt>
                  <c:pt idx="182">
                    <c:v>3/15/2000</c:v>
                  </c:pt>
                  <c:pt idx="183">
                    <c:v>4/15/2000</c:v>
                  </c:pt>
                  <c:pt idx="184">
                    <c:v>5/15/2000</c:v>
                  </c:pt>
                  <c:pt idx="185">
                    <c:v>6/15/2000</c:v>
                  </c:pt>
                  <c:pt idx="186">
                    <c:v>7/15/2000</c:v>
                  </c:pt>
                  <c:pt idx="187">
                    <c:v>8/15/2000</c:v>
                  </c:pt>
                  <c:pt idx="188">
                    <c:v>9/15/2000</c:v>
                  </c:pt>
                  <c:pt idx="189">
                    <c:v>10/15/2000</c:v>
                  </c:pt>
                  <c:pt idx="190">
                    <c:v>11/15/2000</c:v>
                  </c:pt>
                  <c:pt idx="191">
                    <c:v>12/15/2000</c:v>
                  </c:pt>
                  <c:pt idx="192">
                    <c:v>1/15/2001</c:v>
                  </c:pt>
                  <c:pt idx="193">
                    <c:v>2/15/2001</c:v>
                  </c:pt>
                  <c:pt idx="194">
                    <c:v>3/15/2001</c:v>
                  </c:pt>
                  <c:pt idx="195">
                    <c:v>4/15/2001</c:v>
                  </c:pt>
                  <c:pt idx="196">
                    <c:v>5/15/2001</c:v>
                  </c:pt>
                  <c:pt idx="197">
                    <c:v>6/15/2001</c:v>
                  </c:pt>
                  <c:pt idx="198">
                    <c:v>7/15/2001</c:v>
                  </c:pt>
                  <c:pt idx="199">
                    <c:v>8/15/2001</c:v>
                  </c:pt>
                  <c:pt idx="200">
                    <c:v>9/15/2001</c:v>
                  </c:pt>
                  <c:pt idx="201">
                    <c:v>10/15/2001</c:v>
                  </c:pt>
                  <c:pt idx="202">
                    <c:v>11/15/2001</c:v>
                  </c:pt>
                  <c:pt idx="203">
                    <c:v>12/15/2001</c:v>
                  </c:pt>
                  <c:pt idx="204">
                    <c:v>1/15/2002</c:v>
                  </c:pt>
                  <c:pt idx="205">
                    <c:v>2/15/2002</c:v>
                  </c:pt>
                  <c:pt idx="206">
                    <c:v>3/15/2002</c:v>
                  </c:pt>
                  <c:pt idx="207">
                    <c:v>4/15/2002</c:v>
                  </c:pt>
                  <c:pt idx="208">
                    <c:v>5/15/2002</c:v>
                  </c:pt>
                  <c:pt idx="209">
                    <c:v>6/15/2002</c:v>
                  </c:pt>
                  <c:pt idx="210">
                    <c:v>7/15/2002</c:v>
                  </c:pt>
                  <c:pt idx="211">
                    <c:v>8/15/2002</c:v>
                  </c:pt>
                  <c:pt idx="212">
                    <c:v>9/15/2002</c:v>
                  </c:pt>
                  <c:pt idx="213">
                    <c:v>10/15/2002</c:v>
                  </c:pt>
                  <c:pt idx="214">
                    <c:v>11/15/2002</c:v>
                  </c:pt>
                  <c:pt idx="215">
                    <c:v>12/15/2002</c:v>
                  </c:pt>
                  <c:pt idx="216">
                    <c:v>1/15/2003</c:v>
                  </c:pt>
                  <c:pt idx="217">
                    <c:v>2/15/2003</c:v>
                  </c:pt>
                  <c:pt idx="218">
                    <c:v>3/15/2003</c:v>
                  </c:pt>
                  <c:pt idx="219">
                    <c:v>4/15/2003</c:v>
                  </c:pt>
                  <c:pt idx="220">
                    <c:v>5/15/2003</c:v>
                  </c:pt>
                  <c:pt idx="221">
                    <c:v>6/15/2003</c:v>
                  </c:pt>
                  <c:pt idx="222">
                    <c:v>7/15/2003</c:v>
                  </c:pt>
                  <c:pt idx="223">
                    <c:v>8/15/2003</c:v>
                  </c:pt>
                  <c:pt idx="224">
                    <c:v>9/15/2003</c:v>
                  </c:pt>
                  <c:pt idx="225">
                    <c:v>10/15/2003</c:v>
                  </c:pt>
                  <c:pt idx="226">
                    <c:v>11/15/2003</c:v>
                  </c:pt>
                  <c:pt idx="227">
                    <c:v>12/15/2003</c:v>
                  </c:pt>
                  <c:pt idx="228">
                    <c:v>1/15/2004</c:v>
                  </c:pt>
                  <c:pt idx="229">
                    <c:v>2/15/2004</c:v>
                  </c:pt>
                  <c:pt idx="230">
                    <c:v>3/15/2004</c:v>
                  </c:pt>
                  <c:pt idx="231">
                    <c:v>4/15/2004</c:v>
                  </c:pt>
                  <c:pt idx="232">
                    <c:v>5/15/2004</c:v>
                  </c:pt>
                  <c:pt idx="233">
                    <c:v>6/15/2004</c:v>
                  </c:pt>
                  <c:pt idx="234">
                    <c:v>7/15/2004</c:v>
                  </c:pt>
                  <c:pt idx="235">
                    <c:v>8/15/2004</c:v>
                  </c:pt>
                  <c:pt idx="236">
                    <c:v>9/15/2004</c:v>
                  </c:pt>
                  <c:pt idx="237">
                    <c:v>10/15/2004</c:v>
                  </c:pt>
                  <c:pt idx="238">
                    <c:v>11/15/2004</c:v>
                  </c:pt>
                  <c:pt idx="239">
                    <c:v>12/15/2004</c:v>
                  </c:pt>
                  <c:pt idx="240">
                    <c:v>1/15/2005</c:v>
                  </c:pt>
                  <c:pt idx="241">
                    <c:v>2/15/2005</c:v>
                  </c:pt>
                  <c:pt idx="242">
                    <c:v>3/15/2005</c:v>
                  </c:pt>
                  <c:pt idx="243">
                    <c:v>4/15/2005</c:v>
                  </c:pt>
                  <c:pt idx="244">
                    <c:v>5/15/2005</c:v>
                  </c:pt>
                  <c:pt idx="245">
                    <c:v>6/15/2005</c:v>
                  </c:pt>
                  <c:pt idx="246">
                    <c:v>7/15/2005</c:v>
                  </c:pt>
                  <c:pt idx="247">
                    <c:v>8/15/2005</c:v>
                  </c:pt>
                  <c:pt idx="248">
                    <c:v>9/15/2005</c:v>
                  </c:pt>
                  <c:pt idx="249">
                    <c:v>10/15/2005</c:v>
                  </c:pt>
                  <c:pt idx="250">
                    <c:v>11/15/2005</c:v>
                  </c:pt>
                  <c:pt idx="251">
                    <c:v>12/15/2005</c:v>
                  </c:pt>
                  <c:pt idx="252">
                    <c:v>1/15/2006</c:v>
                  </c:pt>
                  <c:pt idx="253">
                    <c:v>2/15/2006</c:v>
                  </c:pt>
                  <c:pt idx="254">
                    <c:v>3/15/2006</c:v>
                  </c:pt>
                  <c:pt idx="255">
                    <c:v>4/15/2006</c:v>
                  </c:pt>
                  <c:pt idx="256">
                    <c:v>5/15/2006</c:v>
                  </c:pt>
                  <c:pt idx="257">
                    <c:v>6/15/2006</c:v>
                  </c:pt>
                  <c:pt idx="258">
                    <c:v>7/15/2006</c:v>
                  </c:pt>
                  <c:pt idx="259">
                    <c:v>8/15/2006</c:v>
                  </c:pt>
                  <c:pt idx="260">
                    <c:v>9/15/2006</c:v>
                  </c:pt>
                  <c:pt idx="261">
                    <c:v>10/15/2006</c:v>
                  </c:pt>
                  <c:pt idx="262">
                    <c:v>11/15/2006</c:v>
                  </c:pt>
                  <c:pt idx="263">
                    <c:v>12/15/2006</c:v>
                  </c:pt>
                  <c:pt idx="264">
                    <c:v>1/15/2007</c:v>
                  </c:pt>
                  <c:pt idx="265">
                    <c:v>2/15/2007</c:v>
                  </c:pt>
                  <c:pt idx="266">
                    <c:v>3/15/2007</c:v>
                  </c:pt>
                  <c:pt idx="267">
                    <c:v>4/15/2007</c:v>
                  </c:pt>
                  <c:pt idx="268">
                    <c:v>5/15/2007</c:v>
                  </c:pt>
                  <c:pt idx="269">
                    <c:v>6/15/2007</c:v>
                  </c:pt>
                  <c:pt idx="270">
                    <c:v>7/15/2007</c:v>
                  </c:pt>
                  <c:pt idx="271">
                    <c:v>8/15/2007</c:v>
                  </c:pt>
                  <c:pt idx="272">
                    <c:v>9/15/2007</c:v>
                  </c:pt>
                  <c:pt idx="273">
                    <c:v>10/15/2007</c:v>
                  </c:pt>
                  <c:pt idx="274">
                    <c:v>11/15/2007</c:v>
                  </c:pt>
                  <c:pt idx="275">
                    <c:v>12/15/2007</c:v>
                  </c:pt>
                  <c:pt idx="276">
                    <c:v>1/15/2008</c:v>
                  </c:pt>
                  <c:pt idx="277">
                    <c:v>2/15/2008</c:v>
                  </c:pt>
                  <c:pt idx="278">
                    <c:v>3/15/2008</c:v>
                  </c:pt>
                  <c:pt idx="279">
                    <c:v>4/15/2008</c:v>
                  </c:pt>
                  <c:pt idx="280">
                    <c:v>5/15/2008</c:v>
                  </c:pt>
                  <c:pt idx="281">
                    <c:v>6/15/2008</c:v>
                  </c:pt>
                  <c:pt idx="282">
                    <c:v>7/15/2008</c:v>
                  </c:pt>
                  <c:pt idx="283">
                    <c:v>8/15/2008</c:v>
                  </c:pt>
                  <c:pt idx="284">
                    <c:v>9/15/2008</c:v>
                  </c:pt>
                  <c:pt idx="285">
                    <c:v>10/15/2008</c:v>
                  </c:pt>
                  <c:pt idx="286">
                    <c:v>11/15/2008</c:v>
                  </c:pt>
                  <c:pt idx="287">
                    <c:v>12/15/2008</c:v>
                  </c:pt>
                  <c:pt idx="288">
                    <c:v>1/15/2009</c:v>
                  </c:pt>
                  <c:pt idx="289">
                    <c:v>2/15/2009</c:v>
                  </c:pt>
                  <c:pt idx="290">
                    <c:v>3/15/2009</c:v>
                  </c:pt>
                  <c:pt idx="291">
                    <c:v>4/15/2009</c:v>
                  </c:pt>
                  <c:pt idx="292">
                    <c:v>5/15/2009</c:v>
                  </c:pt>
                  <c:pt idx="293">
                    <c:v>6/15/2009</c:v>
                  </c:pt>
                  <c:pt idx="294">
                    <c:v>7/15/2009</c:v>
                  </c:pt>
                  <c:pt idx="295">
                    <c:v>8/15/2009</c:v>
                  </c:pt>
                  <c:pt idx="296">
                    <c:v>9/15/2009</c:v>
                  </c:pt>
                  <c:pt idx="297">
                    <c:v>10/15/2009</c:v>
                  </c:pt>
                  <c:pt idx="298">
                    <c:v>11/15/2009</c:v>
                  </c:pt>
                  <c:pt idx="299">
                    <c:v>12/15/2009</c:v>
                  </c:pt>
                  <c:pt idx="300">
                    <c:v>1/15/2010</c:v>
                  </c:pt>
                  <c:pt idx="301">
                    <c:v>2/15/2010</c:v>
                  </c:pt>
                  <c:pt idx="302">
                    <c:v>3/15/2010</c:v>
                  </c:pt>
                  <c:pt idx="303">
                    <c:v>4/15/2010</c:v>
                  </c:pt>
                  <c:pt idx="304">
                    <c:v>5/15/2010</c:v>
                  </c:pt>
                  <c:pt idx="305">
                    <c:v>6/15/2010</c:v>
                  </c:pt>
                  <c:pt idx="306">
                    <c:v>7/15/2010</c:v>
                  </c:pt>
                  <c:pt idx="307">
                    <c:v>8/15/2010</c:v>
                  </c:pt>
                  <c:pt idx="308">
                    <c:v>9/15/2010</c:v>
                  </c:pt>
                  <c:pt idx="309">
                    <c:v>10/15/2010</c:v>
                  </c:pt>
                  <c:pt idx="310">
                    <c:v>11/15/2010</c:v>
                  </c:pt>
                  <c:pt idx="311">
                    <c:v>12/15/2010</c:v>
                  </c:pt>
                  <c:pt idx="312">
                    <c:v>1/15/2011</c:v>
                  </c:pt>
                  <c:pt idx="313">
                    <c:v>2/15/2011</c:v>
                  </c:pt>
                  <c:pt idx="314">
                    <c:v>3/15/2011</c:v>
                  </c:pt>
                  <c:pt idx="315">
                    <c:v>4/15/2011</c:v>
                  </c:pt>
                  <c:pt idx="316">
                    <c:v>5/15/2011</c:v>
                  </c:pt>
                  <c:pt idx="317">
                    <c:v>6/15/2011</c:v>
                  </c:pt>
                  <c:pt idx="318">
                    <c:v>7/15/2011</c:v>
                  </c:pt>
                  <c:pt idx="319">
                    <c:v>8/15/2011</c:v>
                  </c:pt>
                  <c:pt idx="320">
                    <c:v>9/15/2011</c:v>
                  </c:pt>
                  <c:pt idx="321">
                    <c:v>10/15/2011</c:v>
                  </c:pt>
                  <c:pt idx="322">
                    <c:v>11/15/2011</c:v>
                  </c:pt>
                  <c:pt idx="323">
                    <c:v>12/15/2011</c:v>
                  </c:pt>
                  <c:pt idx="324">
                    <c:v>1/15/2012</c:v>
                  </c:pt>
                  <c:pt idx="325">
                    <c:v>2/15/2012</c:v>
                  </c:pt>
                  <c:pt idx="326">
                    <c:v>3/15/2012</c:v>
                  </c:pt>
                  <c:pt idx="327">
                    <c:v>4/15/2012</c:v>
                  </c:pt>
                  <c:pt idx="328">
                    <c:v>5/15/2012</c:v>
                  </c:pt>
                  <c:pt idx="329">
                    <c:v>6/15/2012</c:v>
                  </c:pt>
                  <c:pt idx="330">
                    <c:v>7/15/2012</c:v>
                  </c:pt>
                  <c:pt idx="331">
                    <c:v>8/15/2012</c:v>
                  </c:pt>
                  <c:pt idx="332">
                    <c:v>9/15/2012</c:v>
                  </c:pt>
                  <c:pt idx="333">
                    <c:v>10/15/2012</c:v>
                  </c:pt>
                  <c:pt idx="334">
                    <c:v>11/15/2012</c:v>
                  </c:pt>
                  <c:pt idx="335">
                    <c:v>12/15/2012</c:v>
                  </c:pt>
                  <c:pt idx="336">
                    <c:v>1/15/2013</c:v>
                  </c:pt>
                  <c:pt idx="337">
                    <c:v>2/15/2013</c:v>
                  </c:pt>
                  <c:pt idx="338">
                    <c:v>3/15/2013</c:v>
                  </c:pt>
                  <c:pt idx="339">
                    <c:v>4/15/2013</c:v>
                  </c:pt>
                  <c:pt idx="340">
                    <c:v>5/15/2013</c:v>
                  </c:pt>
                  <c:pt idx="341">
                    <c:v>6/15/2013</c:v>
                  </c:pt>
                  <c:pt idx="342">
                    <c:v>7/15/2013</c:v>
                  </c:pt>
                  <c:pt idx="343">
                    <c:v>8/15/2013</c:v>
                  </c:pt>
                  <c:pt idx="344">
                    <c:v>9/15/2013</c:v>
                  </c:pt>
                  <c:pt idx="345">
                    <c:v>10/15/2013</c:v>
                  </c:pt>
                  <c:pt idx="346">
                    <c:v>11/15/2013</c:v>
                  </c:pt>
                  <c:pt idx="347">
                    <c:v>12/15/2013</c:v>
                  </c:pt>
                  <c:pt idx="348">
                    <c:v>1/15/2014</c:v>
                  </c:pt>
                  <c:pt idx="349">
                    <c:v>2/15/2014</c:v>
                  </c:pt>
                  <c:pt idx="350">
                    <c:v>3/15/2014</c:v>
                  </c:pt>
                  <c:pt idx="351">
                    <c:v>4/15/2014</c:v>
                  </c:pt>
                  <c:pt idx="352">
                    <c:v>5/15/2014</c:v>
                  </c:pt>
                  <c:pt idx="353">
                    <c:v>6/15/2014</c:v>
                  </c:pt>
                  <c:pt idx="354">
                    <c:v>7/15/2014</c:v>
                  </c:pt>
                  <c:pt idx="355">
                    <c:v>8/15/2014</c:v>
                  </c:pt>
                  <c:pt idx="356">
                    <c:v>9/15/2014</c:v>
                  </c:pt>
                  <c:pt idx="357">
                    <c:v>10/15/2014</c:v>
                  </c:pt>
                  <c:pt idx="358">
                    <c:v>11/15/2014</c:v>
                  </c:pt>
                  <c:pt idx="359">
                    <c:v>12/15/2014</c:v>
                  </c:pt>
                  <c:pt idx="360">
                    <c:v>1/15/2015</c:v>
                  </c:pt>
                  <c:pt idx="361">
                    <c:v>2/15/2015</c:v>
                  </c:pt>
                  <c:pt idx="362">
                    <c:v>3/15/2015</c:v>
                  </c:pt>
                  <c:pt idx="363">
                    <c:v>4/15/2015</c:v>
                  </c:pt>
                  <c:pt idx="364">
                    <c:v>5/15/2015</c:v>
                  </c:pt>
                  <c:pt idx="365">
                    <c:v>6/15/2015</c:v>
                  </c:pt>
                  <c:pt idx="366">
                    <c:v>7/15/2015</c:v>
                  </c:pt>
                  <c:pt idx="367">
                    <c:v>8/15/2015</c:v>
                  </c:pt>
                  <c:pt idx="368">
                    <c:v>9/15/2015</c:v>
                  </c:pt>
                  <c:pt idx="369">
                    <c:v>10/15/2015</c:v>
                  </c:pt>
                  <c:pt idx="370">
                    <c:v>11/15/2015</c:v>
                  </c:pt>
                  <c:pt idx="371">
                    <c:v>12/15/2015</c:v>
                  </c:pt>
                  <c:pt idx="372">
                    <c:v>1/15/2016</c:v>
                  </c:pt>
                  <c:pt idx="373">
                    <c:v>2/15/2016</c:v>
                  </c:pt>
                  <c:pt idx="374">
                    <c:v>3/15/2016</c:v>
                  </c:pt>
                  <c:pt idx="375">
                    <c:v>4/15/2016</c:v>
                  </c:pt>
                  <c:pt idx="376">
                    <c:v>5/15/2016</c:v>
                  </c:pt>
                  <c:pt idx="377">
                    <c:v>6/15/2016</c:v>
                  </c:pt>
                  <c:pt idx="378">
                    <c:v>7/15/2016</c:v>
                  </c:pt>
                  <c:pt idx="379">
                    <c:v>8/15/2016</c:v>
                  </c:pt>
                  <c:pt idx="380">
                    <c:v>9/15/2016</c:v>
                  </c:pt>
                  <c:pt idx="381">
                    <c:v>10/15/2016</c:v>
                  </c:pt>
                  <c:pt idx="382">
                    <c:v>11/15/2016</c:v>
                  </c:pt>
                  <c:pt idx="383">
                    <c:v>12/15/2016</c:v>
                  </c:pt>
                  <c:pt idx="384">
                    <c:v>1/15/2017</c:v>
                  </c:pt>
                  <c:pt idx="385">
                    <c:v>2/15/2017</c:v>
                  </c:pt>
                  <c:pt idx="386">
                    <c:v>3/15/2017</c:v>
                  </c:pt>
                  <c:pt idx="387">
                    <c:v>4/15/2017</c:v>
                  </c:pt>
                  <c:pt idx="388">
                    <c:v>5/15/2017</c:v>
                  </c:pt>
                  <c:pt idx="389">
                    <c:v>6/15/2017</c:v>
                  </c:pt>
                  <c:pt idx="390">
                    <c:v>7/15/2017</c:v>
                  </c:pt>
                  <c:pt idx="391">
                    <c:v>8/15/2017</c:v>
                  </c:pt>
                  <c:pt idx="392">
                    <c:v>9/15/2017</c:v>
                  </c:pt>
                  <c:pt idx="393">
                    <c:v>10/15/2017</c:v>
                  </c:pt>
                  <c:pt idx="394">
                    <c:v>11/15/2017</c:v>
                  </c:pt>
                  <c:pt idx="395">
                    <c:v>12/15/2017</c:v>
                  </c:pt>
                  <c:pt idx="396">
                    <c:v>1/15/2018</c:v>
                  </c:pt>
                  <c:pt idx="397">
                    <c:v>2/15/2018</c:v>
                  </c:pt>
                  <c:pt idx="398">
                    <c:v>3/15/2018</c:v>
                  </c:pt>
                  <c:pt idx="399">
                    <c:v>4/15/2018</c:v>
                  </c:pt>
                  <c:pt idx="400">
                    <c:v>5/15/2018</c:v>
                  </c:pt>
                  <c:pt idx="401">
                    <c:v>6/15/2018</c:v>
                  </c:pt>
                  <c:pt idx="402">
                    <c:v>7/15/2018</c:v>
                  </c:pt>
                  <c:pt idx="403">
                    <c:v>8/15/2018</c:v>
                  </c:pt>
                  <c:pt idx="404">
                    <c:v>9/15/2018</c:v>
                  </c:pt>
                  <c:pt idx="405">
                    <c:v>10/15/2018</c:v>
                  </c:pt>
                  <c:pt idx="406">
                    <c:v>11/15/2018</c:v>
                  </c:pt>
                  <c:pt idx="407">
                    <c:v>12/15/2018</c:v>
                  </c:pt>
                  <c:pt idx="408">
                    <c:v>1/15/2019</c:v>
                  </c:pt>
                  <c:pt idx="409">
                    <c:v>2/15/2019</c:v>
                  </c:pt>
                  <c:pt idx="410">
                    <c:v>3/15/2019</c:v>
                  </c:pt>
                  <c:pt idx="411">
                    <c:v>4/15/2019</c:v>
                  </c:pt>
                  <c:pt idx="412">
                    <c:v>5/15/2019</c:v>
                  </c:pt>
                  <c:pt idx="413">
                    <c:v>6/15/2019</c:v>
                  </c:pt>
                  <c:pt idx="414">
                    <c:v>7/15/2019</c:v>
                  </c:pt>
                  <c:pt idx="415">
                    <c:v>8/15/2019</c:v>
                  </c:pt>
                  <c:pt idx="416">
                    <c:v>9/15/2019</c:v>
                  </c:pt>
                  <c:pt idx="417">
                    <c:v>10/15/2019</c:v>
                  </c:pt>
                  <c:pt idx="418">
                    <c:v>11/15/2019</c:v>
                  </c:pt>
                  <c:pt idx="419">
                    <c:v>12/15/2019</c:v>
                  </c:pt>
                  <c:pt idx="420">
                    <c:v>1/15/2020</c:v>
                  </c:pt>
                  <c:pt idx="421">
                    <c:v>2/15/2020</c:v>
                  </c:pt>
                  <c:pt idx="422">
                    <c:v>3/15/2020</c:v>
                  </c:pt>
                  <c:pt idx="423">
                    <c:v>4/15/2020</c:v>
                  </c:pt>
                </c:lvl>
                <c:lvl>
                  <c:pt idx="0">
                    <c:v>1</c:v>
                  </c:pt>
                  <c:pt idx="1">
                    <c:v>2</c:v>
                  </c:pt>
                  <c:pt idx="2">
                    <c:v>3</c:v>
                  </c:pt>
                  <c:pt idx="3">
                    <c:v>4</c:v>
                  </c:pt>
                  <c:pt idx="4">
                    <c:v>5</c:v>
                  </c:pt>
                  <c:pt idx="5">
                    <c:v>6</c:v>
                  </c:pt>
                  <c:pt idx="6">
                    <c:v>7</c:v>
                  </c:pt>
                  <c:pt idx="7">
                    <c:v>8</c:v>
                  </c:pt>
                  <c:pt idx="8">
                    <c:v>9</c:v>
                  </c:pt>
                  <c:pt idx="9">
                    <c:v>10</c:v>
                  </c:pt>
                  <c:pt idx="10">
                    <c:v>11</c:v>
                  </c:pt>
                  <c:pt idx="11">
                    <c:v>12</c:v>
                  </c:pt>
                  <c:pt idx="12">
                    <c:v>1</c:v>
                  </c:pt>
                  <c:pt idx="13">
                    <c:v>2</c:v>
                  </c:pt>
                  <c:pt idx="14">
                    <c:v>3</c:v>
                  </c:pt>
                  <c:pt idx="15">
                    <c:v>4</c:v>
                  </c:pt>
                  <c:pt idx="16">
                    <c:v>5</c:v>
                  </c:pt>
                  <c:pt idx="17">
                    <c:v>6</c:v>
                  </c:pt>
                  <c:pt idx="18">
                    <c:v>7</c:v>
                  </c:pt>
                  <c:pt idx="19">
                    <c:v>8</c:v>
                  </c:pt>
                  <c:pt idx="20">
                    <c:v>9</c:v>
                  </c:pt>
                  <c:pt idx="21">
                    <c:v>10</c:v>
                  </c:pt>
                  <c:pt idx="22">
                    <c:v>11</c:v>
                  </c:pt>
                  <c:pt idx="23">
                    <c:v>12</c:v>
                  </c:pt>
                  <c:pt idx="24">
                    <c:v>1</c:v>
                  </c:pt>
                  <c:pt idx="25">
                    <c:v>2</c:v>
                  </c:pt>
                  <c:pt idx="26">
                    <c:v>3</c:v>
                  </c:pt>
                  <c:pt idx="27">
                    <c:v>4</c:v>
                  </c:pt>
                  <c:pt idx="28">
                    <c:v>5</c:v>
                  </c:pt>
                  <c:pt idx="29">
                    <c:v>6</c:v>
                  </c:pt>
                  <c:pt idx="30">
                    <c:v>7</c:v>
                  </c:pt>
                  <c:pt idx="31">
                    <c:v>8</c:v>
                  </c:pt>
                  <c:pt idx="32">
                    <c:v>9</c:v>
                  </c:pt>
                  <c:pt idx="33">
                    <c:v>10</c:v>
                  </c:pt>
                  <c:pt idx="34">
                    <c:v>11</c:v>
                  </c:pt>
                  <c:pt idx="35">
                    <c:v>12</c:v>
                  </c:pt>
                  <c:pt idx="36">
                    <c:v>1</c:v>
                  </c:pt>
                  <c:pt idx="37">
                    <c:v>2</c:v>
                  </c:pt>
                  <c:pt idx="38">
                    <c:v>3</c:v>
                  </c:pt>
                  <c:pt idx="39">
                    <c:v>4</c:v>
                  </c:pt>
                  <c:pt idx="40">
                    <c:v>5</c:v>
                  </c:pt>
                  <c:pt idx="41">
                    <c:v>6</c:v>
                  </c:pt>
                  <c:pt idx="42">
                    <c:v>7</c:v>
                  </c:pt>
                  <c:pt idx="43">
                    <c:v>8</c:v>
                  </c:pt>
                  <c:pt idx="44">
                    <c:v>9</c:v>
                  </c:pt>
                  <c:pt idx="45">
                    <c:v>10</c:v>
                  </c:pt>
                  <c:pt idx="46">
                    <c:v>11</c:v>
                  </c:pt>
                  <c:pt idx="47">
                    <c:v>12</c:v>
                  </c:pt>
                  <c:pt idx="48">
                    <c:v>1</c:v>
                  </c:pt>
                  <c:pt idx="49">
                    <c:v>2</c:v>
                  </c:pt>
                  <c:pt idx="50">
                    <c:v>3</c:v>
                  </c:pt>
                  <c:pt idx="51">
                    <c:v>4</c:v>
                  </c:pt>
                  <c:pt idx="52">
                    <c:v>5</c:v>
                  </c:pt>
                  <c:pt idx="53">
                    <c:v>6</c:v>
                  </c:pt>
                  <c:pt idx="54">
                    <c:v>7</c:v>
                  </c:pt>
                  <c:pt idx="55">
                    <c:v>8</c:v>
                  </c:pt>
                  <c:pt idx="56">
                    <c:v>9</c:v>
                  </c:pt>
                  <c:pt idx="57">
                    <c:v>10</c:v>
                  </c:pt>
                  <c:pt idx="58">
                    <c:v>11</c:v>
                  </c:pt>
                  <c:pt idx="59">
                    <c:v>12</c:v>
                  </c:pt>
                  <c:pt idx="60">
                    <c:v>1</c:v>
                  </c:pt>
                  <c:pt idx="61">
                    <c:v>2</c:v>
                  </c:pt>
                  <c:pt idx="62">
                    <c:v>3</c:v>
                  </c:pt>
                  <c:pt idx="63">
                    <c:v>4</c:v>
                  </c:pt>
                  <c:pt idx="64">
                    <c:v>5</c:v>
                  </c:pt>
                  <c:pt idx="65">
                    <c:v>6</c:v>
                  </c:pt>
                  <c:pt idx="66">
                    <c:v>7</c:v>
                  </c:pt>
                  <c:pt idx="67">
                    <c:v>8</c:v>
                  </c:pt>
                  <c:pt idx="68">
                    <c:v>9</c:v>
                  </c:pt>
                  <c:pt idx="69">
                    <c:v>10</c:v>
                  </c:pt>
                  <c:pt idx="70">
                    <c:v>11</c:v>
                  </c:pt>
                  <c:pt idx="71">
                    <c:v>12</c:v>
                  </c:pt>
                  <c:pt idx="72">
                    <c:v>1</c:v>
                  </c:pt>
                  <c:pt idx="73">
                    <c:v>2</c:v>
                  </c:pt>
                  <c:pt idx="74">
                    <c:v>3</c:v>
                  </c:pt>
                  <c:pt idx="75">
                    <c:v>4</c:v>
                  </c:pt>
                  <c:pt idx="76">
                    <c:v>5</c:v>
                  </c:pt>
                  <c:pt idx="77">
                    <c:v>6</c:v>
                  </c:pt>
                  <c:pt idx="78">
                    <c:v>7</c:v>
                  </c:pt>
                  <c:pt idx="79">
                    <c:v>8</c:v>
                  </c:pt>
                  <c:pt idx="80">
                    <c:v>9</c:v>
                  </c:pt>
                  <c:pt idx="81">
                    <c:v>10</c:v>
                  </c:pt>
                  <c:pt idx="82">
                    <c:v>11</c:v>
                  </c:pt>
                  <c:pt idx="83">
                    <c:v>12</c:v>
                  </c:pt>
                  <c:pt idx="84">
                    <c:v>1</c:v>
                  </c:pt>
                  <c:pt idx="85">
                    <c:v>2</c:v>
                  </c:pt>
                  <c:pt idx="86">
                    <c:v>3</c:v>
                  </c:pt>
                  <c:pt idx="87">
                    <c:v>4</c:v>
                  </c:pt>
                  <c:pt idx="88">
                    <c:v>5</c:v>
                  </c:pt>
                  <c:pt idx="89">
                    <c:v>6</c:v>
                  </c:pt>
                  <c:pt idx="90">
                    <c:v>7</c:v>
                  </c:pt>
                  <c:pt idx="91">
                    <c:v>8</c:v>
                  </c:pt>
                  <c:pt idx="92">
                    <c:v>9</c:v>
                  </c:pt>
                  <c:pt idx="93">
                    <c:v>10</c:v>
                  </c:pt>
                  <c:pt idx="94">
                    <c:v>11</c:v>
                  </c:pt>
                  <c:pt idx="95">
                    <c:v>12</c:v>
                  </c:pt>
                  <c:pt idx="96">
                    <c:v>1</c:v>
                  </c:pt>
                  <c:pt idx="97">
                    <c:v>2</c:v>
                  </c:pt>
                  <c:pt idx="98">
                    <c:v>3</c:v>
                  </c:pt>
                  <c:pt idx="99">
                    <c:v>4</c:v>
                  </c:pt>
                  <c:pt idx="100">
                    <c:v>5</c:v>
                  </c:pt>
                  <c:pt idx="101">
                    <c:v>6</c:v>
                  </c:pt>
                  <c:pt idx="102">
                    <c:v>7</c:v>
                  </c:pt>
                  <c:pt idx="103">
                    <c:v>8</c:v>
                  </c:pt>
                  <c:pt idx="104">
                    <c:v>9</c:v>
                  </c:pt>
                  <c:pt idx="105">
                    <c:v>10</c:v>
                  </c:pt>
                  <c:pt idx="106">
                    <c:v>11</c:v>
                  </c:pt>
                  <c:pt idx="107">
                    <c:v>12</c:v>
                  </c:pt>
                  <c:pt idx="108">
                    <c:v>1</c:v>
                  </c:pt>
                  <c:pt idx="109">
                    <c:v>2</c:v>
                  </c:pt>
                  <c:pt idx="110">
                    <c:v>3</c:v>
                  </c:pt>
                  <c:pt idx="111">
                    <c:v>4</c:v>
                  </c:pt>
                  <c:pt idx="112">
                    <c:v>5</c:v>
                  </c:pt>
                  <c:pt idx="113">
                    <c:v>6</c:v>
                  </c:pt>
                  <c:pt idx="114">
                    <c:v>7</c:v>
                  </c:pt>
                  <c:pt idx="115">
                    <c:v>8</c:v>
                  </c:pt>
                  <c:pt idx="116">
                    <c:v>9</c:v>
                  </c:pt>
                  <c:pt idx="117">
                    <c:v>10</c:v>
                  </c:pt>
                  <c:pt idx="118">
                    <c:v>11</c:v>
                  </c:pt>
                  <c:pt idx="119">
                    <c:v>12</c:v>
                  </c:pt>
                  <c:pt idx="120">
                    <c:v>1</c:v>
                  </c:pt>
                  <c:pt idx="121">
                    <c:v>2</c:v>
                  </c:pt>
                  <c:pt idx="122">
                    <c:v>3</c:v>
                  </c:pt>
                  <c:pt idx="123">
                    <c:v>4</c:v>
                  </c:pt>
                  <c:pt idx="124">
                    <c:v>5</c:v>
                  </c:pt>
                  <c:pt idx="125">
                    <c:v>6</c:v>
                  </c:pt>
                  <c:pt idx="126">
                    <c:v>7</c:v>
                  </c:pt>
                  <c:pt idx="127">
                    <c:v>8</c:v>
                  </c:pt>
                  <c:pt idx="128">
                    <c:v>9</c:v>
                  </c:pt>
                  <c:pt idx="129">
                    <c:v>10</c:v>
                  </c:pt>
                  <c:pt idx="130">
                    <c:v>11</c:v>
                  </c:pt>
                  <c:pt idx="131">
                    <c:v>12</c:v>
                  </c:pt>
                  <c:pt idx="132">
                    <c:v>1</c:v>
                  </c:pt>
                  <c:pt idx="133">
                    <c:v>2</c:v>
                  </c:pt>
                  <c:pt idx="134">
                    <c:v>3</c:v>
                  </c:pt>
                  <c:pt idx="135">
                    <c:v>4</c:v>
                  </c:pt>
                  <c:pt idx="136">
                    <c:v>5</c:v>
                  </c:pt>
                  <c:pt idx="137">
                    <c:v>6</c:v>
                  </c:pt>
                  <c:pt idx="138">
                    <c:v>7</c:v>
                  </c:pt>
                  <c:pt idx="139">
                    <c:v>8</c:v>
                  </c:pt>
                  <c:pt idx="140">
                    <c:v>9</c:v>
                  </c:pt>
                  <c:pt idx="141">
                    <c:v>10</c:v>
                  </c:pt>
                  <c:pt idx="142">
                    <c:v>11</c:v>
                  </c:pt>
                  <c:pt idx="143">
                    <c:v>12</c:v>
                  </c:pt>
                  <c:pt idx="144">
                    <c:v>1</c:v>
                  </c:pt>
                  <c:pt idx="145">
                    <c:v>2</c:v>
                  </c:pt>
                  <c:pt idx="146">
                    <c:v>3</c:v>
                  </c:pt>
                  <c:pt idx="147">
                    <c:v>4</c:v>
                  </c:pt>
                  <c:pt idx="148">
                    <c:v>5</c:v>
                  </c:pt>
                  <c:pt idx="149">
                    <c:v>6</c:v>
                  </c:pt>
                  <c:pt idx="150">
                    <c:v>7</c:v>
                  </c:pt>
                  <c:pt idx="151">
                    <c:v>8</c:v>
                  </c:pt>
                  <c:pt idx="152">
                    <c:v>9</c:v>
                  </c:pt>
                  <c:pt idx="153">
                    <c:v>10</c:v>
                  </c:pt>
                  <c:pt idx="154">
                    <c:v>11</c:v>
                  </c:pt>
                  <c:pt idx="155">
                    <c:v>12</c:v>
                  </c:pt>
                  <c:pt idx="156">
                    <c:v>1</c:v>
                  </c:pt>
                  <c:pt idx="157">
                    <c:v>2</c:v>
                  </c:pt>
                  <c:pt idx="158">
                    <c:v>3</c:v>
                  </c:pt>
                  <c:pt idx="159">
                    <c:v>4</c:v>
                  </c:pt>
                  <c:pt idx="160">
                    <c:v>5</c:v>
                  </c:pt>
                  <c:pt idx="161">
                    <c:v>6</c:v>
                  </c:pt>
                  <c:pt idx="162">
                    <c:v>7</c:v>
                  </c:pt>
                  <c:pt idx="163">
                    <c:v>8</c:v>
                  </c:pt>
                  <c:pt idx="164">
                    <c:v>9</c:v>
                  </c:pt>
                  <c:pt idx="165">
                    <c:v>10</c:v>
                  </c:pt>
                  <c:pt idx="166">
                    <c:v>11</c:v>
                  </c:pt>
                  <c:pt idx="167">
                    <c:v>12</c:v>
                  </c:pt>
                  <c:pt idx="168">
                    <c:v>1</c:v>
                  </c:pt>
                  <c:pt idx="169">
                    <c:v>2</c:v>
                  </c:pt>
                  <c:pt idx="170">
                    <c:v>3</c:v>
                  </c:pt>
                  <c:pt idx="171">
                    <c:v>4</c:v>
                  </c:pt>
                  <c:pt idx="172">
                    <c:v>5</c:v>
                  </c:pt>
                  <c:pt idx="173">
                    <c:v>6</c:v>
                  </c:pt>
                  <c:pt idx="174">
                    <c:v>7</c:v>
                  </c:pt>
                  <c:pt idx="175">
                    <c:v>8</c:v>
                  </c:pt>
                  <c:pt idx="176">
                    <c:v>9</c:v>
                  </c:pt>
                  <c:pt idx="177">
                    <c:v>10</c:v>
                  </c:pt>
                  <c:pt idx="178">
                    <c:v>11</c:v>
                  </c:pt>
                  <c:pt idx="179">
                    <c:v>12</c:v>
                  </c:pt>
                  <c:pt idx="180">
                    <c:v>1</c:v>
                  </c:pt>
                  <c:pt idx="181">
                    <c:v>2</c:v>
                  </c:pt>
                  <c:pt idx="182">
                    <c:v>3</c:v>
                  </c:pt>
                  <c:pt idx="183">
                    <c:v>4</c:v>
                  </c:pt>
                  <c:pt idx="184">
                    <c:v>5</c:v>
                  </c:pt>
                  <c:pt idx="185">
                    <c:v>6</c:v>
                  </c:pt>
                  <c:pt idx="186">
                    <c:v>7</c:v>
                  </c:pt>
                  <c:pt idx="187">
                    <c:v>8</c:v>
                  </c:pt>
                  <c:pt idx="188">
                    <c:v>9</c:v>
                  </c:pt>
                  <c:pt idx="189">
                    <c:v>10</c:v>
                  </c:pt>
                  <c:pt idx="190">
                    <c:v>11</c:v>
                  </c:pt>
                  <c:pt idx="191">
                    <c:v>12</c:v>
                  </c:pt>
                  <c:pt idx="192">
                    <c:v>1</c:v>
                  </c:pt>
                  <c:pt idx="193">
                    <c:v>2</c:v>
                  </c:pt>
                  <c:pt idx="194">
                    <c:v>3</c:v>
                  </c:pt>
                  <c:pt idx="195">
                    <c:v>4</c:v>
                  </c:pt>
                  <c:pt idx="196">
                    <c:v>5</c:v>
                  </c:pt>
                  <c:pt idx="197">
                    <c:v>6</c:v>
                  </c:pt>
                  <c:pt idx="198">
                    <c:v>7</c:v>
                  </c:pt>
                  <c:pt idx="199">
                    <c:v>8</c:v>
                  </c:pt>
                  <c:pt idx="200">
                    <c:v>9</c:v>
                  </c:pt>
                  <c:pt idx="201">
                    <c:v>10</c:v>
                  </c:pt>
                  <c:pt idx="202">
                    <c:v>11</c:v>
                  </c:pt>
                  <c:pt idx="203">
                    <c:v>12</c:v>
                  </c:pt>
                  <c:pt idx="204">
                    <c:v>1</c:v>
                  </c:pt>
                  <c:pt idx="205">
                    <c:v>2</c:v>
                  </c:pt>
                  <c:pt idx="206">
                    <c:v>3</c:v>
                  </c:pt>
                  <c:pt idx="207">
                    <c:v>4</c:v>
                  </c:pt>
                  <c:pt idx="208">
                    <c:v>5</c:v>
                  </c:pt>
                  <c:pt idx="209">
                    <c:v>6</c:v>
                  </c:pt>
                  <c:pt idx="210">
                    <c:v>7</c:v>
                  </c:pt>
                  <c:pt idx="211">
                    <c:v>8</c:v>
                  </c:pt>
                  <c:pt idx="212">
                    <c:v>9</c:v>
                  </c:pt>
                  <c:pt idx="213">
                    <c:v>10</c:v>
                  </c:pt>
                  <c:pt idx="214">
                    <c:v>11</c:v>
                  </c:pt>
                  <c:pt idx="215">
                    <c:v>12</c:v>
                  </c:pt>
                  <c:pt idx="216">
                    <c:v>1</c:v>
                  </c:pt>
                  <c:pt idx="217">
                    <c:v>2</c:v>
                  </c:pt>
                  <c:pt idx="218">
                    <c:v>3</c:v>
                  </c:pt>
                  <c:pt idx="219">
                    <c:v>4</c:v>
                  </c:pt>
                  <c:pt idx="220">
                    <c:v>5</c:v>
                  </c:pt>
                  <c:pt idx="221">
                    <c:v>6</c:v>
                  </c:pt>
                  <c:pt idx="222">
                    <c:v>7</c:v>
                  </c:pt>
                  <c:pt idx="223">
                    <c:v>8</c:v>
                  </c:pt>
                  <c:pt idx="224">
                    <c:v>9</c:v>
                  </c:pt>
                  <c:pt idx="225">
                    <c:v>10</c:v>
                  </c:pt>
                  <c:pt idx="226">
                    <c:v>11</c:v>
                  </c:pt>
                  <c:pt idx="227">
                    <c:v>12</c:v>
                  </c:pt>
                  <c:pt idx="228">
                    <c:v>1</c:v>
                  </c:pt>
                  <c:pt idx="229">
                    <c:v>2</c:v>
                  </c:pt>
                  <c:pt idx="230">
                    <c:v>3</c:v>
                  </c:pt>
                  <c:pt idx="231">
                    <c:v>4</c:v>
                  </c:pt>
                  <c:pt idx="232">
                    <c:v>5</c:v>
                  </c:pt>
                  <c:pt idx="233">
                    <c:v>6</c:v>
                  </c:pt>
                  <c:pt idx="234">
                    <c:v>7</c:v>
                  </c:pt>
                  <c:pt idx="235">
                    <c:v>8</c:v>
                  </c:pt>
                  <c:pt idx="236">
                    <c:v>9</c:v>
                  </c:pt>
                  <c:pt idx="237">
                    <c:v>10</c:v>
                  </c:pt>
                  <c:pt idx="238">
                    <c:v>11</c:v>
                  </c:pt>
                  <c:pt idx="239">
                    <c:v>12</c:v>
                  </c:pt>
                  <c:pt idx="240">
                    <c:v>1</c:v>
                  </c:pt>
                  <c:pt idx="241">
                    <c:v>2</c:v>
                  </c:pt>
                  <c:pt idx="242">
                    <c:v>3</c:v>
                  </c:pt>
                  <c:pt idx="243">
                    <c:v>4</c:v>
                  </c:pt>
                  <c:pt idx="244">
                    <c:v>5</c:v>
                  </c:pt>
                  <c:pt idx="245">
                    <c:v>6</c:v>
                  </c:pt>
                  <c:pt idx="246">
                    <c:v>7</c:v>
                  </c:pt>
                  <c:pt idx="247">
                    <c:v>8</c:v>
                  </c:pt>
                  <c:pt idx="248">
                    <c:v>9</c:v>
                  </c:pt>
                  <c:pt idx="249">
                    <c:v>10</c:v>
                  </c:pt>
                  <c:pt idx="250">
                    <c:v>11</c:v>
                  </c:pt>
                  <c:pt idx="251">
                    <c:v>12</c:v>
                  </c:pt>
                  <c:pt idx="252">
                    <c:v>1</c:v>
                  </c:pt>
                  <c:pt idx="253">
                    <c:v>2</c:v>
                  </c:pt>
                  <c:pt idx="254">
                    <c:v>3</c:v>
                  </c:pt>
                  <c:pt idx="255">
                    <c:v>4</c:v>
                  </c:pt>
                  <c:pt idx="256">
                    <c:v>5</c:v>
                  </c:pt>
                  <c:pt idx="257">
                    <c:v>6</c:v>
                  </c:pt>
                  <c:pt idx="258">
                    <c:v>7</c:v>
                  </c:pt>
                  <c:pt idx="259">
                    <c:v>8</c:v>
                  </c:pt>
                  <c:pt idx="260">
                    <c:v>9</c:v>
                  </c:pt>
                  <c:pt idx="261">
                    <c:v>10</c:v>
                  </c:pt>
                  <c:pt idx="262">
                    <c:v>11</c:v>
                  </c:pt>
                  <c:pt idx="263">
                    <c:v>12</c:v>
                  </c:pt>
                  <c:pt idx="264">
                    <c:v>1</c:v>
                  </c:pt>
                  <c:pt idx="265">
                    <c:v>2</c:v>
                  </c:pt>
                  <c:pt idx="266">
                    <c:v>3</c:v>
                  </c:pt>
                  <c:pt idx="267">
                    <c:v>4</c:v>
                  </c:pt>
                  <c:pt idx="268">
                    <c:v>5</c:v>
                  </c:pt>
                  <c:pt idx="269">
                    <c:v>6</c:v>
                  </c:pt>
                  <c:pt idx="270">
                    <c:v>7</c:v>
                  </c:pt>
                  <c:pt idx="271">
                    <c:v>8</c:v>
                  </c:pt>
                  <c:pt idx="272">
                    <c:v>9</c:v>
                  </c:pt>
                  <c:pt idx="273">
                    <c:v>10</c:v>
                  </c:pt>
                  <c:pt idx="274">
                    <c:v>11</c:v>
                  </c:pt>
                  <c:pt idx="275">
                    <c:v>12</c:v>
                  </c:pt>
                  <c:pt idx="276">
                    <c:v>1</c:v>
                  </c:pt>
                  <c:pt idx="277">
                    <c:v>2</c:v>
                  </c:pt>
                  <c:pt idx="278">
                    <c:v>3</c:v>
                  </c:pt>
                  <c:pt idx="279">
                    <c:v>4</c:v>
                  </c:pt>
                  <c:pt idx="280">
                    <c:v>5</c:v>
                  </c:pt>
                  <c:pt idx="281">
                    <c:v>6</c:v>
                  </c:pt>
                  <c:pt idx="282">
                    <c:v>7</c:v>
                  </c:pt>
                  <c:pt idx="283">
                    <c:v>8</c:v>
                  </c:pt>
                  <c:pt idx="284">
                    <c:v>9</c:v>
                  </c:pt>
                  <c:pt idx="285">
                    <c:v>10</c:v>
                  </c:pt>
                  <c:pt idx="286">
                    <c:v>11</c:v>
                  </c:pt>
                  <c:pt idx="287">
                    <c:v>12</c:v>
                  </c:pt>
                  <c:pt idx="288">
                    <c:v>1</c:v>
                  </c:pt>
                  <c:pt idx="289">
                    <c:v>2</c:v>
                  </c:pt>
                  <c:pt idx="290">
                    <c:v>3</c:v>
                  </c:pt>
                  <c:pt idx="291">
                    <c:v>4</c:v>
                  </c:pt>
                  <c:pt idx="292">
                    <c:v>5</c:v>
                  </c:pt>
                  <c:pt idx="293">
                    <c:v>6</c:v>
                  </c:pt>
                  <c:pt idx="294">
                    <c:v>7</c:v>
                  </c:pt>
                  <c:pt idx="295">
                    <c:v>8</c:v>
                  </c:pt>
                  <c:pt idx="296">
                    <c:v>9</c:v>
                  </c:pt>
                  <c:pt idx="297">
                    <c:v>10</c:v>
                  </c:pt>
                  <c:pt idx="298">
                    <c:v>11</c:v>
                  </c:pt>
                  <c:pt idx="299">
                    <c:v>12</c:v>
                  </c:pt>
                  <c:pt idx="300">
                    <c:v>1</c:v>
                  </c:pt>
                  <c:pt idx="301">
                    <c:v>2</c:v>
                  </c:pt>
                  <c:pt idx="302">
                    <c:v>3</c:v>
                  </c:pt>
                  <c:pt idx="303">
                    <c:v>4</c:v>
                  </c:pt>
                  <c:pt idx="304">
                    <c:v>5</c:v>
                  </c:pt>
                  <c:pt idx="305">
                    <c:v>6</c:v>
                  </c:pt>
                  <c:pt idx="306">
                    <c:v>7</c:v>
                  </c:pt>
                  <c:pt idx="307">
                    <c:v>8</c:v>
                  </c:pt>
                  <c:pt idx="308">
                    <c:v>9</c:v>
                  </c:pt>
                  <c:pt idx="309">
                    <c:v>10</c:v>
                  </c:pt>
                  <c:pt idx="310">
                    <c:v>11</c:v>
                  </c:pt>
                  <c:pt idx="311">
                    <c:v>12</c:v>
                  </c:pt>
                  <c:pt idx="312">
                    <c:v>1</c:v>
                  </c:pt>
                  <c:pt idx="313">
                    <c:v>2</c:v>
                  </c:pt>
                  <c:pt idx="314">
                    <c:v>3</c:v>
                  </c:pt>
                  <c:pt idx="315">
                    <c:v>4</c:v>
                  </c:pt>
                  <c:pt idx="316">
                    <c:v>5</c:v>
                  </c:pt>
                  <c:pt idx="317">
                    <c:v>6</c:v>
                  </c:pt>
                  <c:pt idx="318">
                    <c:v>7</c:v>
                  </c:pt>
                  <c:pt idx="319">
                    <c:v>8</c:v>
                  </c:pt>
                  <c:pt idx="320">
                    <c:v>9</c:v>
                  </c:pt>
                  <c:pt idx="321">
                    <c:v>10</c:v>
                  </c:pt>
                  <c:pt idx="322">
                    <c:v>11</c:v>
                  </c:pt>
                  <c:pt idx="323">
                    <c:v>12</c:v>
                  </c:pt>
                  <c:pt idx="324">
                    <c:v>1</c:v>
                  </c:pt>
                  <c:pt idx="325">
                    <c:v>2</c:v>
                  </c:pt>
                  <c:pt idx="326">
                    <c:v>3</c:v>
                  </c:pt>
                  <c:pt idx="327">
                    <c:v>4</c:v>
                  </c:pt>
                  <c:pt idx="328">
                    <c:v>5</c:v>
                  </c:pt>
                  <c:pt idx="329">
                    <c:v>6</c:v>
                  </c:pt>
                  <c:pt idx="330">
                    <c:v>7</c:v>
                  </c:pt>
                  <c:pt idx="331">
                    <c:v>8</c:v>
                  </c:pt>
                  <c:pt idx="332">
                    <c:v>9</c:v>
                  </c:pt>
                  <c:pt idx="333">
                    <c:v>10</c:v>
                  </c:pt>
                  <c:pt idx="334">
                    <c:v>11</c:v>
                  </c:pt>
                  <c:pt idx="335">
                    <c:v>12</c:v>
                  </c:pt>
                  <c:pt idx="336">
                    <c:v>1</c:v>
                  </c:pt>
                  <c:pt idx="337">
                    <c:v>2</c:v>
                  </c:pt>
                  <c:pt idx="338">
                    <c:v>3</c:v>
                  </c:pt>
                  <c:pt idx="339">
                    <c:v>4</c:v>
                  </c:pt>
                  <c:pt idx="340">
                    <c:v>5</c:v>
                  </c:pt>
                  <c:pt idx="341">
                    <c:v>6</c:v>
                  </c:pt>
                  <c:pt idx="342">
                    <c:v>7</c:v>
                  </c:pt>
                  <c:pt idx="343">
                    <c:v>8</c:v>
                  </c:pt>
                  <c:pt idx="344">
                    <c:v>9</c:v>
                  </c:pt>
                  <c:pt idx="345">
                    <c:v>10</c:v>
                  </c:pt>
                  <c:pt idx="346">
                    <c:v>11</c:v>
                  </c:pt>
                  <c:pt idx="347">
                    <c:v>12</c:v>
                  </c:pt>
                  <c:pt idx="348">
                    <c:v>1</c:v>
                  </c:pt>
                  <c:pt idx="349">
                    <c:v>2</c:v>
                  </c:pt>
                  <c:pt idx="350">
                    <c:v>3</c:v>
                  </c:pt>
                  <c:pt idx="351">
                    <c:v>4</c:v>
                  </c:pt>
                  <c:pt idx="352">
                    <c:v>5</c:v>
                  </c:pt>
                  <c:pt idx="353">
                    <c:v>6</c:v>
                  </c:pt>
                  <c:pt idx="354">
                    <c:v>7</c:v>
                  </c:pt>
                  <c:pt idx="355">
                    <c:v>8</c:v>
                  </c:pt>
                  <c:pt idx="356">
                    <c:v>9</c:v>
                  </c:pt>
                  <c:pt idx="357">
                    <c:v>10</c:v>
                  </c:pt>
                  <c:pt idx="358">
                    <c:v>11</c:v>
                  </c:pt>
                  <c:pt idx="359">
                    <c:v>12</c:v>
                  </c:pt>
                  <c:pt idx="360">
                    <c:v>1</c:v>
                  </c:pt>
                  <c:pt idx="361">
                    <c:v>2</c:v>
                  </c:pt>
                  <c:pt idx="362">
                    <c:v>3</c:v>
                  </c:pt>
                  <c:pt idx="363">
                    <c:v>4</c:v>
                  </c:pt>
                  <c:pt idx="364">
                    <c:v>5</c:v>
                  </c:pt>
                  <c:pt idx="365">
                    <c:v>6</c:v>
                  </c:pt>
                  <c:pt idx="366">
                    <c:v>7</c:v>
                  </c:pt>
                  <c:pt idx="367">
                    <c:v>8</c:v>
                  </c:pt>
                  <c:pt idx="368">
                    <c:v>9</c:v>
                  </c:pt>
                  <c:pt idx="369">
                    <c:v>10</c:v>
                  </c:pt>
                  <c:pt idx="370">
                    <c:v>11</c:v>
                  </c:pt>
                  <c:pt idx="371">
                    <c:v>12</c:v>
                  </c:pt>
                  <c:pt idx="372">
                    <c:v>1</c:v>
                  </c:pt>
                  <c:pt idx="373">
                    <c:v>2</c:v>
                  </c:pt>
                  <c:pt idx="374">
                    <c:v>3</c:v>
                  </c:pt>
                  <c:pt idx="375">
                    <c:v>4</c:v>
                  </c:pt>
                  <c:pt idx="376">
                    <c:v>5</c:v>
                  </c:pt>
                  <c:pt idx="377">
                    <c:v>6</c:v>
                  </c:pt>
                  <c:pt idx="378">
                    <c:v>7</c:v>
                  </c:pt>
                  <c:pt idx="379">
                    <c:v>8</c:v>
                  </c:pt>
                  <c:pt idx="380">
                    <c:v>9</c:v>
                  </c:pt>
                  <c:pt idx="381">
                    <c:v>10</c:v>
                  </c:pt>
                  <c:pt idx="382">
                    <c:v>11</c:v>
                  </c:pt>
                  <c:pt idx="383">
                    <c:v>12</c:v>
                  </c:pt>
                  <c:pt idx="384">
                    <c:v>1</c:v>
                  </c:pt>
                  <c:pt idx="385">
                    <c:v>2</c:v>
                  </c:pt>
                  <c:pt idx="386">
                    <c:v>3</c:v>
                  </c:pt>
                  <c:pt idx="387">
                    <c:v>4</c:v>
                  </c:pt>
                  <c:pt idx="388">
                    <c:v>5</c:v>
                  </c:pt>
                  <c:pt idx="389">
                    <c:v>6</c:v>
                  </c:pt>
                  <c:pt idx="390">
                    <c:v>7</c:v>
                  </c:pt>
                  <c:pt idx="391">
                    <c:v>8</c:v>
                  </c:pt>
                  <c:pt idx="392">
                    <c:v>9</c:v>
                  </c:pt>
                  <c:pt idx="393">
                    <c:v>10</c:v>
                  </c:pt>
                  <c:pt idx="394">
                    <c:v>11</c:v>
                  </c:pt>
                  <c:pt idx="395">
                    <c:v>12</c:v>
                  </c:pt>
                  <c:pt idx="396">
                    <c:v>1</c:v>
                  </c:pt>
                  <c:pt idx="397">
                    <c:v>2</c:v>
                  </c:pt>
                  <c:pt idx="398">
                    <c:v>3</c:v>
                  </c:pt>
                  <c:pt idx="399">
                    <c:v>4</c:v>
                  </c:pt>
                  <c:pt idx="400">
                    <c:v>5</c:v>
                  </c:pt>
                  <c:pt idx="401">
                    <c:v>6</c:v>
                  </c:pt>
                  <c:pt idx="402">
                    <c:v>7</c:v>
                  </c:pt>
                  <c:pt idx="403">
                    <c:v>8</c:v>
                  </c:pt>
                  <c:pt idx="404">
                    <c:v>9</c:v>
                  </c:pt>
                  <c:pt idx="405">
                    <c:v>10</c:v>
                  </c:pt>
                  <c:pt idx="406">
                    <c:v>11</c:v>
                  </c:pt>
                  <c:pt idx="407">
                    <c:v>12</c:v>
                  </c:pt>
                  <c:pt idx="408">
                    <c:v>1</c:v>
                  </c:pt>
                  <c:pt idx="409">
                    <c:v>2</c:v>
                  </c:pt>
                  <c:pt idx="410">
                    <c:v>3</c:v>
                  </c:pt>
                  <c:pt idx="411">
                    <c:v>4</c:v>
                  </c:pt>
                  <c:pt idx="412">
                    <c:v>5</c:v>
                  </c:pt>
                  <c:pt idx="413">
                    <c:v>6</c:v>
                  </c:pt>
                  <c:pt idx="414">
                    <c:v>7</c:v>
                  </c:pt>
                  <c:pt idx="415">
                    <c:v>8</c:v>
                  </c:pt>
                  <c:pt idx="416">
                    <c:v>9</c:v>
                  </c:pt>
                  <c:pt idx="417">
                    <c:v>10</c:v>
                  </c:pt>
                  <c:pt idx="418">
                    <c:v>11</c:v>
                  </c:pt>
                  <c:pt idx="419">
                    <c:v>12</c:v>
                  </c:pt>
                  <c:pt idx="420">
                    <c:v>1</c:v>
                  </c:pt>
                  <c:pt idx="421">
                    <c:v>2</c:v>
                  </c:pt>
                  <c:pt idx="422">
                    <c:v>3</c:v>
                  </c:pt>
                  <c:pt idx="423">
                    <c:v>4</c:v>
                  </c:pt>
                </c:lvl>
              </c:multiLvlStrCache>
            </c:multiLvlStrRef>
          </c:cat>
          <c:val>
            <c:numRef>
              <c:f>Final!$E$2:$E$433</c:f>
              <c:numCache>
                <c:formatCode>General</c:formatCode>
                <c:ptCount val="432"/>
                <c:pt idx="0">
                  <c:v>0</c:v>
                </c:pt>
                <c:pt idx="1">
                  <c:v>0</c:v>
                </c:pt>
                <c:pt idx="2">
                  <c:v>0</c:v>
                </c:pt>
                <c:pt idx="3">
                  <c:v>0</c:v>
                </c:pt>
                <c:pt idx="4">
                  <c:v>0</c:v>
                </c:pt>
                <c:pt idx="5">
                  <c:v>0</c:v>
                </c:pt>
                <c:pt idx="6">
                  <c:v>0</c:v>
                </c:pt>
                <c:pt idx="7">
                  <c:v>0</c:v>
                </c:pt>
                <c:pt idx="8">
                  <c:v>0</c:v>
                </c:pt>
                <c:pt idx="9">
                  <c:v>0</c:v>
                </c:pt>
                <c:pt idx="10">
                  <c:v>0</c:v>
                </c:pt>
                <c:pt idx="11">
                  <c:v>0.1643</c:v>
                </c:pt>
                <c:pt idx="12">
                  <c:v>0.1643</c:v>
                </c:pt>
                <c:pt idx="13">
                  <c:v>0.1643</c:v>
                </c:pt>
                <c:pt idx="14">
                  <c:v>0.1643</c:v>
                </c:pt>
                <c:pt idx="15">
                  <c:v>1.2528999999999999</c:v>
                </c:pt>
                <c:pt idx="16">
                  <c:v>1.2528999999999999</c:v>
                </c:pt>
                <c:pt idx="17">
                  <c:v>1.2528999999999999</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0.1457</c:v>
                </c:pt>
                <c:pt idx="37">
                  <c:v>0.94569999999999999</c:v>
                </c:pt>
                <c:pt idx="38">
                  <c:v>1.27</c:v>
                </c:pt>
                <c:pt idx="39">
                  <c:v>1.27</c:v>
                </c:pt>
                <c:pt idx="40">
                  <c:v>1.1243000000000001</c:v>
                </c:pt>
                <c:pt idx="41">
                  <c:v>0.17710000000000001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1.2914000000000001</c:v>
                </c:pt>
                <c:pt idx="73">
                  <c:v>2.0099999999999998</c:v>
                </c:pt>
                <c:pt idx="74">
                  <c:v>2.3043</c:v>
                </c:pt>
                <c:pt idx="75">
                  <c:v>2.6156999999999999</c:v>
                </c:pt>
                <c:pt idx="76">
                  <c:v>3.97</c:v>
                </c:pt>
                <c:pt idx="77">
                  <c:v>3.97</c:v>
                </c:pt>
                <c:pt idx="78">
                  <c:v>3.8329</c:v>
                </c:pt>
                <c:pt idx="79">
                  <c:v>1.8886000000000001</c:v>
                </c:pt>
                <c:pt idx="80">
                  <c:v>0.15709999999999999</c:v>
                </c:pt>
                <c:pt idx="81">
                  <c:v>0</c:v>
                </c:pt>
                <c:pt idx="82">
                  <c:v>0</c:v>
                </c:pt>
                <c:pt idx="83">
                  <c:v>0</c:v>
                </c:pt>
                <c:pt idx="84">
                  <c:v>0</c:v>
                </c:pt>
                <c:pt idx="85">
                  <c:v>0.14710000000000001</c:v>
                </c:pt>
                <c:pt idx="86">
                  <c:v>0.30859999999999999</c:v>
                </c:pt>
                <c:pt idx="87">
                  <c:v>0.47139999999999999</c:v>
                </c:pt>
                <c:pt idx="88">
                  <c:v>0.63570000000000004</c:v>
                </c:pt>
                <c:pt idx="89">
                  <c:v>0.63570000000000004</c:v>
                </c:pt>
                <c:pt idx="90">
                  <c:v>0.4743</c:v>
                </c:pt>
                <c:pt idx="91">
                  <c:v>0.31140000000000001</c:v>
                </c:pt>
                <c:pt idx="92">
                  <c:v>0</c:v>
                </c:pt>
                <c:pt idx="93">
                  <c:v>0</c:v>
                </c:pt>
                <c:pt idx="94">
                  <c:v>0</c:v>
                </c:pt>
                <c:pt idx="95">
                  <c:v>0</c:v>
                </c:pt>
                <c:pt idx="96">
                  <c:v>0.4471</c:v>
                </c:pt>
                <c:pt idx="97">
                  <c:v>1.4814000000000001</c:v>
                </c:pt>
                <c:pt idx="98">
                  <c:v>2.2528999999999999</c:v>
                </c:pt>
                <c:pt idx="99">
                  <c:v>2.3957000000000002</c:v>
                </c:pt>
                <c:pt idx="100">
                  <c:v>3.0470999999999999</c:v>
                </c:pt>
                <c:pt idx="101">
                  <c:v>2.0129000000000001</c:v>
                </c:pt>
                <c:pt idx="102">
                  <c:v>1.0986</c:v>
                </c:pt>
                <c:pt idx="103">
                  <c:v>0</c:v>
                </c:pt>
                <c:pt idx="104">
                  <c:v>0</c:v>
                </c:pt>
                <c:pt idx="105">
                  <c:v>0</c:v>
                </c:pt>
                <c:pt idx="106">
                  <c:v>0</c:v>
                </c:pt>
                <c:pt idx="107">
                  <c:v>0.16289999999999999</c:v>
                </c:pt>
                <c:pt idx="108">
                  <c:v>1.1456999999999999</c:v>
                </c:pt>
                <c:pt idx="109">
                  <c:v>3.2942999999999998</c:v>
                </c:pt>
                <c:pt idx="110">
                  <c:v>7.2870999999999997</c:v>
                </c:pt>
                <c:pt idx="111">
                  <c:v>8.6128999999999998</c:v>
                </c:pt>
                <c:pt idx="112">
                  <c:v>8.44</c:v>
                </c:pt>
                <c:pt idx="113">
                  <c:v>4.9828999999999999</c:v>
                </c:pt>
                <c:pt idx="114">
                  <c:v>1.4071</c:v>
                </c:pt>
                <c:pt idx="115">
                  <c:v>0</c:v>
                </c:pt>
                <c:pt idx="116">
                  <c:v>0</c:v>
                </c:pt>
                <c:pt idx="117">
                  <c:v>0</c:v>
                </c:pt>
                <c:pt idx="118">
                  <c:v>0</c:v>
                </c:pt>
                <c:pt idx="119">
                  <c:v>0</c:v>
                </c:pt>
                <c:pt idx="120">
                  <c:v>0</c:v>
                </c:pt>
                <c:pt idx="121">
                  <c:v>1.8871</c:v>
                </c:pt>
                <c:pt idx="122">
                  <c:v>2.5813999999999999</c:v>
                </c:pt>
                <c:pt idx="123">
                  <c:v>3.1657000000000002</c:v>
                </c:pt>
                <c:pt idx="124">
                  <c:v>3.3914</c:v>
                </c:pt>
                <c:pt idx="125">
                  <c:v>2.8856999999999999</c:v>
                </c:pt>
                <c:pt idx="126">
                  <c:v>1.9029</c:v>
                </c:pt>
                <c:pt idx="127">
                  <c:v>0.14860000000000001</c:v>
                </c:pt>
                <c:pt idx="128">
                  <c:v>0</c:v>
                </c:pt>
                <c:pt idx="129">
                  <c:v>0</c:v>
                </c:pt>
                <c:pt idx="130">
                  <c:v>0</c:v>
                </c:pt>
                <c:pt idx="131">
                  <c:v>0</c:v>
                </c:pt>
                <c:pt idx="132">
                  <c:v>0</c:v>
                </c:pt>
                <c:pt idx="133">
                  <c:v>0</c:v>
                </c:pt>
                <c:pt idx="134">
                  <c:v>0.60289999999999999</c:v>
                </c:pt>
                <c:pt idx="135">
                  <c:v>0.60289999999999999</c:v>
                </c:pt>
                <c:pt idx="136">
                  <c:v>0.60289999999999999</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0.31430000000000002</c:v>
                </c:pt>
                <c:pt idx="168">
                  <c:v>0.31430000000000002</c:v>
                </c:pt>
                <c:pt idx="169">
                  <c:v>0.31430000000000002</c:v>
                </c:pt>
                <c:pt idx="170">
                  <c:v>0.28999999999999998</c:v>
                </c:pt>
                <c:pt idx="171">
                  <c:v>0.28999999999999998</c:v>
                </c:pt>
                <c:pt idx="172">
                  <c:v>0.28999999999999998</c:v>
                </c:pt>
                <c:pt idx="173">
                  <c:v>0.28999999999999998</c:v>
                </c:pt>
                <c:pt idx="174">
                  <c:v>0</c:v>
                </c:pt>
                <c:pt idx="175">
                  <c:v>0</c:v>
                </c:pt>
                <c:pt idx="176">
                  <c:v>0</c:v>
                </c:pt>
                <c:pt idx="177">
                  <c:v>0</c:v>
                </c:pt>
                <c:pt idx="178">
                  <c:v>0</c:v>
                </c:pt>
                <c:pt idx="179">
                  <c:v>0.14430000000000001</c:v>
                </c:pt>
                <c:pt idx="180">
                  <c:v>0.14430000000000001</c:v>
                </c:pt>
                <c:pt idx="181">
                  <c:v>0.14430000000000001</c:v>
                </c:pt>
                <c:pt idx="182">
                  <c:v>0.14430000000000001</c:v>
                </c:pt>
                <c:pt idx="183">
                  <c:v>0</c:v>
                </c:pt>
                <c:pt idx="184">
                  <c:v>0</c:v>
                </c:pt>
                <c:pt idx="185">
                  <c:v>0</c:v>
                </c:pt>
                <c:pt idx="186">
                  <c:v>0</c:v>
                </c:pt>
                <c:pt idx="187">
                  <c:v>0</c:v>
                </c:pt>
                <c:pt idx="188">
                  <c:v>0</c:v>
                </c:pt>
                <c:pt idx="189">
                  <c:v>0</c:v>
                </c:pt>
                <c:pt idx="190">
                  <c:v>0</c:v>
                </c:pt>
                <c:pt idx="191">
                  <c:v>0.1686</c:v>
                </c:pt>
                <c:pt idx="192">
                  <c:v>1.21</c:v>
                </c:pt>
                <c:pt idx="193">
                  <c:v>2.0442999999999998</c:v>
                </c:pt>
                <c:pt idx="194">
                  <c:v>2.4943</c:v>
                </c:pt>
                <c:pt idx="195">
                  <c:v>3.4514</c:v>
                </c:pt>
                <c:pt idx="196">
                  <c:v>2.5556999999999999</c:v>
                </c:pt>
                <c:pt idx="197">
                  <c:v>1.8814</c:v>
                </c:pt>
                <c:pt idx="198">
                  <c:v>0.29430000000000001</c:v>
                </c:pt>
                <c:pt idx="199">
                  <c:v>0</c:v>
                </c:pt>
                <c:pt idx="200">
                  <c:v>0</c:v>
                </c:pt>
                <c:pt idx="201">
                  <c:v>0</c:v>
                </c:pt>
                <c:pt idx="202">
                  <c:v>0</c:v>
                </c:pt>
                <c:pt idx="203">
                  <c:v>0.15429999999999999</c:v>
                </c:pt>
                <c:pt idx="204">
                  <c:v>0.46429999999999999</c:v>
                </c:pt>
                <c:pt idx="205">
                  <c:v>1.7014</c:v>
                </c:pt>
                <c:pt idx="206">
                  <c:v>4.1285999999999996</c:v>
                </c:pt>
                <c:pt idx="207">
                  <c:v>4.9157000000000002</c:v>
                </c:pt>
                <c:pt idx="208">
                  <c:v>4.7370999999999999</c:v>
                </c:pt>
                <c:pt idx="209">
                  <c:v>3.2286000000000001</c:v>
                </c:pt>
                <c:pt idx="210">
                  <c:v>1.0813999999999999</c:v>
                </c:pt>
                <c:pt idx="211">
                  <c:v>0</c:v>
                </c:pt>
                <c:pt idx="212">
                  <c:v>0</c:v>
                </c:pt>
                <c:pt idx="213">
                  <c:v>0</c:v>
                </c:pt>
                <c:pt idx="214">
                  <c:v>0.50570000000000004</c:v>
                </c:pt>
                <c:pt idx="215">
                  <c:v>0.6643</c:v>
                </c:pt>
                <c:pt idx="216">
                  <c:v>2.2042999999999999</c:v>
                </c:pt>
                <c:pt idx="217">
                  <c:v>4.0114000000000001</c:v>
                </c:pt>
                <c:pt idx="218">
                  <c:v>8.7986000000000004</c:v>
                </c:pt>
                <c:pt idx="219">
                  <c:v>10.0586</c:v>
                </c:pt>
                <c:pt idx="220">
                  <c:v>9.5328999999999997</c:v>
                </c:pt>
                <c:pt idx="221">
                  <c:v>6.4856999999999996</c:v>
                </c:pt>
                <c:pt idx="222">
                  <c:v>1.0386</c:v>
                </c:pt>
                <c:pt idx="223">
                  <c:v>0</c:v>
                </c:pt>
                <c:pt idx="224">
                  <c:v>0</c:v>
                </c:pt>
                <c:pt idx="225">
                  <c:v>0</c:v>
                </c:pt>
                <c:pt idx="226">
                  <c:v>0</c:v>
                </c:pt>
                <c:pt idx="227">
                  <c:v>0.1986</c:v>
                </c:pt>
                <c:pt idx="228">
                  <c:v>0.1986</c:v>
                </c:pt>
                <c:pt idx="229">
                  <c:v>0.34429999999999999</c:v>
                </c:pt>
                <c:pt idx="230">
                  <c:v>1.1456999999999999</c:v>
                </c:pt>
                <c:pt idx="231">
                  <c:v>1.3871</c:v>
                </c:pt>
                <c:pt idx="232">
                  <c:v>1.3871</c:v>
                </c:pt>
                <c:pt idx="233">
                  <c:v>0.44</c:v>
                </c:pt>
                <c:pt idx="234">
                  <c:v>0.28860000000000002</c:v>
                </c:pt>
                <c:pt idx="235">
                  <c:v>0</c:v>
                </c:pt>
                <c:pt idx="236">
                  <c:v>0</c:v>
                </c:pt>
                <c:pt idx="237">
                  <c:v>0</c:v>
                </c:pt>
                <c:pt idx="238">
                  <c:v>0.29570000000000002</c:v>
                </c:pt>
                <c:pt idx="239">
                  <c:v>0.29570000000000002</c:v>
                </c:pt>
                <c:pt idx="240">
                  <c:v>1.2329000000000001</c:v>
                </c:pt>
                <c:pt idx="241">
                  <c:v>3.2513999999999998</c:v>
                </c:pt>
                <c:pt idx="242">
                  <c:v>3.1086</c:v>
                </c:pt>
                <c:pt idx="243">
                  <c:v>3.1086</c:v>
                </c:pt>
                <c:pt idx="244">
                  <c:v>1.6771</c:v>
                </c:pt>
                <c:pt idx="245">
                  <c:v>0.3</c:v>
                </c:pt>
                <c:pt idx="246">
                  <c:v>0.14710000000000001</c:v>
                </c:pt>
                <c:pt idx="247">
                  <c:v>0</c:v>
                </c:pt>
                <c:pt idx="248">
                  <c:v>0</c:v>
                </c:pt>
                <c:pt idx="249">
                  <c:v>0</c:v>
                </c:pt>
                <c:pt idx="250">
                  <c:v>0.77</c:v>
                </c:pt>
                <c:pt idx="251">
                  <c:v>2.1328999999999998</c:v>
                </c:pt>
                <c:pt idx="252">
                  <c:v>2.1328999999999998</c:v>
                </c:pt>
                <c:pt idx="253">
                  <c:v>2.1328999999999998</c:v>
                </c:pt>
                <c:pt idx="254">
                  <c:v>0.74860000000000004</c:v>
                </c:pt>
                <c:pt idx="255">
                  <c:v>0.14430000000000001</c:v>
                </c:pt>
                <c:pt idx="256">
                  <c:v>0.14430000000000001</c:v>
                </c:pt>
                <c:pt idx="257">
                  <c:v>0.14430000000000001</c:v>
                </c:pt>
                <c:pt idx="258">
                  <c:v>0.14430000000000001</c:v>
                </c:pt>
                <c:pt idx="259">
                  <c:v>0</c:v>
                </c:pt>
                <c:pt idx="260">
                  <c:v>0</c:v>
                </c:pt>
                <c:pt idx="261">
                  <c:v>0</c:v>
                </c:pt>
                <c:pt idx="262">
                  <c:v>0</c:v>
                </c:pt>
                <c:pt idx="263">
                  <c:v>0.49430000000000002</c:v>
                </c:pt>
                <c:pt idx="264">
                  <c:v>0.65</c:v>
                </c:pt>
                <c:pt idx="265">
                  <c:v>2.1471</c:v>
                </c:pt>
                <c:pt idx="266">
                  <c:v>2.4386000000000001</c:v>
                </c:pt>
                <c:pt idx="267">
                  <c:v>4.0556999999999999</c:v>
                </c:pt>
                <c:pt idx="268">
                  <c:v>4.0556999999999999</c:v>
                </c:pt>
                <c:pt idx="269">
                  <c:v>2.41</c:v>
                </c:pt>
                <c:pt idx="270">
                  <c:v>2.1185999999999998</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2.9485999999999999</c:v>
                </c:pt>
                <c:pt idx="291">
                  <c:v>2.9485999999999999</c:v>
                </c:pt>
                <c:pt idx="292">
                  <c:v>2.9485999999999999</c:v>
                </c:pt>
                <c:pt idx="293">
                  <c:v>2.9485999999999999</c:v>
                </c:pt>
                <c:pt idx="294">
                  <c:v>0</c:v>
                </c:pt>
                <c:pt idx="295">
                  <c:v>0</c:v>
                </c:pt>
                <c:pt idx="296">
                  <c:v>0</c:v>
                </c:pt>
                <c:pt idx="297">
                  <c:v>0</c:v>
                </c:pt>
                <c:pt idx="298">
                  <c:v>0</c:v>
                </c:pt>
                <c:pt idx="299">
                  <c:v>0</c:v>
                </c:pt>
                <c:pt idx="300">
                  <c:v>1.0886</c:v>
                </c:pt>
                <c:pt idx="301">
                  <c:v>1.0886</c:v>
                </c:pt>
                <c:pt idx="302">
                  <c:v>2.6770999999999998</c:v>
                </c:pt>
                <c:pt idx="303">
                  <c:v>4.7070999999999996</c:v>
                </c:pt>
                <c:pt idx="304">
                  <c:v>4.5243000000000002</c:v>
                </c:pt>
                <c:pt idx="305">
                  <c:v>3.8871000000000002</c:v>
                </c:pt>
                <c:pt idx="306">
                  <c:v>1.5357000000000001</c:v>
                </c:pt>
                <c:pt idx="307">
                  <c:v>0.61429999999999996</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0.31290000000000001</c:v>
                </c:pt>
                <c:pt idx="336">
                  <c:v>0.31290000000000001</c:v>
                </c:pt>
                <c:pt idx="337">
                  <c:v>0.31290000000000001</c:v>
                </c:pt>
                <c:pt idx="338">
                  <c:v>0</c:v>
                </c:pt>
                <c:pt idx="339">
                  <c:v>1.8914</c:v>
                </c:pt>
                <c:pt idx="340">
                  <c:v>1.8914</c:v>
                </c:pt>
                <c:pt idx="341">
                  <c:v>1.8914</c:v>
                </c:pt>
                <c:pt idx="342">
                  <c:v>0.60709999999999997</c:v>
                </c:pt>
                <c:pt idx="343">
                  <c:v>0</c:v>
                </c:pt>
                <c:pt idx="344">
                  <c:v>0</c:v>
                </c:pt>
                <c:pt idx="345">
                  <c:v>0</c:v>
                </c:pt>
                <c:pt idx="346">
                  <c:v>0</c:v>
                </c:pt>
                <c:pt idx="347">
                  <c:v>0</c:v>
                </c:pt>
                <c:pt idx="348">
                  <c:v>0.15429999999999999</c:v>
                </c:pt>
                <c:pt idx="349">
                  <c:v>2.7928999999999999</c:v>
                </c:pt>
                <c:pt idx="350">
                  <c:v>4.34</c:v>
                </c:pt>
                <c:pt idx="351">
                  <c:v>4.6486000000000001</c:v>
                </c:pt>
                <c:pt idx="352">
                  <c:v>4.32</c:v>
                </c:pt>
                <c:pt idx="353">
                  <c:v>1.7042999999999999</c:v>
                </c:pt>
                <c:pt idx="354">
                  <c:v>0</c:v>
                </c:pt>
                <c:pt idx="355">
                  <c:v>0</c:v>
                </c:pt>
                <c:pt idx="356">
                  <c:v>0</c:v>
                </c:pt>
                <c:pt idx="357">
                  <c:v>0</c:v>
                </c:pt>
                <c:pt idx="358">
                  <c:v>0</c:v>
                </c:pt>
                <c:pt idx="359">
                  <c:v>0</c:v>
                </c:pt>
                <c:pt idx="360">
                  <c:v>3.1171000000000002</c:v>
                </c:pt>
                <c:pt idx="361">
                  <c:v>5.5757000000000003</c:v>
                </c:pt>
                <c:pt idx="362">
                  <c:v>11.198600000000001</c:v>
                </c:pt>
                <c:pt idx="363">
                  <c:v>12.0443</c:v>
                </c:pt>
                <c:pt idx="364">
                  <c:v>9.5</c:v>
                </c:pt>
                <c:pt idx="365">
                  <c:v>5.5956999999999999</c:v>
                </c:pt>
                <c:pt idx="366">
                  <c:v>0.74570000000000003</c:v>
                </c:pt>
                <c:pt idx="367">
                  <c:v>0</c:v>
                </c:pt>
                <c:pt idx="368">
                  <c:v>0</c:v>
                </c:pt>
                <c:pt idx="369">
                  <c:v>0</c:v>
                </c:pt>
                <c:pt idx="370">
                  <c:v>0</c:v>
                </c:pt>
                <c:pt idx="371">
                  <c:v>0</c:v>
                </c:pt>
                <c:pt idx="372">
                  <c:v>0</c:v>
                </c:pt>
                <c:pt idx="373">
                  <c:v>1.3013999999999999</c:v>
                </c:pt>
                <c:pt idx="374">
                  <c:v>4.3029000000000002</c:v>
                </c:pt>
                <c:pt idx="375">
                  <c:v>7.5143000000000004</c:v>
                </c:pt>
                <c:pt idx="376">
                  <c:v>7.5143000000000004</c:v>
                </c:pt>
                <c:pt idx="377">
                  <c:v>6.2129000000000003</c:v>
                </c:pt>
                <c:pt idx="378">
                  <c:v>1.5</c:v>
                </c:pt>
                <c:pt idx="379">
                  <c:v>0</c:v>
                </c:pt>
                <c:pt idx="380">
                  <c:v>0</c:v>
                </c:pt>
                <c:pt idx="381">
                  <c:v>0</c:v>
                </c:pt>
                <c:pt idx="382">
                  <c:v>0.15570000000000001</c:v>
                </c:pt>
                <c:pt idx="383">
                  <c:v>4.43</c:v>
                </c:pt>
                <c:pt idx="384">
                  <c:v>9.2286000000000001</c:v>
                </c:pt>
                <c:pt idx="385">
                  <c:v>12.1729</c:v>
                </c:pt>
                <c:pt idx="386">
                  <c:v>11.958600000000001</c:v>
                </c:pt>
                <c:pt idx="387">
                  <c:v>12.1357</c:v>
                </c:pt>
                <c:pt idx="388">
                  <c:v>9.5785999999999998</c:v>
                </c:pt>
                <c:pt idx="389">
                  <c:v>7.6814</c:v>
                </c:pt>
                <c:pt idx="390">
                  <c:v>3.4129</c:v>
                </c:pt>
                <c:pt idx="391">
                  <c:v>0</c:v>
                </c:pt>
                <c:pt idx="392">
                  <c:v>0</c:v>
                </c:pt>
                <c:pt idx="393">
                  <c:v>0</c:v>
                </c:pt>
                <c:pt idx="394">
                  <c:v>0</c:v>
                </c:pt>
                <c:pt idx="395">
                  <c:v>0</c:v>
                </c:pt>
                <c:pt idx="396">
                  <c:v>0.46860000000000002</c:v>
                </c:pt>
                <c:pt idx="397">
                  <c:v>0.46860000000000002</c:v>
                </c:pt>
                <c:pt idx="398">
                  <c:v>0.46860000000000002</c:v>
                </c:pt>
                <c:pt idx="399">
                  <c:v>0.1671</c:v>
                </c:pt>
                <c:pt idx="400">
                  <c:v>0</c:v>
                </c:pt>
                <c:pt idx="401">
                  <c:v>0</c:v>
                </c:pt>
                <c:pt idx="402">
                  <c:v>0</c:v>
                </c:pt>
                <c:pt idx="403">
                  <c:v>0</c:v>
                </c:pt>
                <c:pt idx="404">
                  <c:v>0</c:v>
                </c:pt>
                <c:pt idx="405">
                  <c:v>0</c:v>
                </c:pt>
                <c:pt idx="406">
                  <c:v>0</c:v>
                </c:pt>
                <c:pt idx="407">
                  <c:v>0</c:v>
                </c:pt>
                <c:pt idx="408">
                  <c:v>2.7543000000000002</c:v>
                </c:pt>
                <c:pt idx="409">
                  <c:v>6.2770999999999999</c:v>
                </c:pt>
                <c:pt idx="410">
                  <c:v>7.5086000000000004</c:v>
                </c:pt>
                <c:pt idx="411">
                  <c:v>9.2256999999999998</c:v>
                </c:pt>
                <c:pt idx="412">
                  <c:v>9.3114000000000008</c:v>
                </c:pt>
                <c:pt idx="413">
                  <c:v>7.7586000000000004</c:v>
                </c:pt>
                <c:pt idx="414">
                  <c:v>5.1100000000000003</c:v>
                </c:pt>
                <c:pt idx="415">
                  <c:v>0</c:v>
                </c:pt>
                <c:pt idx="416">
                  <c:v>0</c:v>
                </c:pt>
                <c:pt idx="417">
                  <c:v>0</c:v>
                </c:pt>
                <c:pt idx="418">
                  <c:v>0</c:v>
                </c:pt>
                <c:pt idx="419">
                  <c:v>0</c:v>
                </c:pt>
                <c:pt idx="420">
                  <c:v>0</c:v>
                </c:pt>
                <c:pt idx="421">
                  <c:v>0</c:v>
                </c:pt>
                <c:pt idx="422">
                  <c:v>2.38</c:v>
                </c:pt>
                <c:pt idx="423">
                  <c:v>3.7585999999999999</c:v>
                </c:pt>
                <c:pt idx="424">
                  <c:v>11.117100000000001</c:v>
                </c:pt>
                <c:pt idx="425">
                  <c:v>11.117100000000001</c:v>
                </c:pt>
                <c:pt idx="426">
                  <c:v>7.1414</c:v>
                </c:pt>
                <c:pt idx="427">
                  <c:v>2.4613999999999998</c:v>
                </c:pt>
              </c:numCache>
            </c:numRef>
          </c:val>
          <c:extLst>
            <c:ext xmlns:c16="http://schemas.microsoft.com/office/drawing/2014/chart" uri="{C3380CC4-5D6E-409C-BE32-E72D297353CC}">
              <c16:uniqueId val="{00000001-7D82-4116-ACD2-A2460439D5C7}"/>
            </c:ext>
          </c:extLst>
        </c:ser>
        <c:dLbls>
          <c:showLegendKey val="0"/>
          <c:showVal val="0"/>
          <c:showCatName val="0"/>
          <c:showSerName val="0"/>
          <c:showPercent val="0"/>
          <c:showBubbleSize val="0"/>
        </c:dLbls>
        <c:axId val="622074168"/>
        <c:axId val="622072200"/>
      </c:areaChart>
      <c:lineChart>
        <c:grouping val="standard"/>
        <c:varyColors val="0"/>
        <c:ser>
          <c:idx val="0"/>
          <c:order val="1"/>
          <c:tx>
            <c:strRef>
              <c:f>Final!$D$1</c:f>
              <c:strCache>
                <c:ptCount val="1"/>
                <c:pt idx="0">
                  <c:v>SST</c:v>
                </c:pt>
              </c:strCache>
            </c:strRef>
          </c:tx>
          <c:spPr>
            <a:ln w="25400" cap="rnd">
              <a:solidFill>
                <a:schemeClr val="tx1"/>
              </a:solidFill>
              <a:round/>
            </a:ln>
            <a:effectLst/>
          </c:spPr>
          <c:marker>
            <c:symbol val="none"/>
          </c:marker>
          <c:trendline>
            <c:spPr>
              <a:ln w="19050" cap="rnd">
                <a:solidFill>
                  <a:schemeClr val="bg1">
                    <a:lumMod val="50000"/>
                  </a:schemeClr>
                </a:solidFill>
                <a:prstDash val="sysDot"/>
              </a:ln>
              <a:effectLst/>
            </c:spPr>
            <c:trendlineType val="linear"/>
            <c:dispRSqr val="0"/>
            <c:dispEq val="0"/>
          </c:trendline>
          <c:cat>
            <c:numRef>
              <c:f>Final!$C$2:$C$425</c:f>
              <c:numCache>
                <c:formatCode>General</c:formatCode>
                <c:ptCount val="424"/>
                <c:pt idx="0">
                  <c:v>1985</c:v>
                </c:pt>
                <c:pt idx="12">
                  <c:v>1986</c:v>
                </c:pt>
                <c:pt idx="24">
                  <c:v>1987</c:v>
                </c:pt>
                <c:pt idx="36">
                  <c:v>1988</c:v>
                </c:pt>
                <c:pt idx="48">
                  <c:v>1989</c:v>
                </c:pt>
                <c:pt idx="60">
                  <c:v>1990</c:v>
                </c:pt>
                <c:pt idx="72">
                  <c:v>1991</c:v>
                </c:pt>
                <c:pt idx="84">
                  <c:v>1992</c:v>
                </c:pt>
                <c:pt idx="96">
                  <c:v>1993</c:v>
                </c:pt>
                <c:pt idx="108">
                  <c:v>1994</c:v>
                </c:pt>
                <c:pt idx="120">
                  <c:v>1995</c:v>
                </c:pt>
                <c:pt idx="132">
                  <c:v>1996</c:v>
                </c:pt>
                <c:pt idx="144">
                  <c:v>1997</c:v>
                </c:pt>
                <c:pt idx="156">
                  <c:v>1998</c:v>
                </c:pt>
                <c:pt idx="168">
                  <c:v>1999</c:v>
                </c:pt>
                <c:pt idx="180">
                  <c:v>2000</c:v>
                </c:pt>
                <c:pt idx="192">
                  <c:v>2001</c:v>
                </c:pt>
                <c:pt idx="204">
                  <c:v>2002</c:v>
                </c:pt>
                <c:pt idx="216">
                  <c:v>2003</c:v>
                </c:pt>
                <c:pt idx="228">
                  <c:v>2004</c:v>
                </c:pt>
                <c:pt idx="240">
                  <c:v>2005</c:v>
                </c:pt>
                <c:pt idx="252">
                  <c:v>2006</c:v>
                </c:pt>
                <c:pt idx="264">
                  <c:v>2007</c:v>
                </c:pt>
                <c:pt idx="276">
                  <c:v>2008</c:v>
                </c:pt>
                <c:pt idx="288">
                  <c:v>2009</c:v>
                </c:pt>
                <c:pt idx="300">
                  <c:v>2010</c:v>
                </c:pt>
                <c:pt idx="312">
                  <c:v>2011</c:v>
                </c:pt>
                <c:pt idx="324">
                  <c:v>2012</c:v>
                </c:pt>
                <c:pt idx="336">
                  <c:v>2013</c:v>
                </c:pt>
                <c:pt idx="348">
                  <c:v>2014</c:v>
                </c:pt>
                <c:pt idx="360">
                  <c:v>2015</c:v>
                </c:pt>
                <c:pt idx="372">
                  <c:v>2016</c:v>
                </c:pt>
                <c:pt idx="384">
                  <c:v>2017</c:v>
                </c:pt>
                <c:pt idx="396">
                  <c:v>2018</c:v>
                </c:pt>
                <c:pt idx="408">
                  <c:v>2019</c:v>
                </c:pt>
                <c:pt idx="420">
                  <c:v>2020</c:v>
                </c:pt>
              </c:numCache>
            </c:numRef>
          </c:cat>
          <c:val>
            <c:numRef>
              <c:f>Final!$D$2:$D$433</c:f>
              <c:numCache>
                <c:formatCode>General</c:formatCode>
                <c:ptCount val="432"/>
                <c:pt idx="0">
                  <c:v>28.516129032258064</c:v>
                </c:pt>
                <c:pt idx="1">
                  <c:v>28.51464285714286</c:v>
                </c:pt>
                <c:pt idx="2">
                  <c:v>28.989354838709676</c:v>
                </c:pt>
                <c:pt idx="3">
                  <c:v>29.105</c:v>
                </c:pt>
                <c:pt idx="4">
                  <c:v>28.381935483870969</c:v>
                </c:pt>
                <c:pt idx="5">
                  <c:v>28.42133333333334</c:v>
                </c:pt>
                <c:pt idx="6">
                  <c:v>27.925161290322581</c:v>
                </c:pt>
                <c:pt idx="7">
                  <c:v>27.401290322580646</c:v>
                </c:pt>
                <c:pt idx="8">
                  <c:v>27.321333333333335</c:v>
                </c:pt>
                <c:pt idx="9">
                  <c:v>28.250322580645165</c:v>
                </c:pt>
                <c:pt idx="10">
                  <c:v>28.108333333333331</c:v>
                </c:pt>
                <c:pt idx="11">
                  <c:v>29.249032258064513</c:v>
                </c:pt>
                <c:pt idx="12">
                  <c:v>29.018387096774195</c:v>
                </c:pt>
                <c:pt idx="13">
                  <c:v>29.101785714285711</c:v>
                </c:pt>
                <c:pt idx="14">
                  <c:v>29.249032258064513</c:v>
                </c:pt>
                <c:pt idx="15">
                  <c:v>29.410333333333334</c:v>
                </c:pt>
                <c:pt idx="16">
                  <c:v>28.627419354838715</c:v>
                </c:pt>
                <c:pt idx="17">
                  <c:v>28.606666666666666</c:v>
                </c:pt>
                <c:pt idx="18">
                  <c:v>27.969677419354841</c:v>
                </c:pt>
                <c:pt idx="19">
                  <c:v>27.172258064516129</c:v>
                </c:pt>
                <c:pt idx="20">
                  <c:v>27.832999999999995</c:v>
                </c:pt>
                <c:pt idx="21">
                  <c:v>28.076451612903231</c:v>
                </c:pt>
                <c:pt idx="22">
                  <c:v>28.811333333333319</c:v>
                </c:pt>
                <c:pt idx="23">
                  <c:v>28.923225806451608</c:v>
                </c:pt>
                <c:pt idx="24">
                  <c:v>29.072580645161292</c:v>
                </c:pt>
                <c:pt idx="25">
                  <c:v>29.264285714285712</c:v>
                </c:pt>
                <c:pt idx="26">
                  <c:v>29.138709677419353</c:v>
                </c:pt>
                <c:pt idx="27">
                  <c:v>28.587333333333333</c:v>
                </c:pt>
                <c:pt idx="28">
                  <c:v>28.240322580645167</c:v>
                </c:pt>
                <c:pt idx="29">
                  <c:v>27.622</c:v>
                </c:pt>
                <c:pt idx="30">
                  <c:v>27.061290322580639</c:v>
                </c:pt>
                <c:pt idx="31">
                  <c:v>26.907419354838709</c:v>
                </c:pt>
                <c:pt idx="32">
                  <c:v>26.967333333333332</c:v>
                </c:pt>
                <c:pt idx="33">
                  <c:v>27.372580645161293</c:v>
                </c:pt>
                <c:pt idx="34">
                  <c:v>28.019333333333329</c:v>
                </c:pt>
                <c:pt idx="35">
                  <c:v>28.696774193548389</c:v>
                </c:pt>
                <c:pt idx="36">
                  <c:v>29.301612903225802</c:v>
                </c:pt>
                <c:pt idx="37">
                  <c:v>29.635862068965519</c:v>
                </c:pt>
                <c:pt idx="38">
                  <c:v>29.395806451612913</c:v>
                </c:pt>
                <c:pt idx="39">
                  <c:v>29.176666666666677</c:v>
                </c:pt>
                <c:pt idx="40">
                  <c:v>29.050645161290316</c:v>
                </c:pt>
                <c:pt idx="41">
                  <c:v>28.622333333333334</c:v>
                </c:pt>
                <c:pt idx="42">
                  <c:v>27.775806451612901</c:v>
                </c:pt>
                <c:pt idx="43">
                  <c:v>27.466129032258067</c:v>
                </c:pt>
                <c:pt idx="44">
                  <c:v>27.57599999999999</c:v>
                </c:pt>
                <c:pt idx="45">
                  <c:v>28.210645161290319</c:v>
                </c:pt>
                <c:pt idx="46">
                  <c:v>28.290333333333329</c:v>
                </c:pt>
                <c:pt idx="47">
                  <c:v>28.349354838709683</c:v>
                </c:pt>
                <c:pt idx="48">
                  <c:v>28.503548387096771</c:v>
                </c:pt>
                <c:pt idx="49">
                  <c:v>28.546785714285715</c:v>
                </c:pt>
                <c:pt idx="50">
                  <c:v>28.519032258064513</c:v>
                </c:pt>
                <c:pt idx="51">
                  <c:v>28.753333333333334</c:v>
                </c:pt>
                <c:pt idx="52">
                  <c:v>28.513225806451612</c:v>
                </c:pt>
                <c:pt idx="53">
                  <c:v>27.996333333333329</c:v>
                </c:pt>
                <c:pt idx="54">
                  <c:v>27.595806451612901</c:v>
                </c:pt>
                <c:pt idx="55">
                  <c:v>27.692258064516121</c:v>
                </c:pt>
                <c:pt idx="56">
                  <c:v>27.881000000000004</c:v>
                </c:pt>
                <c:pt idx="57">
                  <c:v>28.11548387096774</c:v>
                </c:pt>
                <c:pt idx="58">
                  <c:v>28.574999999999992</c:v>
                </c:pt>
                <c:pt idx="59">
                  <c:v>28.88225806451613</c:v>
                </c:pt>
                <c:pt idx="60">
                  <c:v>28.93322580645161</c:v>
                </c:pt>
                <c:pt idx="61">
                  <c:v>28.403214285714288</c:v>
                </c:pt>
                <c:pt idx="62">
                  <c:v>28.678709677419352</c:v>
                </c:pt>
                <c:pt idx="63">
                  <c:v>28.902333333333338</c:v>
                </c:pt>
                <c:pt idx="64">
                  <c:v>28.758387096774189</c:v>
                </c:pt>
                <c:pt idx="65">
                  <c:v>28.275333333333332</c:v>
                </c:pt>
                <c:pt idx="66">
                  <c:v>28.10580645161291</c:v>
                </c:pt>
                <c:pt idx="67">
                  <c:v>27.912258064516131</c:v>
                </c:pt>
                <c:pt idx="68">
                  <c:v>27.975999999999996</c:v>
                </c:pt>
                <c:pt idx="69">
                  <c:v>28.788387096774191</c:v>
                </c:pt>
                <c:pt idx="70">
                  <c:v>28.98</c:v>
                </c:pt>
                <c:pt idx="71">
                  <c:v>28.9216129032258</c:v>
                </c:pt>
                <c:pt idx="72">
                  <c:v>29.27741935483871</c:v>
                </c:pt>
                <c:pt idx="73">
                  <c:v>29.479285714285716</c:v>
                </c:pt>
                <c:pt idx="74">
                  <c:v>29.464516129032262</c:v>
                </c:pt>
                <c:pt idx="75">
                  <c:v>29.633000000000003</c:v>
                </c:pt>
                <c:pt idx="76">
                  <c:v>29.895161290322573</c:v>
                </c:pt>
                <c:pt idx="77">
                  <c:v>29.125333333333334</c:v>
                </c:pt>
                <c:pt idx="78">
                  <c:v>28.949677419354842</c:v>
                </c:pt>
                <c:pt idx="79">
                  <c:v>28.522903225806456</c:v>
                </c:pt>
                <c:pt idx="80">
                  <c:v>28.255333333333326</c:v>
                </c:pt>
                <c:pt idx="81">
                  <c:v>28.39516129032258</c:v>
                </c:pt>
                <c:pt idx="82">
                  <c:v>28.986666666666668</c:v>
                </c:pt>
                <c:pt idx="83">
                  <c:v>28.45774193548387</c:v>
                </c:pt>
                <c:pt idx="84">
                  <c:v>29.337419354838705</c:v>
                </c:pt>
                <c:pt idx="85">
                  <c:v>29.385862068965512</c:v>
                </c:pt>
                <c:pt idx="86">
                  <c:v>29.093548387096778</c:v>
                </c:pt>
                <c:pt idx="87">
                  <c:v>29.355999999999995</c:v>
                </c:pt>
                <c:pt idx="88">
                  <c:v>29.184193548387103</c:v>
                </c:pt>
                <c:pt idx="89">
                  <c:v>28.780333333333338</c:v>
                </c:pt>
                <c:pt idx="90">
                  <c:v>28.459032258064511</c:v>
                </c:pt>
                <c:pt idx="91">
                  <c:v>28.164516129032254</c:v>
                </c:pt>
                <c:pt idx="92">
                  <c:v>28.42433333333333</c:v>
                </c:pt>
                <c:pt idx="93">
                  <c:v>28.770967741935483</c:v>
                </c:pt>
                <c:pt idx="94">
                  <c:v>28.794000000000004</c:v>
                </c:pt>
                <c:pt idx="95">
                  <c:v>29.183548387096771</c:v>
                </c:pt>
                <c:pt idx="96">
                  <c:v>29.591612903225805</c:v>
                </c:pt>
                <c:pt idx="97">
                  <c:v>29.581428571428575</c:v>
                </c:pt>
                <c:pt idx="98">
                  <c:v>29.42</c:v>
                </c:pt>
                <c:pt idx="99">
                  <c:v>29.506999999999998</c:v>
                </c:pt>
                <c:pt idx="100">
                  <c:v>29.311935483870979</c:v>
                </c:pt>
                <c:pt idx="101">
                  <c:v>28.460666666666665</c:v>
                </c:pt>
                <c:pt idx="102">
                  <c:v>27.570967741935483</c:v>
                </c:pt>
                <c:pt idx="103">
                  <c:v>27.771612903225815</c:v>
                </c:pt>
                <c:pt idx="104">
                  <c:v>27.869000000000003</c:v>
                </c:pt>
                <c:pt idx="105">
                  <c:v>28.1183870967742</c:v>
                </c:pt>
                <c:pt idx="106">
                  <c:v>28.606333333333342</c:v>
                </c:pt>
                <c:pt idx="107">
                  <c:v>29.351935483870967</c:v>
                </c:pt>
                <c:pt idx="108">
                  <c:v>29.640322580645158</c:v>
                </c:pt>
                <c:pt idx="109">
                  <c:v>29.874285714285715</c:v>
                </c:pt>
                <c:pt idx="110">
                  <c:v>30.225161290322585</c:v>
                </c:pt>
                <c:pt idx="111">
                  <c:v>29.836333333333336</c:v>
                </c:pt>
                <c:pt idx="112">
                  <c:v>29.214193548387094</c:v>
                </c:pt>
                <c:pt idx="113">
                  <c:v>28.438000000000006</c:v>
                </c:pt>
                <c:pt idx="114">
                  <c:v>28.400000000000002</c:v>
                </c:pt>
                <c:pt idx="115">
                  <c:v>27.993225806451616</c:v>
                </c:pt>
                <c:pt idx="116">
                  <c:v>28.03766666666667</c:v>
                </c:pt>
                <c:pt idx="117">
                  <c:v>28.640322580645165</c:v>
                </c:pt>
                <c:pt idx="118">
                  <c:v>28.745333333333335</c:v>
                </c:pt>
                <c:pt idx="119">
                  <c:v>29.211935483870963</c:v>
                </c:pt>
                <c:pt idx="120">
                  <c:v>29.105161290322588</c:v>
                </c:pt>
                <c:pt idx="121">
                  <c:v>29.790000000000003</c:v>
                </c:pt>
                <c:pt idx="122">
                  <c:v>29.551935483870967</c:v>
                </c:pt>
                <c:pt idx="123">
                  <c:v>29.619666666666667</c:v>
                </c:pt>
                <c:pt idx="124">
                  <c:v>29.502903225806449</c:v>
                </c:pt>
                <c:pt idx="125">
                  <c:v>28.880666666666677</c:v>
                </c:pt>
                <c:pt idx="126">
                  <c:v>28.402580645161294</c:v>
                </c:pt>
                <c:pt idx="127">
                  <c:v>28.194193548387098</c:v>
                </c:pt>
                <c:pt idx="128">
                  <c:v>28.301333333333332</c:v>
                </c:pt>
                <c:pt idx="129">
                  <c:v>28.231290322580655</c:v>
                </c:pt>
                <c:pt idx="130">
                  <c:v>28.743000000000006</c:v>
                </c:pt>
                <c:pt idx="131">
                  <c:v>29.306774193548385</c:v>
                </c:pt>
                <c:pt idx="132">
                  <c:v>29.087741935483876</c:v>
                </c:pt>
                <c:pt idx="133">
                  <c:v>29.078965517241382</c:v>
                </c:pt>
                <c:pt idx="134">
                  <c:v>29.270322580645168</c:v>
                </c:pt>
                <c:pt idx="135">
                  <c:v>29.117666666666668</c:v>
                </c:pt>
                <c:pt idx="136">
                  <c:v>29.116129032258069</c:v>
                </c:pt>
                <c:pt idx="137">
                  <c:v>28.818333333333339</c:v>
                </c:pt>
                <c:pt idx="138">
                  <c:v>28.258709677419358</c:v>
                </c:pt>
                <c:pt idx="139">
                  <c:v>27.889999999999993</c:v>
                </c:pt>
                <c:pt idx="140">
                  <c:v>27.786999999999999</c:v>
                </c:pt>
                <c:pt idx="141">
                  <c:v>28.026451612903227</c:v>
                </c:pt>
                <c:pt idx="142">
                  <c:v>28.704000000000008</c:v>
                </c:pt>
                <c:pt idx="143">
                  <c:v>28.727096774193551</c:v>
                </c:pt>
                <c:pt idx="144">
                  <c:v>28.64096774193548</c:v>
                </c:pt>
                <c:pt idx="145">
                  <c:v>28.953214285714278</c:v>
                </c:pt>
                <c:pt idx="146">
                  <c:v>28.550967741935484</c:v>
                </c:pt>
                <c:pt idx="147">
                  <c:v>28.920666666666666</c:v>
                </c:pt>
                <c:pt idx="148">
                  <c:v>28.782580645161293</c:v>
                </c:pt>
                <c:pt idx="149">
                  <c:v>27.866666666666674</c:v>
                </c:pt>
                <c:pt idx="150">
                  <c:v>27.372258064516121</c:v>
                </c:pt>
                <c:pt idx="151">
                  <c:v>27.431290322580647</c:v>
                </c:pt>
                <c:pt idx="152">
                  <c:v>27.917333333333335</c:v>
                </c:pt>
                <c:pt idx="153">
                  <c:v>28.098064516129032</c:v>
                </c:pt>
                <c:pt idx="154">
                  <c:v>28.425999999999995</c:v>
                </c:pt>
                <c:pt idx="155">
                  <c:v>28.235483870967737</c:v>
                </c:pt>
                <c:pt idx="156">
                  <c:v>28.948709677419348</c:v>
                </c:pt>
                <c:pt idx="157">
                  <c:v>28.807857142857138</c:v>
                </c:pt>
                <c:pt idx="158">
                  <c:v>29.279032258064515</c:v>
                </c:pt>
                <c:pt idx="159">
                  <c:v>28.523666666666671</c:v>
                </c:pt>
                <c:pt idx="160">
                  <c:v>27.833225806451615</c:v>
                </c:pt>
                <c:pt idx="161">
                  <c:v>27.750000000000011</c:v>
                </c:pt>
                <c:pt idx="162">
                  <c:v>27.180645161290307</c:v>
                </c:pt>
                <c:pt idx="163">
                  <c:v>26.848709677419365</c:v>
                </c:pt>
                <c:pt idx="164">
                  <c:v>27.455666666666666</c:v>
                </c:pt>
                <c:pt idx="165">
                  <c:v>28.347096774193545</c:v>
                </c:pt>
                <c:pt idx="166">
                  <c:v>29.022000000000002</c:v>
                </c:pt>
                <c:pt idx="167">
                  <c:v>29.464838709677419</c:v>
                </c:pt>
                <c:pt idx="168">
                  <c:v>28.849999999999998</c:v>
                </c:pt>
                <c:pt idx="169">
                  <c:v>29.113214285714292</c:v>
                </c:pt>
                <c:pt idx="170">
                  <c:v>29.297419354838702</c:v>
                </c:pt>
                <c:pt idx="171">
                  <c:v>29.237999999999996</c:v>
                </c:pt>
                <c:pt idx="172">
                  <c:v>29.02225806451613</c:v>
                </c:pt>
                <c:pt idx="173">
                  <c:v>28.684666666666661</c:v>
                </c:pt>
                <c:pt idx="174">
                  <c:v>28.423225806451615</c:v>
                </c:pt>
                <c:pt idx="175">
                  <c:v>28.348064516129035</c:v>
                </c:pt>
                <c:pt idx="176">
                  <c:v>28.286333333333339</c:v>
                </c:pt>
                <c:pt idx="177">
                  <c:v>28.283225806451611</c:v>
                </c:pt>
                <c:pt idx="178">
                  <c:v>28.455666666666666</c:v>
                </c:pt>
                <c:pt idx="179">
                  <c:v>29.35</c:v>
                </c:pt>
                <c:pt idx="180">
                  <c:v>29.216774193548392</c:v>
                </c:pt>
                <c:pt idx="181">
                  <c:v>29.221034482758622</c:v>
                </c:pt>
                <c:pt idx="182">
                  <c:v>29.270967741935493</c:v>
                </c:pt>
                <c:pt idx="183">
                  <c:v>29.382333333333335</c:v>
                </c:pt>
                <c:pt idx="184">
                  <c:v>29.191935483870974</c:v>
                </c:pt>
                <c:pt idx="185">
                  <c:v>28.30466666666667</c:v>
                </c:pt>
                <c:pt idx="186">
                  <c:v>28.044516129032257</c:v>
                </c:pt>
                <c:pt idx="187">
                  <c:v>27.779999999999994</c:v>
                </c:pt>
                <c:pt idx="188">
                  <c:v>27.995000000000012</c:v>
                </c:pt>
                <c:pt idx="189">
                  <c:v>28.43322580645161</c:v>
                </c:pt>
                <c:pt idx="190">
                  <c:v>28.904333333333334</c:v>
                </c:pt>
                <c:pt idx="191">
                  <c:v>29.332258064516129</c:v>
                </c:pt>
                <c:pt idx="192">
                  <c:v>29.645806451612899</c:v>
                </c:pt>
                <c:pt idx="193">
                  <c:v>29.770357142857144</c:v>
                </c:pt>
                <c:pt idx="194">
                  <c:v>29.425483870967742</c:v>
                </c:pt>
                <c:pt idx="195">
                  <c:v>29.585666666666675</c:v>
                </c:pt>
                <c:pt idx="196">
                  <c:v>29.260322580645159</c:v>
                </c:pt>
                <c:pt idx="197">
                  <c:v>28.571333333333325</c:v>
                </c:pt>
                <c:pt idx="198">
                  <c:v>28.517741935483873</c:v>
                </c:pt>
                <c:pt idx="199">
                  <c:v>28.253870967741932</c:v>
                </c:pt>
                <c:pt idx="200">
                  <c:v>28.082333333333334</c:v>
                </c:pt>
                <c:pt idx="201">
                  <c:v>28.102580645161297</c:v>
                </c:pt>
                <c:pt idx="202">
                  <c:v>28.666666666666661</c:v>
                </c:pt>
                <c:pt idx="203">
                  <c:v>29.139354838709671</c:v>
                </c:pt>
                <c:pt idx="204">
                  <c:v>29.419677419354837</c:v>
                </c:pt>
                <c:pt idx="205">
                  <c:v>29.72821428571428</c:v>
                </c:pt>
                <c:pt idx="206">
                  <c:v>29.928709677419352</c:v>
                </c:pt>
                <c:pt idx="207">
                  <c:v>29.788999999999991</c:v>
                </c:pt>
                <c:pt idx="208">
                  <c:v>29.548709677419357</c:v>
                </c:pt>
                <c:pt idx="209">
                  <c:v>28.613666666666667</c:v>
                </c:pt>
                <c:pt idx="210">
                  <c:v>28.45774193548387</c:v>
                </c:pt>
                <c:pt idx="211">
                  <c:v>28.19</c:v>
                </c:pt>
                <c:pt idx="212">
                  <c:v>27.939333333333341</c:v>
                </c:pt>
                <c:pt idx="213">
                  <c:v>28.339999999999993</c:v>
                </c:pt>
                <c:pt idx="214">
                  <c:v>29.488666666666656</c:v>
                </c:pt>
                <c:pt idx="215">
                  <c:v>29.648064516129029</c:v>
                </c:pt>
                <c:pt idx="216">
                  <c:v>29.778709677419354</c:v>
                </c:pt>
                <c:pt idx="217">
                  <c:v>29.9175</c:v>
                </c:pt>
                <c:pt idx="218">
                  <c:v>30.183225806451627</c:v>
                </c:pt>
                <c:pt idx="219">
                  <c:v>29.915999999999993</c:v>
                </c:pt>
                <c:pt idx="220">
                  <c:v>29.528064516129032</c:v>
                </c:pt>
                <c:pt idx="221">
                  <c:v>28.839999999999996</c:v>
                </c:pt>
                <c:pt idx="222">
                  <c:v>28.105161290322588</c:v>
                </c:pt>
                <c:pt idx="223">
                  <c:v>28.358387096774194</c:v>
                </c:pt>
                <c:pt idx="224">
                  <c:v>28.361666666666665</c:v>
                </c:pt>
                <c:pt idx="225">
                  <c:v>28.571612903225809</c:v>
                </c:pt>
                <c:pt idx="226">
                  <c:v>28.910999999999991</c:v>
                </c:pt>
                <c:pt idx="227">
                  <c:v>29.295483870967736</c:v>
                </c:pt>
                <c:pt idx="228">
                  <c:v>29.242258064516136</c:v>
                </c:pt>
                <c:pt idx="229">
                  <c:v>29.610344827586193</c:v>
                </c:pt>
                <c:pt idx="230">
                  <c:v>29.674516129032263</c:v>
                </c:pt>
                <c:pt idx="231">
                  <c:v>29.671333333333326</c:v>
                </c:pt>
                <c:pt idx="232">
                  <c:v>29.307419354838704</c:v>
                </c:pt>
                <c:pt idx="233">
                  <c:v>28.928666666666672</c:v>
                </c:pt>
                <c:pt idx="234">
                  <c:v>28.18645161290322</c:v>
                </c:pt>
                <c:pt idx="235">
                  <c:v>28.197419354838711</c:v>
                </c:pt>
                <c:pt idx="236">
                  <c:v>28.301666666666666</c:v>
                </c:pt>
                <c:pt idx="237">
                  <c:v>28.628387096774198</c:v>
                </c:pt>
                <c:pt idx="238">
                  <c:v>29.233333333333331</c:v>
                </c:pt>
                <c:pt idx="239">
                  <c:v>29.433225806451613</c:v>
                </c:pt>
                <c:pt idx="240">
                  <c:v>29.709032258064518</c:v>
                </c:pt>
                <c:pt idx="241">
                  <c:v>29.859285714285715</c:v>
                </c:pt>
                <c:pt idx="242">
                  <c:v>29.776129032258059</c:v>
                </c:pt>
                <c:pt idx="243">
                  <c:v>29.65133333333333</c:v>
                </c:pt>
                <c:pt idx="244">
                  <c:v>29.334516129032259</c:v>
                </c:pt>
                <c:pt idx="245">
                  <c:v>28.976333333333326</c:v>
                </c:pt>
                <c:pt idx="246">
                  <c:v>28.115161290322582</c:v>
                </c:pt>
                <c:pt idx="247">
                  <c:v>28.21709677419355</c:v>
                </c:pt>
                <c:pt idx="248">
                  <c:v>28.444000000000003</c:v>
                </c:pt>
                <c:pt idx="249">
                  <c:v>28.712258064516131</c:v>
                </c:pt>
                <c:pt idx="250">
                  <c:v>29.525999999999996</c:v>
                </c:pt>
                <c:pt idx="251">
                  <c:v>29.801612903225809</c:v>
                </c:pt>
                <c:pt idx="252">
                  <c:v>29.439677419354833</c:v>
                </c:pt>
                <c:pt idx="253">
                  <c:v>28.886428571428574</c:v>
                </c:pt>
                <c:pt idx="254">
                  <c:v>29.414838709677412</c:v>
                </c:pt>
                <c:pt idx="255">
                  <c:v>29.574000000000005</c:v>
                </c:pt>
                <c:pt idx="256">
                  <c:v>29.431612903225819</c:v>
                </c:pt>
                <c:pt idx="257">
                  <c:v>28.792333333333332</c:v>
                </c:pt>
                <c:pt idx="258">
                  <c:v>28.482258064516131</c:v>
                </c:pt>
                <c:pt idx="259">
                  <c:v>28.291612903225804</c:v>
                </c:pt>
                <c:pt idx="260">
                  <c:v>28.166</c:v>
                </c:pt>
                <c:pt idx="261">
                  <c:v>28.809354838709677</c:v>
                </c:pt>
                <c:pt idx="262">
                  <c:v>28.754333333333339</c:v>
                </c:pt>
                <c:pt idx="263">
                  <c:v>29.667096774193539</c:v>
                </c:pt>
                <c:pt idx="264">
                  <c:v>29.587741935483873</c:v>
                </c:pt>
                <c:pt idx="265">
                  <c:v>29.745714285714289</c:v>
                </c:pt>
                <c:pt idx="266">
                  <c:v>29.714516129032255</c:v>
                </c:pt>
                <c:pt idx="267">
                  <c:v>29.858666666666668</c:v>
                </c:pt>
                <c:pt idx="268">
                  <c:v>29.462258064516124</c:v>
                </c:pt>
                <c:pt idx="269">
                  <c:v>29.143000000000004</c:v>
                </c:pt>
                <c:pt idx="270">
                  <c:v>28.774838709677425</c:v>
                </c:pt>
                <c:pt idx="271">
                  <c:v>28.441612903225813</c:v>
                </c:pt>
                <c:pt idx="272">
                  <c:v>28.326333333333334</c:v>
                </c:pt>
                <c:pt idx="273">
                  <c:v>28.876451612903228</c:v>
                </c:pt>
                <c:pt idx="274">
                  <c:v>29.181333333333338</c:v>
                </c:pt>
                <c:pt idx="275">
                  <c:v>29.188709677419347</c:v>
                </c:pt>
                <c:pt idx="276">
                  <c:v>29.145483870967738</c:v>
                </c:pt>
                <c:pt idx="277">
                  <c:v>29.152413793103456</c:v>
                </c:pt>
                <c:pt idx="278">
                  <c:v>29.172903225806454</c:v>
                </c:pt>
                <c:pt idx="279">
                  <c:v>29.268999999999998</c:v>
                </c:pt>
                <c:pt idx="280">
                  <c:v>29.172258064516129</c:v>
                </c:pt>
                <c:pt idx="281">
                  <c:v>28.563000000000002</c:v>
                </c:pt>
                <c:pt idx="282">
                  <c:v>27.987419354838714</c:v>
                </c:pt>
                <c:pt idx="283">
                  <c:v>27.641612903225806</c:v>
                </c:pt>
                <c:pt idx="284">
                  <c:v>27.724</c:v>
                </c:pt>
                <c:pt idx="285">
                  <c:v>28.26806451612903</c:v>
                </c:pt>
                <c:pt idx="286">
                  <c:v>28.727666666666664</c:v>
                </c:pt>
                <c:pt idx="287">
                  <c:v>29.234838709677419</c:v>
                </c:pt>
                <c:pt idx="288">
                  <c:v>29.357741935483865</c:v>
                </c:pt>
                <c:pt idx="289">
                  <c:v>29.481428571428577</c:v>
                </c:pt>
                <c:pt idx="290">
                  <c:v>29.920322580645166</c:v>
                </c:pt>
                <c:pt idx="291">
                  <c:v>29.499666666666663</c:v>
                </c:pt>
                <c:pt idx="292">
                  <c:v>29.450645161290335</c:v>
                </c:pt>
                <c:pt idx="293">
                  <c:v>28.723000000000003</c:v>
                </c:pt>
                <c:pt idx="294">
                  <c:v>28.401935483870968</c:v>
                </c:pt>
                <c:pt idx="295">
                  <c:v>28.247741935483866</c:v>
                </c:pt>
                <c:pt idx="296">
                  <c:v>28.000999999999998</c:v>
                </c:pt>
                <c:pt idx="297">
                  <c:v>28.330000000000002</c:v>
                </c:pt>
                <c:pt idx="298">
                  <c:v>29.043999999999997</c:v>
                </c:pt>
                <c:pt idx="299">
                  <c:v>29.258709677419358</c:v>
                </c:pt>
                <c:pt idx="300">
                  <c:v>29.582903225806458</c:v>
                </c:pt>
                <c:pt idx="301">
                  <c:v>29.285357142857144</c:v>
                </c:pt>
                <c:pt idx="302">
                  <c:v>29.800967741935484</c:v>
                </c:pt>
                <c:pt idx="303">
                  <c:v>29.883333333333336</c:v>
                </c:pt>
                <c:pt idx="304">
                  <c:v>29.744516129032259</c:v>
                </c:pt>
                <c:pt idx="305">
                  <c:v>29.238000000000003</c:v>
                </c:pt>
                <c:pt idx="306">
                  <c:v>28.786774193548382</c:v>
                </c:pt>
                <c:pt idx="307">
                  <c:v>28.360967741935482</c:v>
                </c:pt>
                <c:pt idx="308">
                  <c:v>28.266666666666662</c:v>
                </c:pt>
                <c:pt idx="309">
                  <c:v>28.687096774193552</c:v>
                </c:pt>
                <c:pt idx="310">
                  <c:v>28.881999999999998</c:v>
                </c:pt>
                <c:pt idx="311">
                  <c:v>29.120322580645162</c:v>
                </c:pt>
                <c:pt idx="312">
                  <c:v>28.948387096774191</c:v>
                </c:pt>
                <c:pt idx="313">
                  <c:v>28.488571428571429</c:v>
                </c:pt>
                <c:pt idx="314">
                  <c:v>29.069354838709678</c:v>
                </c:pt>
                <c:pt idx="315">
                  <c:v>29.152666666666669</c:v>
                </c:pt>
                <c:pt idx="316">
                  <c:v>29.264516129032259</c:v>
                </c:pt>
                <c:pt idx="317">
                  <c:v>28.78533333333333</c:v>
                </c:pt>
                <c:pt idx="318">
                  <c:v>28.219677419354845</c:v>
                </c:pt>
                <c:pt idx="319">
                  <c:v>27.715483870967738</c:v>
                </c:pt>
                <c:pt idx="320">
                  <c:v>27.705333333333336</c:v>
                </c:pt>
                <c:pt idx="321">
                  <c:v>28.285806451612892</c:v>
                </c:pt>
                <c:pt idx="322">
                  <c:v>28.685333333333332</c:v>
                </c:pt>
                <c:pt idx="323">
                  <c:v>28.819677419354846</c:v>
                </c:pt>
                <c:pt idx="324">
                  <c:v>28.955483870967743</c:v>
                </c:pt>
                <c:pt idx="325">
                  <c:v>28.915517241379305</c:v>
                </c:pt>
                <c:pt idx="326">
                  <c:v>29.209999999999997</c:v>
                </c:pt>
                <c:pt idx="327">
                  <c:v>29.428000000000004</c:v>
                </c:pt>
                <c:pt idx="328">
                  <c:v>29.237419354838703</c:v>
                </c:pt>
                <c:pt idx="329">
                  <c:v>28.486333333333334</c:v>
                </c:pt>
                <c:pt idx="330">
                  <c:v>27.944193548387105</c:v>
                </c:pt>
                <c:pt idx="331">
                  <c:v>27.817419354838709</c:v>
                </c:pt>
                <c:pt idx="332">
                  <c:v>28.440333333333331</c:v>
                </c:pt>
                <c:pt idx="333">
                  <c:v>28.796451612903223</c:v>
                </c:pt>
                <c:pt idx="334">
                  <c:v>29.303333333333338</c:v>
                </c:pt>
                <c:pt idx="335">
                  <c:v>29.468709677419351</c:v>
                </c:pt>
                <c:pt idx="336">
                  <c:v>29.25935483870968</c:v>
                </c:pt>
                <c:pt idx="337">
                  <c:v>29.232857142857146</c:v>
                </c:pt>
                <c:pt idx="338">
                  <c:v>29.541935483870969</c:v>
                </c:pt>
                <c:pt idx="339">
                  <c:v>29.707000000000001</c:v>
                </c:pt>
                <c:pt idx="340">
                  <c:v>29.326774193548388</c:v>
                </c:pt>
                <c:pt idx="341">
                  <c:v>28.987999999999992</c:v>
                </c:pt>
                <c:pt idx="342">
                  <c:v>28.645483870967745</c:v>
                </c:pt>
                <c:pt idx="343">
                  <c:v>28.41612903225807</c:v>
                </c:pt>
                <c:pt idx="344">
                  <c:v>28.384</c:v>
                </c:pt>
                <c:pt idx="345">
                  <c:v>28.445483870967745</c:v>
                </c:pt>
                <c:pt idx="346">
                  <c:v>28.652333333333328</c:v>
                </c:pt>
                <c:pt idx="347">
                  <c:v>29.145806451612906</c:v>
                </c:pt>
                <c:pt idx="348">
                  <c:v>29.151290322580643</c:v>
                </c:pt>
                <c:pt idx="349">
                  <c:v>29.908928571428572</c:v>
                </c:pt>
                <c:pt idx="350">
                  <c:v>29.769999999999992</c:v>
                </c:pt>
                <c:pt idx="351">
                  <c:v>29.626666666666669</c:v>
                </c:pt>
                <c:pt idx="352">
                  <c:v>29.165806451612909</c:v>
                </c:pt>
                <c:pt idx="353">
                  <c:v>28.782333333333337</c:v>
                </c:pt>
                <c:pt idx="354">
                  <c:v>28.511290322580646</c:v>
                </c:pt>
                <c:pt idx="355">
                  <c:v>28.304516129032255</c:v>
                </c:pt>
                <c:pt idx="356">
                  <c:v>28.334333333333333</c:v>
                </c:pt>
                <c:pt idx="357">
                  <c:v>28.761612903225807</c:v>
                </c:pt>
                <c:pt idx="358">
                  <c:v>28.853333333333335</c:v>
                </c:pt>
                <c:pt idx="359">
                  <c:v>29.193870967741944</c:v>
                </c:pt>
                <c:pt idx="360">
                  <c:v>29.933225806451606</c:v>
                </c:pt>
                <c:pt idx="361">
                  <c:v>29.949642857142859</c:v>
                </c:pt>
                <c:pt idx="362">
                  <c:v>30.241935483870964</c:v>
                </c:pt>
                <c:pt idx="363">
                  <c:v>29.792999999999992</c:v>
                </c:pt>
                <c:pt idx="364">
                  <c:v>29.475483870967746</c:v>
                </c:pt>
                <c:pt idx="365">
                  <c:v>28.888333333333335</c:v>
                </c:pt>
                <c:pt idx="366">
                  <c:v>28.286774193548386</c:v>
                </c:pt>
                <c:pt idx="367">
                  <c:v>27.750645161290326</c:v>
                </c:pt>
                <c:pt idx="368">
                  <c:v>27.769000000000002</c:v>
                </c:pt>
                <c:pt idx="369">
                  <c:v>28.293225806451616</c:v>
                </c:pt>
                <c:pt idx="370">
                  <c:v>28.674999999999994</c:v>
                </c:pt>
                <c:pt idx="371">
                  <c:v>29.028709677419354</c:v>
                </c:pt>
                <c:pt idx="372">
                  <c:v>29.443870967741937</c:v>
                </c:pt>
                <c:pt idx="373">
                  <c:v>29.773448275862066</c:v>
                </c:pt>
                <c:pt idx="374">
                  <c:v>29.821290322580655</c:v>
                </c:pt>
                <c:pt idx="375">
                  <c:v>30.003666666666657</c:v>
                </c:pt>
                <c:pt idx="376">
                  <c:v>29.37387096774194</c:v>
                </c:pt>
                <c:pt idx="377">
                  <c:v>28.693333333333342</c:v>
                </c:pt>
                <c:pt idx="378">
                  <c:v>28.268387096774187</c:v>
                </c:pt>
                <c:pt idx="379">
                  <c:v>28.372903225806446</c:v>
                </c:pt>
                <c:pt idx="380">
                  <c:v>28.717000000000006</c:v>
                </c:pt>
                <c:pt idx="381">
                  <c:v>29.224838709677421</c:v>
                </c:pt>
                <c:pt idx="382">
                  <c:v>29.463333333333331</c:v>
                </c:pt>
                <c:pt idx="383">
                  <c:v>30.06999999999999</c:v>
                </c:pt>
                <c:pt idx="384">
                  <c:v>30.123225806451615</c:v>
                </c:pt>
                <c:pt idx="385">
                  <c:v>29.92678571428571</c:v>
                </c:pt>
                <c:pt idx="386">
                  <c:v>29.979677419354836</c:v>
                </c:pt>
                <c:pt idx="387">
                  <c:v>29.945333333333334</c:v>
                </c:pt>
                <c:pt idx="388">
                  <c:v>29.609677419354835</c:v>
                </c:pt>
                <c:pt idx="389">
                  <c:v>29.129666666666665</c:v>
                </c:pt>
                <c:pt idx="390">
                  <c:v>28.625161290322584</c:v>
                </c:pt>
                <c:pt idx="391">
                  <c:v>28.374516129032259</c:v>
                </c:pt>
                <c:pt idx="392">
                  <c:v>28.424666666666671</c:v>
                </c:pt>
                <c:pt idx="393">
                  <c:v>28.550000000000004</c:v>
                </c:pt>
                <c:pt idx="394">
                  <c:v>29.079666666666672</c:v>
                </c:pt>
                <c:pt idx="395">
                  <c:v>29.259032258064515</c:v>
                </c:pt>
                <c:pt idx="396">
                  <c:v>29.657741935483866</c:v>
                </c:pt>
                <c:pt idx="397">
                  <c:v>29.437857142857144</c:v>
                </c:pt>
                <c:pt idx="398">
                  <c:v>29.514838709677417</c:v>
                </c:pt>
                <c:pt idx="399">
                  <c:v>29.543666666666674</c:v>
                </c:pt>
                <c:pt idx="400">
                  <c:v>29.398709677419355</c:v>
                </c:pt>
                <c:pt idx="401">
                  <c:v>29.095000000000002</c:v>
                </c:pt>
                <c:pt idx="402">
                  <c:v>28.429677419354832</c:v>
                </c:pt>
                <c:pt idx="403">
                  <c:v>28.399032258064516</c:v>
                </c:pt>
                <c:pt idx="404">
                  <c:v>28.538333333333334</c:v>
                </c:pt>
                <c:pt idx="405">
                  <c:v>28.67258064516129</c:v>
                </c:pt>
                <c:pt idx="406">
                  <c:v>29.213666666666665</c:v>
                </c:pt>
                <c:pt idx="407">
                  <c:v>29.451290322580647</c:v>
                </c:pt>
                <c:pt idx="408">
                  <c:v>29.855161290322577</c:v>
                </c:pt>
                <c:pt idx="409">
                  <c:v>30.022857142857138</c:v>
                </c:pt>
                <c:pt idx="410">
                  <c:v>29.775161290322579</c:v>
                </c:pt>
                <c:pt idx="411">
                  <c:v>30.064333333333334</c:v>
                </c:pt>
                <c:pt idx="412">
                  <c:v>29.804838709677419</c:v>
                </c:pt>
                <c:pt idx="413">
                  <c:v>29.421333333333333</c:v>
                </c:pt>
                <c:pt idx="414">
                  <c:v>28.904516129032263</c:v>
                </c:pt>
                <c:pt idx="415">
                  <c:v>28.612903225806456</c:v>
                </c:pt>
                <c:pt idx="416">
                  <c:v>28.514666666666667</c:v>
                </c:pt>
                <c:pt idx="417">
                  <c:v>28.542580645161287</c:v>
                </c:pt>
                <c:pt idx="418">
                  <c:v>29.146333333333335</c:v>
                </c:pt>
                <c:pt idx="419">
                  <c:v>29.391935483870963</c:v>
                </c:pt>
                <c:pt idx="420">
                  <c:v>29.247419354838708</c:v>
                </c:pt>
                <c:pt idx="421">
                  <c:v>29.300689655172405</c:v>
                </c:pt>
                <c:pt idx="422">
                  <c:v>29.825806451612902</c:v>
                </c:pt>
                <c:pt idx="423">
                  <c:v>30.234285714285715</c:v>
                </c:pt>
                <c:pt idx="424">
                  <c:v>29.970000000000002</c:v>
                </c:pt>
                <c:pt idx="425">
                  <c:v>29.39833333333333</c:v>
                </c:pt>
                <c:pt idx="426">
                  <c:v>28.88451612903226</c:v>
                </c:pt>
                <c:pt idx="427">
                  <c:v>28.517142857142865</c:v>
                </c:pt>
              </c:numCache>
            </c:numRef>
          </c:val>
          <c:smooth val="0"/>
          <c:extLst>
            <c:ext xmlns:c16="http://schemas.microsoft.com/office/drawing/2014/chart" uri="{C3380CC4-5D6E-409C-BE32-E72D297353CC}">
              <c16:uniqueId val="{00000003-7D82-4116-ACD2-A2460439D5C7}"/>
            </c:ext>
          </c:extLst>
        </c:ser>
        <c:ser>
          <c:idx val="2"/>
          <c:order val="2"/>
          <c:tx>
            <c:strRef>
              <c:f>Final!$F$1</c:f>
              <c:strCache>
                <c:ptCount val="1"/>
                <c:pt idx="0">
                  <c:v>Bleaching Threshold</c:v>
                </c:pt>
              </c:strCache>
            </c:strRef>
          </c:tx>
          <c:spPr>
            <a:ln w="19050" cap="rnd">
              <a:solidFill>
                <a:schemeClr val="bg1">
                  <a:lumMod val="65000"/>
                </a:schemeClr>
              </a:solidFill>
              <a:round/>
            </a:ln>
            <a:effectLst/>
          </c:spPr>
          <c:marker>
            <c:symbol val="none"/>
          </c:marker>
          <c:cat>
            <c:numRef>
              <c:f>Final!$C$2:$C$425</c:f>
              <c:numCache>
                <c:formatCode>General</c:formatCode>
                <c:ptCount val="424"/>
                <c:pt idx="0">
                  <c:v>1985</c:v>
                </c:pt>
                <c:pt idx="12">
                  <c:v>1986</c:v>
                </c:pt>
                <c:pt idx="24">
                  <c:v>1987</c:v>
                </c:pt>
                <c:pt idx="36">
                  <c:v>1988</c:v>
                </c:pt>
                <c:pt idx="48">
                  <c:v>1989</c:v>
                </c:pt>
                <c:pt idx="60">
                  <c:v>1990</c:v>
                </c:pt>
                <c:pt idx="72">
                  <c:v>1991</c:v>
                </c:pt>
                <c:pt idx="84">
                  <c:v>1992</c:v>
                </c:pt>
                <c:pt idx="96">
                  <c:v>1993</c:v>
                </c:pt>
                <c:pt idx="108">
                  <c:v>1994</c:v>
                </c:pt>
                <c:pt idx="120">
                  <c:v>1995</c:v>
                </c:pt>
                <c:pt idx="132">
                  <c:v>1996</c:v>
                </c:pt>
                <c:pt idx="144">
                  <c:v>1997</c:v>
                </c:pt>
                <c:pt idx="156">
                  <c:v>1998</c:v>
                </c:pt>
                <c:pt idx="168">
                  <c:v>1999</c:v>
                </c:pt>
                <c:pt idx="180">
                  <c:v>2000</c:v>
                </c:pt>
                <c:pt idx="192">
                  <c:v>2001</c:v>
                </c:pt>
                <c:pt idx="204">
                  <c:v>2002</c:v>
                </c:pt>
                <c:pt idx="216">
                  <c:v>2003</c:v>
                </c:pt>
                <c:pt idx="228">
                  <c:v>2004</c:v>
                </c:pt>
                <c:pt idx="240">
                  <c:v>2005</c:v>
                </c:pt>
                <c:pt idx="252">
                  <c:v>2006</c:v>
                </c:pt>
                <c:pt idx="264">
                  <c:v>2007</c:v>
                </c:pt>
                <c:pt idx="276">
                  <c:v>2008</c:v>
                </c:pt>
                <c:pt idx="288">
                  <c:v>2009</c:v>
                </c:pt>
                <c:pt idx="300">
                  <c:v>2010</c:v>
                </c:pt>
                <c:pt idx="312">
                  <c:v>2011</c:v>
                </c:pt>
                <c:pt idx="324">
                  <c:v>2012</c:v>
                </c:pt>
                <c:pt idx="336">
                  <c:v>2013</c:v>
                </c:pt>
                <c:pt idx="348">
                  <c:v>2014</c:v>
                </c:pt>
                <c:pt idx="360">
                  <c:v>2015</c:v>
                </c:pt>
                <c:pt idx="372">
                  <c:v>2016</c:v>
                </c:pt>
                <c:pt idx="384">
                  <c:v>2017</c:v>
                </c:pt>
                <c:pt idx="396">
                  <c:v>2018</c:v>
                </c:pt>
                <c:pt idx="408">
                  <c:v>2019</c:v>
                </c:pt>
                <c:pt idx="420">
                  <c:v>2020</c:v>
                </c:pt>
              </c:numCache>
            </c:numRef>
          </c:cat>
          <c:val>
            <c:numRef>
              <c:f>Final!$F$2:$F$433</c:f>
              <c:numCache>
                <c:formatCode>General</c:formatCode>
                <c:ptCount val="432"/>
                <c:pt idx="0">
                  <c:v>29.9</c:v>
                </c:pt>
                <c:pt idx="1">
                  <c:v>29.9</c:v>
                </c:pt>
                <c:pt idx="2">
                  <c:v>29.9</c:v>
                </c:pt>
                <c:pt idx="3">
                  <c:v>29.9</c:v>
                </c:pt>
                <c:pt idx="4">
                  <c:v>29.9</c:v>
                </c:pt>
                <c:pt idx="5">
                  <c:v>29.9</c:v>
                </c:pt>
                <c:pt idx="6">
                  <c:v>29.9</c:v>
                </c:pt>
                <c:pt idx="7">
                  <c:v>29.9</c:v>
                </c:pt>
                <c:pt idx="8">
                  <c:v>29.9</c:v>
                </c:pt>
                <c:pt idx="9">
                  <c:v>29.9</c:v>
                </c:pt>
                <c:pt idx="10">
                  <c:v>29.9</c:v>
                </c:pt>
                <c:pt idx="11">
                  <c:v>29.9</c:v>
                </c:pt>
                <c:pt idx="12">
                  <c:v>29.9</c:v>
                </c:pt>
                <c:pt idx="13">
                  <c:v>29.9</c:v>
                </c:pt>
                <c:pt idx="14">
                  <c:v>29.9</c:v>
                </c:pt>
                <c:pt idx="15">
                  <c:v>29.9</c:v>
                </c:pt>
                <c:pt idx="16">
                  <c:v>29.9</c:v>
                </c:pt>
                <c:pt idx="17">
                  <c:v>29.9</c:v>
                </c:pt>
                <c:pt idx="18">
                  <c:v>29.9</c:v>
                </c:pt>
                <c:pt idx="19">
                  <c:v>29.9</c:v>
                </c:pt>
                <c:pt idx="20">
                  <c:v>29.9</c:v>
                </c:pt>
                <c:pt idx="21">
                  <c:v>29.9</c:v>
                </c:pt>
                <c:pt idx="22">
                  <c:v>29.9</c:v>
                </c:pt>
                <c:pt idx="23">
                  <c:v>29.9</c:v>
                </c:pt>
                <c:pt idx="24">
                  <c:v>29.9</c:v>
                </c:pt>
                <c:pt idx="25">
                  <c:v>29.9</c:v>
                </c:pt>
                <c:pt idx="26">
                  <c:v>29.9</c:v>
                </c:pt>
                <c:pt idx="27">
                  <c:v>29.9</c:v>
                </c:pt>
                <c:pt idx="28">
                  <c:v>29.9</c:v>
                </c:pt>
                <c:pt idx="29">
                  <c:v>29.9</c:v>
                </c:pt>
                <c:pt idx="30">
                  <c:v>29.9</c:v>
                </c:pt>
                <c:pt idx="31">
                  <c:v>29.9</c:v>
                </c:pt>
                <c:pt idx="32">
                  <c:v>29.9</c:v>
                </c:pt>
                <c:pt idx="33">
                  <c:v>29.9</c:v>
                </c:pt>
                <c:pt idx="34">
                  <c:v>29.9</c:v>
                </c:pt>
                <c:pt idx="35">
                  <c:v>29.9</c:v>
                </c:pt>
                <c:pt idx="36">
                  <c:v>29.9</c:v>
                </c:pt>
                <c:pt idx="37">
                  <c:v>29.9</c:v>
                </c:pt>
                <c:pt idx="38">
                  <c:v>29.9</c:v>
                </c:pt>
                <c:pt idx="39">
                  <c:v>29.9</c:v>
                </c:pt>
                <c:pt idx="40">
                  <c:v>29.9</c:v>
                </c:pt>
                <c:pt idx="41">
                  <c:v>29.9</c:v>
                </c:pt>
                <c:pt idx="42">
                  <c:v>29.9</c:v>
                </c:pt>
                <c:pt idx="43">
                  <c:v>29.9</c:v>
                </c:pt>
                <c:pt idx="44">
                  <c:v>29.9</c:v>
                </c:pt>
                <c:pt idx="45">
                  <c:v>29.9</c:v>
                </c:pt>
                <c:pt idx="46">
                  <c:v>29.9</c:v>
                </c:pt>
                <c:pt idx="47">
                  <c:v>29.9</c:v>
                </c:pt>
                <c:pt idx="48">
                  <c:v>29.9</c:v>
                </c:pt>
                <c:pt idx="49">
                  <c:v>29.9</c:v>
                </c:pt>
                <c:pt idx="50">
                  <c:v>29.9</c:v>
                </c:pt>
                <c:pt idx="51">
                  <c:v>29.9</c:v>
                </c:pt>
                <c:pt idx="52">
                  <c:v>29.9</c:v>
                </c:pt>
                <c:pt idx="53">
                  <c:v>29.9</c:v>
                </c:pt>
                <c:pt idx="54">
                  <c:v>29.9</c:v>
                </c:pt>
                <c:pt idx="55">
                  <c:v>29.9</c:v>
                </c:pt>
                <c:pt idx="56">
                  <c:v>29.9</c:v>
                </c:pt>
                <c:pt idx="57">
                  <c:v>29.9</c:v>
                </c:pt>
                <c:pt idx="58">
                  <c:v>29.9</c:v>
                </c:pt>
                <c:pt idx="59">
                  <c:v>29.9</c:v>
                </c:pt>
                <c:pt idx="60">
                  <c:v>29.9</c:v>
                </c:pt>
                <c:pt idx="61">
                  <c:v>29.9</c:v>
                </c:pt>
                <c:pt idx="62">
                  <c:v>29.9</c:v>
                </c:pt>
                <c:pt idx="63">
                  <c:v>29.9</c:v>
                </c:pt>
                <c:pt idx="64">
                  <c:v>29.9</c:v>
                </c:pt>
                <c:pt idx="65">
                  <c:v>29.9</c:v>
                </c:pt>
                <c:pt idx="66">
                  <c:v>29.9</c:v>
                </c:pt>
                <c:pt idx="67">
                  <c:v>29.9</c:v>
                </c:pt>
                <c:pt idx="68">
                  <c:v>29.9</c:v>
                </c:pt>
                <c:pt idx="69">
                  <c:v>29.9</c:v>
                </c:pt>
                <c:pt idx="70">
                  <c:v>29.9</c:v>
                </c:pt>
                <c:pt idx="71">
                  <c:v>29.9</c:v>
                </c:pt>
                <c:pt idx="72">
                  <c:v>29.9</c:v>
                </c:pt>
                <c:pt idx="73">
                  <c:v>29.9</c:v>
                </c:pt>
                <c:pt idx="74">
                  <c:v>29.9</c:v>
                </c:pt>
                <c:pt idx="75">
                  <c:v>29.9</c:v>
                </c:pt>
                <c:pt idx="76">
                  <c:v>29.9</c:v>
                </c:pt>
                <c:pt idx="77">
                  <c:v>29.9</c:v>
                </c:pt>
                <c:pt idx="78">
                  <c:v>29.9</c:v>
                </c:pt>
                <c:pt idx="79">
                  <c:v>29.9</c:v>
                </c:pt>
                <c:pt idx="80">
                  <c:v>29.9</c:v>
                </c:pt>
                <c:pt idx="81">
                  <c:v>29.9</c:v>
                </c:pt>
                <c:pt idx="82">
                  <c:v>29.9</c:v>
                </c:pt>
                <c:pt idx="83">
                  <c:v>29.9</c:v>
                </c:pt>
                <c:pt idx="84">
                  <c:v>29.9</c:v>
                </c:pt>
                <c:pt idx="85">
                  <c:v>29.9</c:v>
                </c:pt>
                <c:pt idx="86">
                  <c:v>29.9</c:v>
                </c:pt>
                <c:pt idx="87">
                  <c:v>29.9</c:v>
                </c:pt>
                <c:pt idx="88">
                  <c:v>29.9</c:v>
                </c:pt>
                <c:pt idx="89">
                  <c:v>29.9</c:v>
                </c:pt>
                <c:pt idx="90">
                  <c:v>29.9</c:v>
                </c:pt>
                <c:pt idx="91">
                  <c:v>29.9</c:v>
                </c:pt>
                <c:pt idx="92">
                  <c:v>29.9</c:v>
                </c:pt>
                <c:pt idx="93">
                  <c:v>29.9</c:v>
                </c:pt>
                <c:pt idx="94">
                  <c:v>29.9</c:v>
                </c:pt>
                <c:pt idx="95">
                  <c:v>29.9</c:v>
                </c:pt>
                <c:pt idx="96">
                  <c:v>29.9</c:v>
                </c:pt>
                <c:pt idx="97">
                  <c:v>29.9</c:v>
                </c:pt>
                <c:pt idx="98">
                  <c:v>29.9</c:v>
                </c:pt>
                <c:pt idx="99">
                  <c:v>29.9</c:v>
                </c:pt>
                <c:pt idx="100">
                  <c:v>29.9</c:v>
                </c:pt>
                <c:pt idx="101">
                  <c:v>29.9</c:v>
                </c:pt>
                <c:pt idx="102">
                  <c:v>29.9</c:v>
                </c:pt>
                <c:pt idx="103">
                  <c:v>29.9</c:v>
                </c:pt>
                <c:pt idx="104">
                  <c:v>29.9</c:v>
                </c:pt>
                <c:pt idx="105">
                  <c:v>29.9</c:v>
                </c:pt>
                <c:pt idx="106">
                  <c:v>29.9</c:v>
                </c:pt>
                <c:pt idx="107">
                  <c:v>29.9</c:v>
                </c:pt>
                <c:pt idx="108">
                  <c:v>29.9</c:v>
                </c:pt>
                <c:pt idx="109">
                  <c:v>29.9</c:v>
                </c:pt>
                <c:pt idx="110">
                  <c:v>29.9</c:v>
                </c:pt>
                <c:pt idx="111">
                  <c:v>29.9</c:v>
                </c:pt>
                <c:pt idx="112">
                  <c:v>29.9</c:v>
                </c:pt>
                <c:pt idx="113">
                  <c:v>29.9</c:v>
                </c:pt>
                <c:pt idx="114">
                  <c:v>29.9</c:v>
                </c:pt>
                <c:pt idx="115">
                  <c:v>29.9</c:v>
                </c:pt>
                <c:pt idx="116">
                  <c:v>29.9</c:v>
                </c:pt>
                <c:pt idx="117">
                  <c:v>29.9</c:v>
                </c:pt>
                <c:pt idx="118">
                  <c:v>29.9</c:v>
                </c:pt>
                <c:pt idx="119">
                  <c:v>29.9</c:v>
                </c:pt>
                <c:pt idx="120">
                  <c:v>29.9</c:v>
                </c:pt>
                <c:pt idx="121">
                  <c:v>29.9</c:v>
                </c:pt>
                <c:pt idx="122">
                  <c:v>29.9</c:v>
                </c:pt>
                <c:pt idx="123">
                  <c:v>29.9</c:v>
                </c:pt>
                <c:pt idx="124">
                  <c:v>29.9</c:v>
                </c:pt>
                <c:pt idx="125">
                  <c:v>29.9</c:v>
                </c:pt>
                <c:pt idx="126">
                  <c:v>29.9</c:v>
                </c:pt>
                <c:pt idx="127">
                  <c:v>29.9</c:v>
                </c:pt>
                <c:pt idx="128">
                  <c:v>29.9</c:v>
                </c:pt>
                <c:pt idx="129">
                  <c:v>29.9</c:v>
                </c:pt>
                <c:pt idx="130">
                  <c:v>29.9</c:v>
                </c:pt>
                <c:pt idx="131">
                  <c:v>29.9</c:v>
                </c:pt>
                <c:pt idx="132">
                  <c:v>29.9</c:v>
                </c:pt>
                <c:pt idx="133">
                  <c:v>29.9</c:v>
                </c:pt>
                <c:pt idx="134">
                  <c:v>29.9</c:v>
                </c:pt>
                <c:pt idx="135">
                  <c:v>29.9</c:v>
                </c:pt>
                <c:pt idx="136">
                  <c:v>29.9</c:v>
                </c:pt>
                <c:pt idx="137">
                  <c:v>29.9</c:v>
                </c:pt>
                <c:pt idx="138">
                  <c:v>29.9</c:v>
                </c:pt>
                <c:pt idx="139">
                  <c:v>29.9</c:v>
                </c:pt>
                <c:pt idx="140">
                  <c:v>29.9</c:v>
                </c:pt>
                <c:pt idx="141">
                  <c:v>29.9</c:v>
                </c:pt>
                <c:pt idx="142">
                  <c:v>29.9</c:v>
                </c:pt>
                <c:pt idx="143">
                  <c:v>29.9</c:v>
                </c:pt>
                <c:pt idx="144">
                  <c:v>29.9</c:v>
                </c:pt>
                <c:pt idx="145">
                  <c:v>29.9</c:v>
                </c:pt>
                <c:pt idx="146">
                  <c:v>29.9</c:v>
                </c:pt>
                <c:pt idx="147">
                  <c:v>29.9</c:v>
                </c:pt>
                <c:pt idx="148">
                  <c:v>29.9</c:v>
                </c:pt>
                <c:pt idx="149">
                  <c:v>29.9</c:v>
                </c:pt>
                <c:pt idx="150">
                  <c:v>29.9</c:v>
                </c:pt>
                <c:pt idx="151">
                  <c:v>29.9</c:v>
                </c:pt>
                <c:pt idx="152">
                  <c:v>29.9</c:v>
                </c:pt>
                <c:pt idx="153">
                  <c:v>29.9</c:v>
                </c:pt>
                <c:pt idx="154">
                  <c:v>29.9</c:v>
                </c:pt>
                <c:pt idx="155">
                  <c:v>29.9</c:v>
                </c:pt>
                <c:pt idx="156">
                  <c:v>29.9</c:v>
                </c:pt>
                <c:pt idx="157">
                  <c:v>29.9</c:v>
                </c:pt>
                <c:pt idx="158">
                  <c:v>29.9</c:v>
                </c:pt>
                <c:pt idx="159">
                  <c:v>29.9</c:v>
                </c:pt>
                <c:pt idx="160">
                  <c:v>29.9</c:v>
                </c:pt>
                <c:pt idx="161">
                  <c:v>29.9</c:v>
                </c:pt>
                <c:pt idx="162">
                  <c:v>29.9</c:v>
                </c:pt>
                <c:pt idx="163">
                  <c:v>29.9</c:v>
                </c:pt>
                <c:pt idx="164">
                  <c:v>29.9</c:v>
                </c:pt>
                <c:pt idx="165">
                  <c:v>29.9</c:v>
                </c:pt>
                <c:pt idx="166">
                  <c:v>29.9</c:v>
                </c:pt>
                <c:pt idx="167">
                  <c:v>29.9</c:v>
                </c:pt>
                <c:pt idx="168">
                  <c:v>29.9</c:v>
                </c:pt>
                <c:pt idx="169">
                  <c:v>29.9</c:v>
                </c:pt>
                <c:pt idx="170">
                  <c:v>29.9</c:v>
                </c:pt>
                <c:pt idx="171">
                  <c:v>29.9</c:v>
                </c:pt>
                <c:pt idx="172">
                  <c:v>29.9</c:v>
                </c:pt>
                <c:pt idx="173">
                  <c:v>29.9</c:v>
                </c:pt>
                <c:pt idx="174">
                  <c:v>29.9</c:v>
                </c:pt>
                <c:pt idx="175">
                  <c:v>29.9</c:v>
                </c:pt>
                <c:pt idx="176">
                  <c:v>29.9</c:v>
                </c:pt>
                <c:pt idx="177">
                  <c:v>29.9</c:v>
                </c:pt>
                <c:pt idx="178">
                  <c:v>29.9</c:v>
                </c:pt>
                <c:pt idx="179">
                  <c:v>29.9</c:v>
                </c:pt>
                <c:pt idx="180">
                  <c:v>29.9</c:v>
                </c:pt>
                <c:pt idx="181">
                  <c:v>29.9</c:v>
                </c:pt>
                <c:pt idx="182">
                  <c:v>29.9</c:v>
                </c:pt>
                <c:pt idx="183">
                  <c:v>29.9</c:v>
                </c:pt>
                <c:pt idx="184">
                  <c:v>29.9</c:v>
                </c:pt>
                <c:pt idx="185">
                  <c:v>29.9</c:v>
                </c:pt>
                <c:pt idx="186">
                  <c:v>29.9</c:v>
                </c:pt>
                <c:pt idx="187">
                  <c:v>29.9</c:v>
                </c:pt>
                <c:pt idx="188">
                  <c:v>29.9</c:v>
                </c:pt>
                <c:pt idx="189">
                  <c:v>29.9</c:v>
                </c:pt>
                <c:pt idx="190">
                  <c:v>29.9</c:v>
                </c:pt>
                <c:pt idx="191">
                  <c:v>29.9</c:v>
                </c:pt>
                <c:pt idx="192">
                  <c:v>29.9</c:v>
                </c:pt>
                <c:pt idx="193">
                  <c:v>29.9</c:v>
                </c:pt>
                <c:pt idx="194">
                  <c:v>29.9</c:v>
                </c:pt>
                <c:pt idx="195">
                  <c:v>29.9</c:v>
                </c:pt>
                <c:pt idx="196">
                  <c:v>29.9</c:v>
                </c:pt>
                <c:pt idx="197">
                  <c:v>29.9</c:v>
                </c:pt>
                <c:pt idx="198">
                  <c:v>29.9</c:v>
                </c:pt>
                <c:pt idx="199">
                  <c:v>29.9</c:v>
                </c:pt>
                <c:pt idx="200">
                  <c:v>29.9</c:v>
                </c:pt>
                <c:pt idx="201">
                  <c:v>29.9</c:v>
                </c:pt>
                <c:pt idx="202">
                  <c:v>29.9</c:v>
                </c:pt>
                <c:pt idx="203">
                  <c:v>29.9</c:v>
                </c:pt>
                <c:pt idx="204">
                  <c:v>29.9</c:v>
                </c:pt>
                <c:pt idx="205">
                  <c:v>29.9</c:v>
                </c:pt>
                <c:pt idx="206">
                  <c:v>29.9</c:v>
                </c:pt>
                <c:pt idx="207">
                  <c:v>29.9</c:v>
                </c:pt>
                <c:pt idx="208">
                  <c:v>29.9</c:v>
                </c:pt>
                <c:pt idx="209">
                  <c:v>29.9</c:v>
                </c:pt>
                <c:pt idx="210">
                  <c:v>29.9</c:v>
                </c:pt>
                <c:pt idx="211">
                  <c:v>29.9</c:v>
                </c:pt>
                <c:pt idx="212">
                  <c:v>29.9</c:v>
                </c:pt>
                <c:pt idx="213">
                  <c:v>29.9</c:v>
                </c:pt>
                <c:pt idx="214">
                  <c:v>29.9</c:v>
                </c:pt>
                <c:pt idx="215">
                  <c:v>29.9</c:v>
                </c:pt>
                <c:pt idx="216">
                  <c:v>29.9</c:v>
                </c:pt>
                <c:pt idx="217">
                  <c:v>29.9</c:v>
                </c:pt>
                <c:pt idx="218">
                  <c:v>29.9</c:v>
                </c:pt>
                <c:pt idx="219">
                  <c:v>29.9</c:v>
                </c:pt>
                <c:pt idx="220">
                  <c:v>29.9</c:v>
                </c:pt>
                <c:pt idx="221">
                  <c:v>29.9</c:v>
                </c:pt>
                <c:pt idx="222">
                  <c:v>29.9</c:v>
                </c:pt>
                <c:pt idx="223">
                  <c:v>29.9</c:v>
                </c:pt>
                <c:pt idx="224">
                  <c:v>29.9</c:v>
                </c:pt>
                <c:pt idx="225">
                  <c:v>29.9</c:v>
                </c:pt>
                <c:pt idx="226">
                  <c:v>29.9</c:v>
                </c:pt>
                <c:pt idx="227">
                  <c:v>29.9</c:v>
                </c:pt>
                <c:pt idx="228">
                  <c:v>29.9</c:v>
                </c:pt>
                <c:pt idx="229">
                  <c:v>29.9</c:v>
                </c:pt>
                <c:pt idx="230">
                  <c:v>29.9</c:v>
                </c:pt>
                <c:pt idx="231">
                  <c:v>29.9</c:v>
                </c:pt>
                <c:pt idx="232">
                  <c:v>29.9</c:v>
                </c:pt>
                <c:pt idx="233">
                  <c:v>29.9</c:v>
                </c:pt>
                <c:pt idx="234">
                  <c:v>29.9</c:v>
                </c:pt>
                <c:pt idx="235">
                  <c:v>29.9</c:v>
                </c:pt>
                <c:pt idx="236">
                  <c:v>29.9</c:v>
                </c:pt>
                <c:pt idx="237">
                  <c:v>29.9</c:v>
                </c:pt>
                <c:pt idx="238">
                  <c:v>29.9</c:v>
                </c:pt>
                <c:pt idx="239">
                  <c:v>29.9</c:v>
                </c:pt>
                <c:pt idx="240">
                  <c:v>29.9</c:v>
                </c:pt>
                <c:pt idx="241">
                  <c:v>29.9</c:v>
                </c:pt>
                <c:pt idx="242">
                  <c:v>29.9</c:v>
                </c:pt>
                <c:pt idx="243">
                  <c:v>29.9</c:v>
                </c:pt>
                <c:pt idx="244">
                  <c:v>29.9</c:v>
                </c:pt>
                <c:pt idx="245">
                  <c:v>29.9</c:v>
                </c:pt>
                <c:pt idx="246">
                  <c:v>29.9</c:v>
                </c:pt>
                <c:pt idx="247">
                  <c:v>29.9</c:v>
                </c:pt>
                <c:pt idx="248">
                  <c:v>29.9</c:v>
                </c:pt>
                <c:pt idx="249">
                  <c:v>29.9</c:v>
                </c:pt>
                <c:pt idx="250">
                  <c:v>29.9</c:v>
                </c:pt>
                <c:pt idx="251">
                  <c:v>29.9</c:v>
                </c:pt>
                <c:pt idx="252">
                  <c:v>29.9</c:v>
                </c:pt>
                <c:pt idx="253">
                  <c:v>29.9</c:v>
                </c:pt>
                <c:pt idx="254">
                  <c:v>29.9</c:v>
                </c:pt>
                <c:pt idx="255">
                  <c:v>29.9</c:v>
                </c:pt>
                <c:pt idx="256">
                  <c:v>29.9</c:v>
                </c:pt>
                <c:pt idx="257">
                  <c:v>29.9</c:v>
                </c:pt>
                <c:pt idx="258">
                  <c:v>29.9</c:v>
                </c:pt>
                <c:pt idx="259">
                  <c:v>29.9</c:v>
                </c:pt>
                <c:pt idx="260">
                  <c:v>29.9</c:v>
                </c:pt>
                <c:pt idx="261">
                  <c:v>29.9</c:v>
                </c:pt>
                <c:pt idx="262">
                  <c:v>29.9</c:v>
                </c:pt>
                <c:pt idx="263">
                  <c:v>29.9</c:v>
                </c:pt>
                <c:pt idx="264">
                  <c:v>29.9</c:v>
                </c:pt>
                <c:pt idx="265">
                  <c:v>29.9</c:v>
                </c:pt>
                <c:pt idx="266">
                  <c:v>29.9</c:v>
                </c:pt>
                <c:pt idx="267">
                  <c:v>29.9</c:v>
                </c:pt>
                <c:pt idx="268">
                  <c:v>29.9</c:v>
                </c:pt>
                <c:pt idx="269">
                  <c:v>29.9</c:v>
                </c:pt>
                <c:pt idx="270">
                  <c:v>29.9</c:v>
                </c:pt>
                <c:pt idx="271">
                  <c:v>29.9</c:v>
                </c:pt>
                <c:pt idx="272">
                  <c:v>29.9</c:v>
                </c:pt>
                <c:pt idx="273">
                  <c:v>29.9</c:v>
                </c:pt>
                <c:pt idx="274">
                  <c:v>29.9</c:v>
                </c:pt>
                <c:pt idx="275">
                  <c:v>29.9</c:v>
                </c:pt>
                <c:pt idx="276">
                  <c:v>29.9</c:v>
                </c:pt>
                <c:pt idx="277">
                  <c:v>29.9</c:v>
                </c:pt>
                <c:pt idx="278">
                  <c:v>29.9</c:v>
                </c:pt>
                <c:pt idx="279">
                  <c:v>29.9</c:v>
                </c:pt>
                <c:pt idx="280">
                  <c:v>29.9</c:v>
                </c:pt>
                <c:pt idx="281">
                  <c:v>29.9</c:v>
                </c:pt>
                <c:pt idx="282">
                  <c:v>29.9</c:v>
                </c:pt>
                <c:pt idx="283">
                  <c:v>29.9</c:v>
                </c:pt>
                <c:pt idx="284">
                  <c:v>29.9</c:v>
                </c:pt>
                <c:pt idx="285">
                  <c:v>29.9</c:v>
                </c:pt>
                <c:pt idx="286">
                  <c:v>29.9</c:v>
                </c:pt>
                <c:pt idx="287">
                  <c:v>29.9</c:v>
                </c:pt>
                <c:pt idx="288">
                  <c:v>29.9</c:v>
                </c:pt>
                <c:pt idx="289">
                  <c:v>29.9</c:v>
                </c:pt>
                <c:pt idx="290">
                  <c:v>29.9</c:v>
                </c:pt>
                <c:pt idx="291">
                  <c:v>29.9</c:v>
                </c:pt>
                <c:pt idx="292">
                  <c:v>29.9</c:v>
                </c:pt>
                <c:pt idx="293">
                  <c:v>29.9</c:v>
                </c:pt>
                <c:pt idx="294">
                  <c:v>29.9</c:v>
                </c:pt>
                <c:pt idx="295">
                  <c:v>29.9</c:v>
                </c:pt>
                <c:pt idx="296">
                  <c:v>29.9</c:v>
                </c:pt>
                <c:pt idx="297">
                  <c:v>29.9</c:v>
                </c:pt>
                <c:pt idx="298">
                  <c:v>29.9</c:v>
                </c:pt>
                <c:pt idx="299">
                  <c:v>29.9</c:v>
                </c:pt>
                <c:pt idx="300">
                  <c:v>29.9</c:v>
                </c:pt>
                <c:pt idx="301">
                  <c:v>29.9</c:v>
                </c:pt>
                <c:pt idx="302">
                  <c:v>29.9</c:v>
                </c:pt>
                <c:pt idx="303">
                  <c:v>29.9</c:v>
                </c:pt>
                <c:pt idx="304">
                  <c:v>29.9</c:v>
                </c:pt>
                <c:pt idx="305">
                  <c:v>29.9</c:v>
                </c:pt>
                <c:pt idx="306">
                  <c:v>29.9</c:v>
                </c:pt>
                <c:pt idx="307">
                  <c:v>29.9</c:v>
                </c:pt>
                <c:pt idx="308">
                  <c:v>29.9</c:v>
                </c:pt>
                <c:pt idx="309">
                  <c:v>29.9</c:v>
                </c:pt>
                <c:pt idx="310">
                  <c:v>29.9</c:v>
                </c:pt>
                <c:pt idx="311">
                  <c:v>29.9</c:v>
                </c:pt>
                <c:pt idx="312">
                  <c:v>29.9</c:v>
                </c:pt>
                <c:pt idx="313">
                  <c:v>29.9</c:v>
                </c:pt>
                <c:pt idx="314">
                  <c:v>29.9</c:v>
                </c:pt>
                <c:pt idx="315">
                  <c:v>29.9</c:v>
                </c:pt>
                <c:pt idx="316">
                  <c:v>29.9</c:v>
                </c:pt>
                <c:pt idx="317">
                  <c:v>29.9</c:v>
                </c:pt>
                <c:pt idx="318">
                  <c:v>29.9</c:v>
                </c:pt>
                <c:pt idx="319">
                  <c:v>29.9</c:v>
                </c:pt>
                <c:pt idx="320">
                  <c:v>29.9</c:v>
                </c:pt>
                <c:pt idx="321">
                  <c:v>29.9</c:v>
                </c:pt>
                <c:pt idx="322">
                  <c:v>29.9</c:v>
                </c:pt>
                <c:pt idx="323">
                  <c:v>29.9</c:v>
                </c:pt>
                <c:pt idx="324">
                  <c:v>29.9</c:v>
                </c:pt>
                <c:pt idx="325">
                  <c:v>29.9</c:v>
                </c:pt>
                <c:pt idx="326">
                  <c:v>29.9</c:v>
                </c:pt>
                <c:pt idx="327">
                  <c:v>29.9</c:v>
                </c:pt>
                <c:pt idx="328">
                  <c:v>29.9</c:v>
                </c:pt>
                <c:pt idx="329">
                  <c:v>29.9</c:v>
                </c:pt>
                <c:pt idx="330">
                  <c:v>29.9</c:v>
                </c:pt>
                <c:pt idx="331">
                  <c:v>29.9</c:v>
                </c:pt>
                <c:pt idx="332">
                  <c:v>29.9</c:v>
                </c:pt>
                <c:pt idx="333">
                  <c:v>29.9</c:v>
                </c:pt>
                <c:pt idx="334">
                  <c:v>29.9</c:v>
                </c:pt>
                <c:pt idx="335">
                  <c:v>29.9</c:v>
                </c:pt>
                <c:pt idx="336">
                  <c:v>29.9</c:v>
                </c:pt>
                <c:pt idx="337">
                  <c:v>29.9</c:v>
                </c:pt>
                <c:pt idx="338">
                  <c:v>29.9</c:v>
                </c:pt>
                <c:pt idx="339">
                  <c:v>29.9</c:v>
                </c:pt>
                <c:pt idx="340">
                  <c:v>29.9</c:v>
                </c:pt>
                <c:pt idx="341">
                  <c:v>29.9</c:v>
                </c:pt>
                <c:pt idx="342">
                  <c:v>29.9</c:v>
                </c:pt>
                <c:pt idx="343">
                  <c:v>29.9</c:v>
                </c:pt>
                <c:pt idx="344">
                  <c:v>29.9</c:v>
                </c:pt>
                <c:pt idx="345">
                  <c:v>29.9</c:v>
                </c:pt>
                <c:pt idx="346">
                  <c:v>29.9</c:v>
                </c:pt>
                <c:pt idx="347">
                  <c:v>29.9</c:v>
                </c:pt>
                <c:pt idx="348">
                  <c:v>29.9</c:v>
                </c:pt>
                <c:pt idx="349">
                  <c:v>29.9</c:v>
                </c:pt>
                <c:pt idx="350">
                  <c:v>29.9</c:v>
                </c:pt>
                <c:pt idx="351">
                  <c:v>29.9</c:v>
                </c:pt>
                <c:pt idx="352">
                  <c:v>29.9</c:v>
                </c:pt>
                <c:pt idx="353">
                  <c:v>29.9</c:v>
                </c:pt>
                <c:pt idx="354">
                  <c:v>29.9</c:v>
                </c:pt>
                <c:pt idx="355">
                  <c:v>29.9</c:v>
                </c:pt>
                <c:pt idx="356">
                  <c:v>29.9</c:v>
                </c:pt>
                <c:pt idx="357">
                  <c:v>29.9</c:v>
                </c:pt>
                <c:pt idx="358">
                  <c:v>29.9</c:v>
                </c:pt>
                <c:pt idx="359">
                  <c:v>29.9</c:v>
                </c:pt>
                <c:pt idx="360">
                  <c:v>29.9</c:v>
                </c:pt>
                <c:pt idx="361">
                  <c:v>29.9</c:v>
                </c:pt>
                <c:pt idx="362">
                  <c:v>29.9</c:v>
                </c:pt>
                <c:pt idx="363">
                  <c:v>29.9</c:v>
                </c:pt>
                <c:pt idx="364">
                  <c:v>29.9</c:v>
                </c:pt>
                <c:pt idx="365">
                  <c:v>29.9</c:v>
                </c:pt>
                <c:pt idx="366">
                  <c:v>29.9</c:v>
                </c:pt>
                <c:pt idx="367">
                  <c:v>29.9</c:v>
                </c:pt>
                <c:pt idx="368">
                  <c:v>29.9</c:v>
                </c:pt>
                <c:pt idx="369">
                  <c:v>29.9</c:v>
                </c:pt>
                <c:pt idx="370">
                  <c:v>29.9</c:v>
                </c:pt>
                <c:pt idx="371">
                  <c:v>29.9</c:v>
                </c:pt>
                <c:pt idx="372">
                  <c:v>29.9</c:v>
                </c:pt>
                <c:pt idx="373">
                  <c:v>29.9</c:v>
                </c:pt>
                <c:pt idx="374">
                  <c:v>29.9</c:v>
                </c:pt>
                <c:pt idx="375">
                  <c:v>29.9</c:v>
                </c:pt>
                <c:pt idx="376">
                  <c:v>29.9</c:v>
                </c:pt>
                <c:pt idx="377">
                  <c:v>29.9</c:v>
                </c:pt>
                <c:pt idx="378">
                  <c:v>29.9</c:v>
                </c:pt>
                <c:pt idx="379">
                  <c:v>29.9</c:v>
                </c:pt>
                <c:pt idx="380">
                  <c:v>29.9</c:v>
                </c:pt>
                <c:pt idx="381">
                  <c:v>29.9</c:v>
                </c:pt>
                <c:pt idx="382">
                  <c:v>29.9</c:v>
                </c:pt>
                <c:pt idx="383">
                  <c:v>29.9</c:v>
                </c:pt>
                <c:pt idx="384">
                  <c:v>29.9</c:v>
                </c:pt>
                <c:pt idx="385">
                  <c:v>29.9</c:v>
                </c:pt>
                <c:pt idx="386">
                  <c:v>29.9</c:v>
                </c:pt>
                <c:pt idx="387">
                  <c:v>29.9</c:v>
                </c:pt>
                <c:pt idx="388">
                  <c:v>29.9</c:v>
                </c:pt>
                <c:pt idx="389">
                  <c:v>29.9</c:v>
                </c:pt>
                <c:pt idx="390">
                  <c:v>29.9</c:v>
                </c:pt>
                <c:pt idx="391">
                  <c:v>29.9</c:v>
                </c:pt>
                <c:pt idx="392">
                  <c:v>29.9</c:v>
                </c:pt>
                <c:pt idx="393">
                  <c:v>29.9</c:v>
                </c:pt>
                <c:pt idx="394">
                  <c:v>29.9</c:v>
                </c:pt>
                <c:pt idx="395">
                  <c:v>29.9</c:v>
                </c:pt>
                <c:pt idx="396">
                  <c:v>29.9</c:v>
                </c:pt>
                <c:pt idx="397">
                  <c:v>29.9</c:v>
                </c:pt>
                <c:pt idx="398">
                  <c:v>29.9</c:v>
                </c:pt>
                <c:pt idx="399">
                  <c:v>29.9</c:v>
                </c:pt>
                <c:pt idx="400">
                  <c:v>29.9</c:v>
                </c:pt>
                <c:pt idx="401">
                  <c:v>29.9</c:v>
                </c:pt>
                <c:pt idx="402">
                  <c:v>29.9</c:v>
                </c:pt>
                <c:pt idx="403">
                  <c:v>29.9</c:v>
                </c:pt>
                <c:pt idx="404">
                  <c:v>29.9</c:v>
                </c:pt>
                <c:pt idx="405">
                  <c:v>29.9</c:v>
                </c:pt>
                <c:pt idx="406">
                  <c:v>29.9</c:v>
                </c:pt>
                <c:pt idx="407">
                  <c:v>29.9</c:v>
                </c:pt>
                <c:pt idx="408">
                  <c:v>29.9</c:v>
                </c:pt>
                <c:pt idx="409">
                  <c:v>29.9</c:v>
                </c:pt>
                <c:pt idx="410">
                  <c:v>29.9</c:v>
                </c:pt>
                <c:pt idx="411">
                  <c:v>29.9</c:v>
                </c:pt>
                <c:pt idx="412">
                  <c:v>29.9</c:v>
                </c:pt>
                <c:pt idx="413">
                  <c:v>29.9</c:v>
                </c:pt>
                <c:pt idx="414">
                  <c:v>29.9</c:v>
                </c:pt>
                <c:pt idx="415">
                  <c:v>29.9</c:v>
                </c:pt>
                <c:pt idx="416">
                  <c:v>29.9</c:v>
                </c:pt>
                <c:pt idx="417">
                  <c:v>29.9</c:v>
                </c:pt>
                <c:pt idx="418">
                  <c:v>29.9</c:v>
                </c:pt>
                <c:pt idx="419">
                  <c:v>29.9</c:v>
                </c:pt>
                <c:pt idx="420">
                  <c:v>29.9</c:v>
                </c:pt>
                <c:pt idx="421">
                  <c:v>29.9</c:v>
                </c:pt>
                <c:pt idx="422">
                  <c:v>29.9</c:v>
                </c:pt>
                <c:pt idx="423">
                  <c:v>29.9</c:v>
                </c:pt>
                <c:pt idx="424">
                  <c:v>9.4085129032258052</c:v>
                </c:pt>
                <c:pt idx="425">
                  <c:v>9.8024100000000001</c:v>
                </c:pt>
                <c:pt idx="426">
                  <c:v>4.5810612903225794</c:v>
                </c:pt>
                <c:pt idx="427">
                  <c:v>1.0723892857142856</c:v>
                </c:pt>
              </c:numCache>
            </c:numRef>
          </c:val>
          <c:smooth val="0"/>
          <c:extLst>
            <c:ext xmlns:c16="http://schemas.microsoft.com/office/drawing/2014/chart" uri="{C3380CC4-5D6E-409C-BE32-E72D297353CC}">
              <c16:uniqueId val="{00000004-7D82-4116-ACD2-A2460439D5C7}"/>
            </c:ext>
          </c:extLst>
        </c:ser>
        <c:dLbls>
          <c:showLegendKey val="0"/>
          <c:showVal val="0"/>
          <c:showCatName val="0"/>
          <c:showSerName val="0"/>
          <c:showPercent val="0"/>
          <c:showBubbleSize val="0"/>
        </c:dLbls>
        <c:marker val="1"/>
        <c:smooth val="0"/>
        <c:axId val="444334696"/>
        <c:axId val="444339944"/>
        <c:extLst>
          <c:ext xmlns:c15="http://schemas.microsoft.com/office/drawing/2012/chart" uri="{02D57815-91ED-43cb-92C2-25804820EDAC}">
            <c15:filteredLineSeries>
              <c15:ser>
                <c:idx val="3"/>
                <c:order val="3"/>
                <c:tx>
                  <c:strRef>
                    <c:extLst>
                      <c:ext uri="{02D57815-91ED-43cb-92C2-25804820EDAC}">
                        <c15:formulaRef>
                          <c15:sqref>Final!$G$1</c15:sqref>
                        </c15:formulaRef>
                      </c:ext>
                    </c:extLst>
                    <c:strCache>
                      <c:ptCount val="1"/>
                      <c:pt idx="0">
                        <c:v>Annual Mean</c:v>
                      </c:pt>
                    </c:strCache>
                  </c:strRef>
                </c:tx>
                <c:spPr>
                  <a:ln w="15875" cap="rnd">
                    <a:solidFill>
                      <a:schemeClr val="bg1">
                        <a:lumMod val="65000"/>
                      </a:schemeClr>
                    </a:solidFill>
                    <a:prstDash val="solid"/>
                    <a:round/>
                  </a:ln>
                  <a:effectLst/>
                </c:spPr>
                <c:marker>
                  <c:symbol val="none"/>
                </c:marker>
                <c:cat>
                  <c:numRef>
                    <c:extLst>
                      <c:ext uri="{02D57815-91ED-43cb-92C2-25804820EDAC}">
                        <c15:formulaRef>
                          <c15:sqref>Final!$C$2:$C$425</c15:sqref>
                        </c15:formulaRef>
                      </c:ext>
                    </c:extLst>
                    <c:numCache>
                      <c:formatCode>General</c:formatCode>
                      <c:ptCount val="424"/>
                      <c:pt idx="0">
                        <c:v>1985</c:v>
                      </c:pt>
                      <c:pt idx="12">
                        <c:v>1986</c:v>
                      </c:pt>
                      <c:pt idx="24">
                        <c:v>1987</c:v>
                      </c:pt>
                      <c:pt idx="36">
                        <c:v>1988</c:v>
                      </c:pt>
                      <c:pt idx="48">
                        <c:v>1989</c:v>
                      </c:pt>
                      <c:pt idx="60">
                        <c:v>1990</c:v>
                      </c:pt>
                      <c:pt idx="72">
                        <c:v>1991</c:v>
                      </c:pt>
                      <c:pt idx="84">
                        <c:v>1992</c:v>
                      </c:pt>
                      <c:pt idx="96">
                        <c:v>1993</c:v>
                      </c:pt>
                      <c:pt idx="108">
                        <c:v>1994</c:v>
                      </c:pt>
                      <c:pt idx="120">
                        <c:v>1995</c:v>
                      </c:pt>
                      <c:pt idx="132">
                        <c:v>1996</c:v>
                      </c:pt>
                      <c:pt idx="144">
                        <c:v>1997</c:v>
                      </c:pt>
                      <c:pt idx="156">
                        <c:v>1998</c:v>
                      </c:pt>
                      <c:pt idx="168">
                        <c:v>1999</c:v>
                      </c:pt>
                      <c:pt idx="180">
                        <c:v>2000</c:v>
                      </c:pt>
                      <c:pt idx="192">
                        <c:v>2001</c:v>
                      </c:pt>
                      <c:pt idx="204">
                        <c:v>2002</c:v>
                      </c:pt>
                      <c:pt idx="216">
                        <c:v>2003</c:v>
                      </c:pt>
                      <c:pt idx="228">
                        <c:v>2004</c:v>
                      </c:pt>
                      <c:pt idx="240">
                        <c:v>2005</c:v>
                      </c:pt>
                      <c:pt idx="252">
                        <c:v>2006</c:v>
                      </c:pt>
                      <c:pt idx="264">
                        <c:v>2007</c:v>
                      </c:pt>
                      <c:pt idx="276">
                        <c:v>2008</c:v>
                      </c:pt>
                      <c:pt idx="288">
                        <c:v>2009</c:v>
                      </c:pt>
                      <c:pt idx="300">
                        <c:v>2010</c:v>
                      </c:pt>
                      <c:pt idx="312">
                        <c:v>2011</c:v>
                      </c:pt>
                      <c:pt idx="324">
                        <c:v>2012</c:v>
                      </c:pt>
                      <c:pt idx="336">
                        <c:v>2013</c:v>
                      </c:pt>
                      <c:pt idx="348">
                        <c:v>2014</c:v>
                      </c:pt>
                      <c:pt idx="360">
                        <c:v>2015</c:v>
                      </c:pt>
                      <c:pt idx="372">
                        <c:v>2016</c:v>
                      </c:pt>
                      <c:pt idx="384">
                        <c:v>2017</c:v>
                      </c:pt>
                      <c:pt idx="396">
                        <c:v>2018</c:v>
                      </c:pt>
                      <c:pt idx="408">
                        <c:v>2019</c:v>
                      </c:pt>
                      <c:pt idx="420">
                        <c:v>2020</c:v>
                      </c:pt>
                    </c:numCache>
                  </c:numRef>
                </c:cat>
                <c:val>
                  <c:numRef>
                    <c:extLst>
                      <c:ext uri="{02D57815-91ED-43cb-92C2-25804820EDAC}">
                        <c15:formulaRef>
                          <c15:sqref>Final!$G$2:$G$433</c15:sqref>
                        </c15:formulaRef>
                      </c:ext>
                    </c:extLst>
                    <c:numCache>
                      <c:formatCode>General</c:formatCode>
                      <c:ptCount val="432"/>
                      <c:pt idx="0">
                        <c:v>28.965800000000002</c:v>
                      </c:pt>
                      <c:pt idx="1">
                        <c:v>28.965800000000002</c:v>
                      </c:pt>
                      <c:pt idx="2">
                        <c:v>28.965800000000002</c:v>
                      </c:pt>
                      <c:pt idx="3">
                        <c:v>28.965800000000002</c:v>
                      </c:pt>
                      <c:pt idx="4">
                        <c:v>28.965800000000002</c:v>
                      </c:pt>
                      <c:pt idx="5">
                        <c:v>28.965800000000002</c:v>
                      </c:pt>
                      <c:pt idx="6">
                        <c:v>28.965800000000002</c:v>
                      </c:pt>
                      <c:pt idx="7">
                        <c:v>28.965800000000002</c:v>
                      </c:pt>
                      <c:pt idx="8">
                        <c:v>28.965800000000002</c:v>
                      </c:pt>
                      <c:pt idx="9">
                        <c:v>28.965800000000002</c:v>
                      </c:pt>
                      <c:pt idx="10">
                        <c:v>28.965800000000002</c:v>
                      </c:pt>
                      <c:pt idx="11">
                        <c:v>28.965800000000002</c:v>
                      </c:pt>
                      <c:pt idx="12">
                        <c:v>28.965800000000002</c:v>
                      </c:pt>
                      <c:pt idx="13">
                        <c:v>28.965800000000002</c:v>
                      </c:pt>
                      <c:pt idx="14">
                        <c:v>28.965800000000002</c:v>
                      </c:pt>
                      <c:pt idx="15">
                        <c:v>28.965800000000002</c:v>
                      </c:pt>
                      <c:pt idx="16">
                        <c:v>28.965800000000002</c:v>
                      </c:pt>
                      <c:pt idx="17">
                        <c:v>28.965800000000002</c:v>
                      </c:pt>
                      <c:pt idx="18">
                        <c:v>28.965800000000002</c:v>
                      </c:pt>
                      <c:pt idx="19">
                        <c:v>28.965800000000002</c:v>
                      </c:pt>
                      <c:pt idx="20">
                        <c:v>28.965800000000002</c:v>
                      </c:pt>
                      <c:pt idx="21">
                        <c:v>28.965800000000002</c:v>
                      </c:pt>
                      <c:pt idx="22">
                        <c:v>28.965800000000002</c:v>
                      </c:pt>
                      <c:pt idx="23">
                        <c:v>28.965800000000002</c:v>
                      </c:pt>
                      <c:pt idx="24">
                        <c:v>28.965800000000002</c:v>
                      </c:pt>
                      <c:pt idx="25">
                        <c:v>28.965800000000002</c:v>
                      </c:pt>
                      <c:pt idx="26">
                        <c:v>28.965800000000002</c:v>
                      </c:pt>
                      <c:pt idx="27">
                        <c:v>28.965800000000002</c:v>
                      </c:pt>
                      <c:pt idx="28">
                        <c:v>28.965800000000002</c:v>
                      </c:pt>
                      <c:pt idx="29">
                        <c:v>28.965800000000002</c:v>
                      </c:pt>
                      <c:pt idx="30">
                        <c:v>28.965800000000002</c:v>
                      </c:pt>
                      <c:pt idx="31">
                        <c:v>28.965800000000002</c:v>
                      </c:pt>
                      <c:pt idx="32">
                        <c:v>28.965800000000002</c:v>
                      </c:pt>
                      <c:pt idx="33">
                        <c:v>28.965800000000002</c:v>
                      </c:pt>
                      <c:pt idx="34">
                        <c:v>28.965800000000002</c:v>
                      </c:pt>
                      <c:pt idx="35">
                        <c:v>28.965800000000002</c:v>
                      </c:pt>
                      <c:pt idx="36">
                        <c:v>28.965800000000002</c:v>
                      </c:pt>
                      <c:pt idx="37">
                        <c:v>28.965800000000002</c:v>
                      </c:pt>
                      <c:pt idx="38">
                        <c:v>28.965800000000002</c:v>
                      </c:pt>
                      <c:pt idx="39">
                        <c:v>28.965800000000002</c:v>
                      </c:pt>
                      <c:pt idx="40">
                        <c:v>28.965800000000002</c:v>
                      </c:pt>
                      <c:pt idx="41">
                        <c:v>28.965800000000002</c:v>
                      </c:pt>
                      <c:pt idx="42">
                        <c:v>28.965800000000002</c:v>
                      </c:pt>
                      <c:pt idx="43">
                        <c:v>28.965800000000002</c:v>
                      </c:pt>
                      <c:pt idx="44">
                        <c:v>28.965800000000002</c:v>
                      </c:pt>
                      <c:pt idx="45">
                        <c:v>28.965800000000002</c:v>
                      </c:pt>
                      <c:pt idx="46">
                        <c:v>28.965800000000002</c:v>
                      </c:pt>
                      <c:pt idx="47">
                        <c:v>28.965800000000002</c:v>
                      </c:pt>
                      <c:pt idx="48">
                        <c:v>28.965800000000002</c:v>
                      </c:pt>
                      <c:pt idx="49">
                        <c:v>28.965800000000002</c:v>
                      </c:pt>
                      <c:pt idx="50">
                        <c:v>28.965800000000002</c:v>
                      </c:pt>
                      <c:pt idx="51">
                        <c:v>28.965800000000002</c:v>
                      </c:pt>
                      <c:pt idx="52">
                        <c:v>28.965800000000002</c:v>
                      </c:pt>
                      <c:pt idx="53">
                        <c:v>28.965800000000002</c:v>
                      </c:pt>
                      <c:pt idx="54">
                        <c:v>28.965800000000002</c:v>
                      </c:pt>
                      <c:pt idx="55">
                        <c:v>28.965800000000002</c:v>
                      </c:pt>
                      <c:pt idx="56">
                        <c:v>28.965800000000002</c:v>
                      </c:pt>
                      <c:pt idx="57">
                        <c:v>28.965800000000002</c:v>
                      </c:pt>
                      <c:pt idx="58">
                        <c:v>28.965800000000002</c:v>
                      </c:pt>
                      <c:pt idx="59">
                        <c:v>28.965800000000002</c:v>
                      </c:pt>
                      <c:pt idx="60">
                        <c:v>28.965800000000002</c:v>
                      </c:pt>
                      <c:pt idx="61">
                        <c:v>28.965800000000002</c:v>
                      </c:pt>
                      <c:pt idx="62">
                        <c:v>28.965800000000002</c:v>
                      </c:pt>
                      <c:pt idx="63">
                        <c:v>28.965800000000002</c:v>
                      </c:pt>
                      <c:pt idx="64">
                        <c:v>28.965800000000002</c:v>
                      </c:pt>
                      <c:pt idx="65">
                        <c:v>28.965800000000002</c:v>
                      </c:pt>
                      <c:pt idx="66">
                        <c:v>28.965800000000002</c:v>
                      </c:pt>
                      <c:pt idx="67">
                        <c:v>28.965800000000002</c:v>
                      </c:pt>
                      <c:pt idx="68">
                        <c:v>28.965800000000002</c:v>
                      </c:pt>
                      <c:pt idx="69">
                        <c:v>28.965800000000002</c:v>
                      </c:pt>
                      <c:pt idx="70">
                        <c:v>28.965800000000002</c:v>
                      </c:pt>
                      <c:pt idx="71">
                        <c:v>28.965800000000002</c:v>
                      </c:pt>
                      <c:pt idx="72">
                        <c:v>28.965800000000002</c:v>
                      </c:pt>
                      <c:pt idx="73">
                        <c:v>28.965800000000002</c:v>
                      </c:pt>
                      <c:pt idx="74">
                        <c:v>28.965800000000002</c:v>
                      </c:pt>
                      <c:pt idx="75">
                        <c:v>28.965800000000002</c:v>
                      </c:pt>
                      <c:pt idx="76">
                        <c:v>28.965800000000002</c:v>
                      </c:pt>
                      <c:pt idx="77">
                        <c:v>28.965800000000002</c:v>
                      </c:pt>
                      <c:pt idx="78">
                        <c:v>28.965800000000002</c:v>
                      </c:pt>
                      <c:pt idx="79">
                        <c:v>28.965800000000002</c:v>
                      </c:pt>
                      <c:pt idx="80">
                        <c:v>28.965800000000002</c:v>
                      </c:pt>
                      <c:pt idx="81">
                        <c:v>28.965800000000002</c:v>
                      </c:pt>
                      <c:pt idx="82">
                        <c:v>28.965800000000002</c:v>
                      </c:pt>
                      <c:pt idx="83">
                        <c:v>28.965800000000002</c:v>
                      </c:pt>
                      <c:pt idx="84">
                        <c:v>28.965800000000002</c:v>
                      </c:pt>
                      <c:pt idx="85">
                        <c:v>28.965800000000002</c:v>
                      </c:pt>
                      <c:pt idx="86">
                        <c:v>28.965800000000002</c:v>
                      </c:pt>
                      <c:pt idx="87">
                        <c:v>28.965800000000002</c:v>
                      </c:pt>
                      <c:pt idx="88">
                        <c:v>28.965800000000002</c:v>
                      </c:pt>
                      <c:pt idx="89">
                        <c:v>28.965800000000002</c:v>
                      </c:pt>
                      <c:pt idx="90">
                        <c:v>28.965800000000002</c:v>
                      </c:pt>
                      <c:pt idx="91">
                        <c:v>28.965800000000002</c:v>
                      </c:pt>
                      <c:pt idx="92">
                        <c:v>28.965800000000002</c:v>
                      </c:pt>
                      <c:pt idx="93">
                        <c:v>28.965800000000002</c:v>
                      </c:pt>
                      <c:pt idx="94">
                        <c:v>28.965800000000002</c:v>
                      </c:pt>
                      <c:pt idx="95">
                        <c:v>28.965800000000002</c:v>
                      </c:pt>
                      <c:pt idx="96">
                        <c:v>28.965800000000002</c:v>
                      </c:pt>
                      <c:pt idx="97">
                        <c:v>28.965800000000002</c:v>
                      </c:pt>
                      <c:pt idx="98">
                        <c:v>28.965800000000002</c:v>
                      </c:pt>
                      <c:pt idx="99">
                        <c:v>28.965800000000002</c:v>
                      </c:pt>
                      <c:pt idx="100">
                        <c:v>28.965800000000002</c:v>
                      </c:pt>
                      <c:pt idx="101">
                        <c:v>28.965800000000002</c:v>
                      </c:pt>
                      <c:pt idx="102">
                        <c:v>28.965800000000002</c:v>
                      </c:pt>
                      <c:pt idx="103">
                        <c:v>28.965800000000002</c:v>
                      </c:pt>
                      <c:pt idx="104">
                        <c:v>28.965800000000002</c:v>
                      </c:pt>
                      <c:pt idx="105">
                        <c:v>28.965800000000002</c:v>
                      </c:pt>
                      <c:pt idx="106">
                        <c:v>28.965800000000002</c:v>
                      </c:pt>
                      <c:pt idx="107">
                        <c:v>28.965800000000002</c:v>
                      </c:pt>
                      <c:pt idx="108">
                        <c:v>28.965800000000002</c:v>
                      </c:pt>
                      <c:pt idx="109">
                        <c:v>28.965800000000002</c:v>
                      </c:pt>
                      <c:pt idx="110">
                        <c:v>28.965800000000002</c:v>
                      </c:pt>
                      <c:pt idx="111">
                        <c:v>28.965800000000002</c:v>
                      </c:pt>
                      <c:pt idx="112">
                        <c:v>28.965800000000002</c:v>
                      </c:pt>
                      <c:pt idx="113">
                        <c:v>28.965800000000002</c:v>
                      </c:pt>
                      <c:pt idx="114">
                        <c:v>28.965800000000002</c:v>
                      </c:pt>
                      <c:pt idx="115">
                        <c:v>28.965800000000002</c:v>
                      </c:pt>
                      <c:pt idx="116">
                        <c:v>28.965800000000002</c:v>
                      </c:pt>
                      <c:pt idx="117">
                        <c:v>28.965800000000002</c:v>
                      </c:pt>
                      <c:pt idx="118">
                        <c:v>28.965800000000002</c:v>
                      </c:pt>
                      <c:pt idx="119">
                        <c:v>28.965800000000002</c:v>
                      </c:pt>
                      <c:pt idx="120">
                        <c:v>28.965800000000002</c:v>
                      </c:pt>
                      <c:pt idx="121">
                        <c:v>28.965800000000002</c:v>
                      </c:pt>
                      <c:pt idx="122">
                        <c:v>28.965800000000002</c:v>
                      </c:pt>
                      <c:pt idx="123">
                        <c:v>28.965800000000002</c:v>
                      </c:pt>
                      <c:pt idx="124">
                        <c:v>28.965800000000002</c:v>
                      </c:pt>
                      <c:pt idx="125">
                        <c:v>28.965800000000002</c:v>
                      </c:pt>
                      <c:pt idx="126">
                        <c:v>28.965800000000002</c:v>
                      </c:pt>
                      <c:pt idx="127">
                        <c:v>28.965800000000002</c:v>
                      </c:pt>
                      <c:pt idx="128">
                        <c:v>28.965800000000002</c:v>
                      </c:pt>
                      <c:pt idx="129">
                        <c:v>28.965800000000002</c:v>
                      </c:pt>
                      <c:pt idx="130">
                        <c:v>28.965800000000002</c:v>
                      </c:pt>
                      <c:pt idx="131">
                        <c:v>28.965800000000002</c:v>
                      </c:pt>
                      <c:pt idx="132">
                        <c:v>28.965800000000002</c:v>
                      </c:pt>
                      <c:pt idx="133">
                        <c:v>28.965800000000002</c:v>
                      </c:pt>
                      <c:pt idx="134">
                        <c:v>28.965800000000002</c:v>
                      </c:pt>
                      <c:pt idx="135">
                        <c:v>28.965800000000002</c:v>
                      </c:pt>
                      <c:pt idx="136">
                        <c:v>28.965800000000002</c:v>
                      </c:pt>
                      <c:pt idx="137">
                        <c:v>28.965800000000002</c:v>
                      </c:pt>
                      <c:pt idx="138">
                        <c:v>28.965800000000002</c:v>
                      </c:pt>
                      <c:pt idx="139">
                        <c:v>28.965800000000002</c:v>
                      </c:pt>
                      <c:pt idx="140">
                        <c:v>28.965800000000002</c:v>
                      </c:pt>
                      <c:pt idx="141">
                        <c:v>28.965800000000002</c:v>
                      </c:pt>
                      <c:pt idx="142">
                        <c:v>28.965800000000002</c:v>
                      </c:pt>
                      <c:pt idx="143">
                        <c:v>28.965800000000002</c:v>
                      </c:pt>
                      <c:pt idx="144">
                        <c:v>28.965800000000002</c:v>
                      </c:pt>
                      <c:pt idx="145">
                        <c:v>28.965800000000002</c:v>
                      </c:pt>
                      <c:pt idx="146">
                        <c:v>28.965800000000002</c:v>
                      </c:pt>
                      <c:pt idx="147">
                        <c:v>28.965800000000002</c:v>
                      </c:pt>
                      <c:pt idx="148">
                        <c:v>28.965800000000002</c:v>
                      </c:pt>
                      <c:pt idx="149">
                        <c:v>28.965800000000002</c:v>
                      </c:pt>
                      <c:pt idx="150">
                        <c:v>28.965800000000002</c:v>
                      </c:pt>
                      <c:pt idx="151">
                        <c:v>28.965800000000002</c:v>
                      </c:pt>
                      <c:pt idx="152">
                        <c:v>28.965800000000002</c:v>
                      </c:pt>
                      <c:pt idx="153">
                        <c:v>28.965800000000002</c:v>
                      </c:pt>
                      <c:pt idx="154">
                        <c:v>28.965800000000002</c:v>
                      </c:pt>
                      <c:pt idx="155">
                        <c:v>28.965800000000002</c:v>
                      </c:pt>
                      <c:pt idx="156">
                        <c:v>28.965800000000002</c:v>
                      </c:pt>
                      <c:pt idx="157">
                        <c:v>28.965800000000002</c:v>
                      </c:pt>
                      <c:pt idx="158">
                        <c:v>28.965800000000002</c:v>
                      </c:pt>
                      <c:pt idx="159">
                        <c:v>28.965800000000002</c:v>
                      </c:pt>
                      <c:pt idx="160">
                        <c:v>28.965800000000002</c:v>
                      </c:pt>
                      <c:pt idx="161">
                        <c:v>28.965800000000002</c:v>
                      </c:pt>
                      <c:pt idx="162">
                        <c:v>28.965800000000002</c:v>
                      </c:pt>
                      <c:pt idx="163">
                        <c:v>28.965800000000002</c:v>
                      </c:pt>
                      <c:pt idx="164">
                        <c:v>28.965800000000002</c:v>
                      </c:pt>
                      <c:pt idx="165">
                        <c:v>28.965800000000002</c:v>
                      </c:pt>
                      <c:pt idx="166">
                        <c:v>28.965800000000002</c:v>
                      </c:pt>
                      <c:pt idx="167">
                        <c:v>28.965800000000002</c:v>
                      </c:pt>
                      <c:pt idx="168">
                        <c:v>28.965800000000002</c:v>
                      </c:pt>
                      <c:pt idx="169">
                        <c:v>28.965800000000002</c:v>
                      </c:pt>
                      <c:pt idx="170">
                        <c:v>28.965800000000002</c:v>
                      </c:pt>
                      <c:pt idx="171">
                        <c:v>28.965800000000002</c:v>
                      </c:pt>
                      <c:pt idx="172">
                        <c:v>28.965800000000002</c:v>
                      </c:pt>
                      <c:pt idx="173">
                        <c:v>28.965800000000002</c:v>
                      </c:pt>
                      <c:pt idx="174">
                        <c:v>28.965800000000002</c:v>
                      </c:pt>
                      <c:pt idx="175">
                        <c:v>28.965800000000002</c:v>
                      </c:pt>
                      <c:pt idx="176">
                        <c:v>28.965800000000002</c:v>
                      </c:pt>
                      <c:pt idx="177">
                        <c:v>28.965800000000002</c:v>
                      </c:pt>
                      <c:pt idx="178">
                        <c:v>28.965800000000002</c:v>
                      </c:pt>
                      <c:pt idx="179">
                        <c:v>28.965800000000002</c:v>
                      </c:pt>
                      <c:pt idx="180">
                        <c:v>28.965800000000002</c:v>
                      </c:pt>
                      <c:pt idx="181">
                        <c:v>28.965800000000002</c:v>
                      </c:pt>
                      <c:pt idx="182">
                        <c:v>28.965800000000002</c:v>
                      </c:pt>
                      <c:pt idx="183">
                        <c:v>28.965800000000002</c:v>
                      </c:pt>
                      <c:pt idx="184">
                        <c:v>28.965800000000002</c:v>
                      </c:pt>
                      <c:pt idx="185">
                        <c:v>28.965800000000002</c:v>
                      </c:pt>
                      <c:pt idx="186">
                        <c:v>28.965800000000002</c:v>
                      </c:pt>
                      <c:pt idx="187">
                        <c:v>28.965800000000002</c:v>
                      </c:pt>
                      <c:pt idx="188">
                        <c:v>28.965800000000002</c:v>
                      </c:pt>
                      <c:pt idx="189">
                        <c:v>28.965800000000002</c:v>
                      </c:pt>
                      <c:pt idx="190">
                        <c:v>28.965800000000002</c:v>
                      </c:pt>
                      <c:pt idx="191">
                        <c:v>28.965800000000002</c:v>
                      </c:pt>
                      <c:pt idx="192">
                        <c:v>28.965800000000002</c:v>
                      </c:pt>
                      <c:pt idx="193">
                        <c:v>28.965800000000002</c:v>
                      </c:pt>
                      <c:pt idx="194">
                        <c:v>28.965800000000002</c:v>
                      </c:pt>
                      <c:pt idx="195">
                        <c:v>28.965800000000002</c:v>
                      </c:pt>
                      <c:pt idx="196">
                        <c:v>28.965800000000002</c:v>
                      </c:pt>
                      <c:pt idx="197">
                        <c:v>28.965800000000002</c:v>
                      </c:pt>
                      <c:pt idx="198">
                        <c:v>28.965800000000002</c:v>
                      </c:pt>
                      <c:pt idx="199">
                        <c:v>28.965800000000002</c:v>
                      </c:pt>
                      <c:pt idx="200">
                        <c:v>28.965800000000002</c:v>
                      </c:pt>
                      <c:pt idx="201">
                        <c:v>28.965800000000002</c:v>
                      </c:pt>
                      <c:pt idx="202">
                        <c:v>28.965800000000002</c:v>
                      </c:pt>
                      <c:pt idx="203">
                        <c:v>28.965800000000002</c:v>
                      </c:pt>
                      <c:pt idx="204">
                        <c:v>28.965800000000002</c:v>
                      </c:pt>
                      <c:pt idx="205">
                        <c:v>28.965800000000002</c:v>
                      </c:pt>
                      <c:pt idx="206">
                        <c:v>28.965800000000002</c:v>
                      </c:pt>
                      <c:pt idx="207">
                        <c:v>28.965800000000002</c:v>
                      </c:pt>
                      <c:pt idx="208">
                        <c:v>28.965800000000002</c:v>
                      </c:pt>
                      <c:pt idx="209">
                        <c:v>28.965800000000002</c:v>
                      </c:pt>
                      <c:pt idx="210">
                        <c:v>28.965800000000002</c:v>
                      </c:pt>
                      <c:pt idx="211">
                        <c:v>28.965800000000002</c:v>
                      </c:pt>
                      <c:pt idx="212">
                        <c:v>28.965800000000002</c:v>
                      </c:pt>
                      <c:pt idx="213">
                        <c:v>28.965800000000002</c:v>
                      </c:pt>
                      <c:pt idx="214">
                        <c:v>28.965800000000002</c:v>
                      </c:pt>
                      <c:pt idx="215">
                        <c:v>28.965800000000002</c:v>
                      </c:pt>
                      <c:pt idx="216">
                        <c:v>28.965800000000002</c:v>
                      </c:pt>
                      <c:pt idx="217">
                        <c:v>28.965800000000002</c:v>
                      </c:pt>
                      <c:pt idx="218">
                        <c:v>28.965800000000002</c:v>
                      </c:pt>
                      <c:pt idx="219">
                        <c:v>28.965800000000002</c:v>
                      </c:pt>
                      <c:pt idx="220">
                        <c:v>28.965800000000002</c:v>
                      </c:pt>
                      <c:pt idx="221">
                        <c:v>28.965800000000002</c:v>
                      </c:pt>
                      <c:pt idx="222">
                        <c:v>28.965800000000002</c:v>
                      </c:pt>
                      <c:pt idx="223">
                        <c:v>28.965800000000002</c:v>
                      </c:pt>
                      <c:pt idx="224">
                        <c:v>28.965800000000002</c:v>
                      </c:pt>
                      <c:pt idx="225">
                        <c:v>28.965800000000002</c:v>
                      </c:pt>
                      <c:pt idx="226">
                        <c:v>28.965800000000002</c:v>
                      </c:pt>
                      <c:pt idx="227">
                        <c:v>28.965800000000002</c:v>
                      </c:pt>
                      <c:pt idx="228">
                        <c:v>28.965800000000002</c:v>
                      </c:pt>
                      <c:pt idx="229">
                        <c:v>28.965800000000002</c:v>
                      </c:pt>
                      <c:pt idx="230">
                        <c:v>28.965800000000002</c:v>
                      </c:pt>
                      <c:pt idx="231">
                        <c:v>28.965800000000002</c:v>
                      </c:pt>
                      <c:pt idx="232">
                        <c:v>28.965800000000002</c:v>
                      </c:pt>
                      <c:pt idx="233">
                        <c:v>28.965800000000002</c:v>
                      </c:pt>
                      <c:pt idx="234">
                        <c:v>28.965800000000002</c:v>
                      </c:pt>
                      <c:pt idx="235">
                        <c:v>28.965800000000002</c:v>
                      </c:pt>
                      <c:pt idx="236">
                        <c:v>28.965800000000002</c:v>
                      </c:pt>
                      <c:pt idx="237">
                        <c:v>28.965800000000002</c:v>
                      </c:pt>
                      <c:pt idx="238">
                        <c:v>28.965800000000002</c:v>
                      </c:pt>
                      <c:pt idx="239">
                        <c:v>28.965800000000002</c:v>
                      </c:pt>
                      <c:pt idx="240">
                        <c:v>28.965800000000002</c:v>
                      </c:pt>
                      <c:pt idx="241">
                        <c:v>28.965800000000002</c:v>
                      </c:pt>
                      <c:pt idx="242">
                        <c:v>28.965800000000002</c:v>
                      </c:pt>
                      <c:pt idx="243">
                        <c:v>28.965800000000002</c:v>
                      </c:pt>
                      <c:pt idx="244">
                        <c:v>28.965800000000002</c:v>
                      </c:pt>
                      <c:pt idx="245">
                        <c:v>28.965800000000002</c:v>
                      </c:pt>
                      <c:pt idx="246">
                        <c:v>28.965800000000002</c:v>
                      </c:pt>
                      <c:pt idx="247">
                        <c:v>28.965800000000002</c:v>
                      </c:pt>
                      <c:pt idx="248">
                        <c:v>28.965800000000002</c:v>
                      </c:pt>
                      <c:pt idx="249">
                        <c:v>28.965800000000002</c:v>
                      </c:pt>
                      <c:pt idx="250">
                        <c:v>28.965800000000002</c:v>
                      </c:pt>
                      <c:pt idx="251">
                        <c:v>28.965800000000002</c:v>
                      </c:pt>
                      <c:pt idx="252">
                        <c:v>28.965800000000002</c:v>
                      </c:pt>
                      <c:pt idx="253">
                        <c:v>28.965800000000002</c:v>
                      </c:pt>
                      <c:pt idx="254">
                        <c:v>28.965800000000002</c:v>
                      </c:pt>
                      <c:pt idx="255">
                        <c:v>28.965800000000002</c:v>
                      </c:pt>
                      <c:pt idx="256">
                        <c:v>28.965800000000002</c:v>
                      </c:pt>
                      <c:pt idx="257">
                        <c:v>28.965800000000002</c:v>
                      </c:pt>
                      <c:pt idx="258">
                        <c:v>28.965800000000002</c:v>
                      </c:pt>
                      <c:pt idx="259">
                        <c:v>28.965800000000002</c:v>
                      </c:pt>
                      <c:pt idx="260">
                        <c:v>28.965800000000002</c:v>
                      </c:pt>
                      <c:pt idx="261">
                        <c:v>28.965800000000002</c:v>
                      </c:pt>
                      <c:pt idx="262">
                        <c:v>28.965800000000002</c:v>
                      </c:pt>
                      <c:pt idx="263">
                        <c:v>28.965800000000002</c:v>
                      </c:pt>
                      <c:pt idx="264">
                        <c:v>28.965800000000002</c:v>
                      </c:pt>
                      <c:pt idx="265">
                        <c:v>28.965800000000002</c:v>
                      </c:pt>
                      <c:pt idx="266">
                        <c:v>28.965800000000002</c:v>
                      </c:pt>
                      <c:pt idx="267">
                        <c:v>28.965800000000002</c:v>
                      </c:pt>
                      <c:pt idx="268">
                        <c:v>28.965800000000002</c:v>
                      </c:pt>
                      <c:pt idx="269">
                        <c:v>28.965800000000002</c:v>
                      </c:pt>
                      <c:pt idx="270">
                        <c:v>28.965800000000002</c:v>
                      </c:pt>
                      <c:pt idx="271">
                        <c:v>28.965800000000002</c:v>
                      </c:pt>
                      <c:pt idx="272">
                        <c:v>28.965800000000002</c:v>
                      </c:pt>
                      <c:pt idx="273">
                        <c:v>28.965800000000002</c:v>
                      </c:pt>
                      <c:pt idx="274">
                        <c:v>28.965800000000002</c:v>
                      </c:pt>
                      <c:pt idx="275">
                        <c:v>28.965800000000002</c:v>
                      </c:pt>
                      <c:pt idx="276">
                        <c:v>28.965800000000002</c:v>
                      </c:pt>
                      <c:pt idx="277">
                        <c:v>28.965800000000002</c:v>
                      </c:pt>
                      <c:pt idx="278">
                        <c:v>28.965800000000002</c:v>
                      </c:pt>
                      <c:pt idx="279">
                        <c:v>28.965800000000002</c:v>
                      </c:pt>
                      <c:pt idx="280">
                        <c:v>28.965800000000002</c:v>
                      </c:pt>
                      <c:pt idx="281">
                        <c:v>28.965800000000002</c:v>
                      </c:pt>
                      <c:pt idx="282">
                        <c:v>28.965800000000002</c:v>
                      </c:pt>
                      <c:pt idx="283">
                        <c:v>28.965800000000002</c:v>
                      </c:pt>
                      <c:pt idx="284">
                        <c:v>28.965800000000002</c:v>
                      </c:pt>
                      <c:pt idx="285">
                        <c:v>28.965800000000002</c:v>
                      </c:pt>
                      <c:pt idx="286">
                        <c:v>28.965800000000002</c:v>
                      </c:pt>
                      <c:pt idx="287">
                        <c:v>28.965800000000002</c:v>
                      </c:pt>
                      <c:pt idx="288">
                        <c:v>28.965800000000002</c:v>
                      </c:pt>
                      <c:pt idx="289">
                        <c:v>28.965800000000002</c:v>
                      </c:pt>
                      <c:pt idx="290">
                        <c:v>28.965800000000002</c:v>
                      </c:pt>
                      <c:pt idx="291">
                        <c:v>28.965800000000002</c:v>
                      </c:pt>
                      <c:pt idx="292">
                        <c:v>28.965800000000002</c:v>
                      </c:pt>
                      <c:pt idx="293">
                        <c:v>28.965800000000002</c:v>
                      </c:pt>
                      <c:pt idx="294">
                        <c:v>28.965800000000002</c:v>
                      </c:pt>
                      <c:pt idx="295">
                        <c:v>28.965800000000002</c:v>
                      </c:pt>
                      <c:pt idx="296">
                        <c:v>28.965800000000002</c:v>
                      </c:pt>
                      <c:pt idx="297">
                        <c:v>28.965800000000002</c:v>
                      </c:pt>
                      <c:pt idx="298">
                        <c:v>28.965800000000002</c:v>
                      </c:pt>
                      <c:pt idx="299">
                        <c:v>28.965800000000002</c:v>
                      </c:pt>
                      <c:pt idx="300">
                        <c:v>28.965800000000002</c:v>
                      </c:pt>
                      <c:pt idx="301">
                        <c:v>28.965800000000002</c:v>
                      </c:pt>
                      <c:pt idx="302">
                        <c:v>28.965800000000002</c:v>
                      </c:pt>
                      <c:pt idx="303">
                        <c:v>28.965800000000002</c:v>
                      </c:pt>
                      <c:pt idx="304">
                        <c:v>28.965800000000002</c:v>
                      </c:pt>
                      <c:pt idx="305">
                        <c:v>28.965800000000002</c:v>
                      </c:pt>
                      <c:pt idx="306">
                        <c:v>28.965800000000002</c:v>
                      </c:pt>
                      <c:pt idx="307">
                        <c:v>28.965800000000002</c:v>
                      </c:pt>
                      <c:pt idx="308">
                        <c:v>28.965800000000002</c:v>
                      </c:pt>
                      <c:pt idx="309">
                        <c:v>28.965800000000002</c:v>
                      </c:pt>
                      <c:pt idx="310">
                        <c:v>28.965800000000002</c:v>
                      </c:pt>
                      <c:pt idx="311">
                        <c:v>28.965800000000002</c:v>
                      </c:pt>
                      <c:pt idx="312">
                        <c:v>28.965800000000002</c:v>
                      </c:pt>
                      <c:pt idx="313">
                        <c:v>28.965800000000002</c:v>
                      </c:pt>
                      <c:pt idx="314">
                        <c:v>28.965800000000002</c:v>
                      </c:pt>
                      <c:pt idx="315">
                        <c:v>28.965800000000002</c:v>
                      </c:pt>
                      <c:pt idx="316">
                        <c:v>28.965800000000002</c:v>
                      </c:pt>
                      <c:pt idx="317">
                        <c:v>28.965800000000002</c:v>
                      </c:pt>
                      <c:pt idx="318">
                        <c:v>28.965800000000002</c:v>
                      </c:pt>
                      <c:pt idx="319">
                        <c:v>28.965800000000002</c:v>
                      </c:pt>
                      <c:pt idx="320">
                        <c:v>28.965800000000002</c:v>
                      </c:pt>
                      <c:pt idx="321">
                        <c:v>28.965800000000002</c:v>
                      </c:pt>
                      <c:pt idx="322">
                        <c:v>28.965800000000002</c:v>
                      </c:pt>
                      <c:pt idx="323">
                        <c:v>28.965800000000002</c:v>
                      </c:pt>
                      <c:pt idx="324">
                        <c:v>28.965800000000002</c:v>
                      </c:pt>
                      <c:pt idx="325">
                        <c:v>28.965800000000002</c:v>
                      </c:pt>
                      <c:pt idx="326">
                        <c:v>28.965800000000002</c:v>
                      </c:pt>
                      <c:pt idx="327">
                        <c:v>28.965800000000002</c:v>
                      </c:pt>
                      <c:pt idx="328">
                        <c:v>28.965800000000002</c:v>
                      </c:pt>
                      <c:pt idx="329">
                        <c:v>28.965800000000002</c:v>
                      </c:pt>
                      <c:pt idx="330">
                        <c:v>28.965800000000002</c:v>
                      </c:pt>
                      <c:pt idx="331">
                        <c:v>28.965800000000002</c:v>
                      </c:pt>
                      <c:pt idx="332">
                        <c:v>28.965800000000002</c:v>
                      </c:pt>
                      <c:pt idx="333">
                        <c:v>28.965800000000002</c:v>
                      </c:pt>
                      <c:pt idx="334">
                        <c:v>28.965800000000002</c:v>
                      </c:pt>
                      <c:pt idx="335">
                        <c:v>28.965800000000002</c:v>
                      </c:pt>
                      <c:pt idx="336">
                        <c:v>28.965800000000002</c:v>
                      </c:pt>
                      <c:pt idx="337">
                        <c:v>28.965800000000002</c:v>
                      </c:pt>
                      <c:pt idx="338">
                        <c:v>28.965800000000002</c:v>
                      </c:pt>
                      <c:pt idx="339">
                        <c:v>28.965800000000002</c:v>
                      </c:pt>
                      <c:pt idx="340">
                        <c:v>28.965800000000002</c:v>
                      </c:pt>
                      <c:pt idx="341">
                        <c:v>28.965800000000002</c:v>
                      </c:pt>
                      <c:pt idx="342">
                        <c:v>28.965800000000002</c:v>
                      </c:pt>
                      <c:pt idx="343">
                        <c:v>28.965800000000002</c:v>
                      </c:pt>
                      <c:pt idx="344">
                        <c:v>28.965800000000002</c:v>
                      </c:pt>
                      <c:pt idx="345">
                        <c:v>28.965800000000002</c:v>
                      </c:pt>
                      <c:pt idx="346">
                        <c:v>28.965800000000002</c:v>
                      </c:pt>
                      <c:pt idx="347">
                        <c:v>28.965800000000002</c:v>
                      </c:pt>
                      <c:pt idx="348">
                        <c:v>28.965800000000002</c:v>
                      </c:pt>
                      <c:pt idx="349">
                        <c:v>28.965800000000002</c:v>
                      </c:pt>
                      <c:pt idx="350">
                        <c:v>28.965800000000002</c:v>
                      </c:pt>
                      <c:pt idx="351">
                        <c:v>28.965800000000002</c:v>
                      </c:pt>
                      <c:pt idx="352">
                        <c:v>28.965800000000002</c:v>
                      </c:pt>
                      <c:pt idx="353">
                        <c:v>28.965800000000002</c:v>
                      </c:pt>
                      <c:pt idx="354">
                        <c:v>28.965800000000002</c:v>
                      </c:pt>
                      <c:pt idx="355">
                        <c:v>28.965800000000002</c:v>
                      </c:pt>
                      <c:pt idx="356">
                        <c:v>28.965800000000002</c:v>
                      </c:pt>
                      <c:pt idx="357">
                        <c:v>28.965800000000002</c:v>
                      </c:pt>
                      <c:pt idx="358">
                        <c:v>28.965800000000002</c:v>
                      </c:pt>
                      <c:pt idx="359">
                        <c:v>28.965800000000002</c:v>
                      </c:pt>
                      <c:pt idx="360">
                        <c:v>28.965800000000002</c:v>
                      </c:pt>
                      <c:pt idx="361">
                        <c:v>28.965800000000002</c:v>
                      </c:pt>
                      <c:pt idx="362">
                        <c:v>28.965800000000002</c:v>
                      </c:pt>
                      <c:pt idx="363">
                        <c:v>28.965800000000002</c:v>
                      </c:pt>
                      <c:pt idx="364">
                        <c:v>28.965800000000002</c:v>
                      </c:pt>
                      <c:pt idx="365">
                        <c:v>28.965800000000002</c:v>
                      </c:pt>
                      <c:pt idx="366">
                        <c:v>28.965800000000002</c:v>
                      </c:pt>
                      <c:pt idx="367">
                        <c:v>28.965800000000002</c:v>
                      </c:pt>
                      <c:pt idx="368">
                        <c:v>28.965800000000002</c:v>
                      </c:pt>
                      <c:pt idx="369">
                        <c:v>28.965800000000002</c:v>
                      </c:pt>
                      <c:pt idx="370">
                        <c:v>28.965800000000002</c:v>
                      </c:pt>
                      <c:pt idx="371">
                        <c:v>28.965800000000002</c:v>
                      </c:pt>
                      <c:pt idx="372">
                        <c:v>28.965800000000002</c:v>
                      </c:pt>
                      <c:pt idx="373">
                        <c:v>28.965800000000002</c:v>
                      </c:pt>
                      <c:pt idx="374">
                        <c:v>28.965800000000002</c:v>
                      </c:pt>
                      <c:pt idx="375">
                        <c:v>28.965800000000002</c:v>
                      </c:pt>
                      <c:pt idx="376">
                        <c:v>28.965800000000002</c:v>
                      </c:pt>
                      <c:pt idx="377">
                        <c:v>28.965800000000002</c:v>
                      </c:pt>
                      <c:pt idx="378">
                        <c:v>28.965800000000002</c:v>
                      </c:pt>
                      <c:pt idx="379">
                        <c:v>28.965800000000002</c:v>
                      </c:pt>
                      <c:pt idx="380">
                        <c:v>28.965800000000002</c:v>
                      </c:pt>
                      <c:pt idx="381">
                        <c:v>28.965800000000002</c:v>
                      </c:pt>
                      <c:pt idx="382">
                        <c:v>28.965800000000002</c:v>
                      </c:pt>
                      <c:pt idx="383">
                        <c:v>28.965800000000002</c:v>
                      </c:pt>
                      <c:pt idx="384">
                        <c:v>28.965800000000002</c:v>
                      </c:pt>
                      <c:pt idx="385">
                        <c:v>28.965800000000002</c:v>
                      </c:pt>
                      <c:pt idx="386">
                        <c:v>28.965800000000002</c:v>
                      </c:pt>
                      <c:pt idx="387">
                        <c:v>28.965800000000002</c:v>
                      </c:pt>
                      <c:pt idx="388">
                        <c:v>28.965800000000002</c:v>
                      </c:pt>
                      <c:pt idx="389">
                        <c:v>28.965800000000002</c:v>
                      </c:pt>
                      <c:pt idx="390">
                        <c:v>28.965800000000002</c:v>
                      </c:pt>
                      <c:pt idx="391">
                        <c:v>28.965800000000002</c:v>
                      </c:pt>
                      <c:pt idx="392">
                        <c:v>28.965800000000002</c:v>
                      </c:pt>
                      <c:pt idx="393">
                        <c:v>28.965800000000002</c:v>
                      </c:pt>
                      <c:pt idx="394">
                        <c:v>28.965800000000002</c:v>
                      </c:pt>
                      <c:pt idx="395">
                        <c:v>28.965800000000002</c:v>
                      </c:pt>
                      <c:pt idx="396">
                        <c:v>28.965800000000002</c:v>
                      </c:pt>
                      <c:pt idx="397">
                        <c:v>28.965800000000002</c:v>
                      </c:pt>
                      <c:pt idx="398">
                        <c:v>28.965800000000002</c:v>
                      </c:pt>
                      <c:pt idx="399">
                        <c:v>28.965800000000002</c:v>
                      </c:pt>
                      <c:pt idx="400">
                        <c:v>28.965800000000002</c:v>
                      </c:pt>
                      <c:pt idx="401">
                        <c:v>28.965800000000002</c:v>
                      </c:pt>
                      <c:pt idx="402">
                        <c:v>28.965800000000002</c:v>
                      </c:pt>
                      <c:pt idx="403">
                        <c:v>28.965800000000002</c:v>
                      </c:pt>
                      <c:pt idx="404">
                        <c:v>28.965800000000002</c:v>
                      </c:pt>
                      <c:pt idx="405">
                        <c:v>28.965800000000002</c:v>
                      </c:pt>
                      <c:pt idx="406">
                        <c:v>28.965800000000002</c:v>
                      </c:pt>
                      <c:pt idx="407">
                        <c:v>28.965800000000002</c:v>
                      </c:pt>
                      <c:pt idx="408">
                        <c:v>28.965800000000002</c:v>
                      </c:pt>
                      <c:pt idx="409">
                        <c:v>28.965800000000002</c:v>
                      </c:pt>
                      <c:pt idx="410">
                        <c:v>28.965800000000002</c:v>
                      </c:pt>
                      <c:pt idx="411">
                        <c:v>28.965800000000002</c:v>
                      </c:pt>
                      <c:pt idx="412">
                        <c:v>28.965800000000002</c:v>
                      </c:pt>
                      <c:pt idx="413">
                        <c:v>28.965800000000002</c:v>
                      </c:pt>
                      <c:pt idx="414">
                        <c:v>28.965800000000002</c:v>
                      </c:pt>
                      <c:pt idx="415">
                        <c:v>28.965800000000002</c:v>
                      </c:pt>
                      <c:pt idx="416">
                        <c:v>28.965800000000002</c:v>
                      </c:pt>
                      <c:pt idx="417">
                        <c:v>28.965800000000002</c:v>
                      </c:pt>
                      <c:pt idx="418">
                        <c:v>28.965800000000002</c:v>
                      </c:pt>
                      <c:pt idx="419">
                        <c:v>28.965800000000002</c:v>
                      </c:pt>
                      <c:pt idx="420">
                        <c:v>28.965800000000002</c:v>
                      </c:pt>
                      <c:pt idx="421">
                        <c:v>28.965800000000002</c:v>
                      </c:pt>
                      <c:pt idx="422">
                        <c:v>28.965800000000002</c:v>
                      </c:pt>
                      <c:pt idx="423">
                        <c:v>28.965800000000002</c:v>
                      </c:pt>
                      <c:pt idx="424">
                        <c:v>28.965800000000002</c:v>
                      </c:pt>
                      <c:pt idx="425">
                        <c:v>28.965800000000002</c:v>
                      </c:pt>
                      <c:pt idx="426">
                        <c:v>28.965800000000002</c:v>
                      </c:pt>
                      <c:pt idx="427">
                        <c:v>28.965800000000002</c:v>
                      </c:pt>
                      <c:pt idx="428">
                        <c:v>28.965800000000002</c:v>
                      </c:pt>
                      <c:pt idx="429">
                        <c:v>28.965800000000002</c:v>
                      </c:pt>
                      <c:pt idx="430">
                        <c:v>28.965800000000002</c:v>
                      </c:pt>
                      <c:pt idx="431">
                        <c:v>28.965800000000002</c:v>
                      </c:pt>
                    </c:numCache>
                  </c:numRef>
                </c:val>
                <c:smooth val="1"/>
                <c:extLst>
                  <c:ext xmlns:c16="http://schemas.microsoft.com/office/drawing/2014/chart" uri="{C3380CC4-5D6E-409C-BE32-E72D297353CC}">
                    <c16:uniqueId val="{00000006-7D82-4116-ACD2-A2460439D5C7}"/>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Final!$C$1</c15:sqref>
                        </c15:formulaRef>
                      </c:ext>
                    </c:extLst>
                    <c:strCache>
                      <c:ptCount val="1"/>
                      <c:pt idx="0">
                        <c:v>Year</c:v>
                      </c:pt>
                    </c:strCache>
                  </c:strRef>
                </c:tx>
                <c:spPr>
                  <a:ln w="28575" cap="rnd">
                    <a:solidFill>
                      <a:schemeClr val="accent5"/>
                    </a:solidFill>
                    <a:round/>
                  </a:ln>
                  <a:effectLst/>
                </c:spPr>
                <c:marker>
                  <c:symbol val="none"/>
                </c:marker>
                <c:cat>
                  <c:numRef>
                    <c:extLst xmlns:c15="http://schemas.microsoft.com/office/drawing/2012/chart">
                      <c:ext xmlns:c15="http://schemas.microsoft.com/office/drawing/2012/chart" uri="{02D57815-91ED-43cb-92C2-25804820EDAC}">
                        <c15:formulaRef>
                          <c15:sqref>Final!$C$2:$C$425</c15:sqref>
                        </c15:formulaRef>
                      </c:ext>
                    </c:extLst>
                    <c:numCache>
                      <c:formatCode>General</c:formatCode>
                      <c:ptCount val="424"/>
                      <c:pt idx="0">
                        <c:v>1985</c:v>
                      </c:pt>
                      <c:pt idx="12">
                        <c:v>1986</c:v>
                      </c:pt>
                      <c:pt idx="24">
                        <c:v>1987</c:v>
                      </c:pt>
                      <c:pt idx="36">
                        <c:v>1988</c:v>
                      </c:pt>
                      <c:pt idx="48">
                        <c:v>1989</c:v>
                      </c:pt>
                      <c:pt idx="60">
                        <c:v>1990</c:v>
                      </c:pt>
                      <c:pt idx="72">
                        <c:v>1991</c:v>
                      </c:pt>
                      <c:pt idx="84">
                        <c:v>1992</c:v>
                      </c:pt>
                      <c:pt idx="96">
                        <c:v>1993</c:v>
                      </c:pt>
                      <c:pt idx="108">
                        <c:v>1994</c:v>
                      </c:pt>
                      <c:pt idx="120">
                        <c:v>1995</c:v>
                      </c:pt>
                      <c:pt idx="132">
                        <c:v>1996</c:v>
                      </c:pt>
                      <c:pt idx="144">
                        <c:v>1997</c:v>
                      </c:pt>
                      <c:pt idx="156">
                        <c:v>1998</c:v>
                      </c:pt>
                      <c:pt idx="168">
                        <c:v>1999</c:v>
                      </c:pt>
                      <c:pt idx="180">
                        <c:v>2000</c:v>
                      </c:pt>
                      <c:pt idx="192">
                        <c:v>2001</c:v>
                      </c:pt>
                      <c:pt idx="204">
                        <c:v>2002</c:v>
                      </c:pt>
                      <c:pt idx="216">
                        <c:v>2003</c:v>
                      </c:pt>
                      <c:pt idx="228">
                        <c:v>2004</c:v>
                      </c:pt>
                      <c:pt idx="240">
                        <c:v>2005</c:v>
                      </c:pt>
                      <c:pt idx="252">
                        <c:v>2006</c:v>
                      </c:pt>
                      <c:pt idx="264">
                        <c:v>2007</c:v>
                      </c:pt>
                      <c:pt idx="276">
                        <c:v>2008</c:v>
                      </c:pt>
                      <c:pt idx="288">
                        <c:v>2009</c:v>
                      </c:pt>
                      <c:pt idx="300">
                        <c:v>2010</c:v>
                      </c:pt>
                      <c:pt idx="312">
                        <c:v>2011</c:v>
                      </c:pt>
                      <c:pt idx="324">
                        <c:v>2012</c:v>
                      </c:pt>
                      <c:pt idx="336">
                        <c:v>2013</c:v>
                      </c:pt>
                      <c:pt idx="348">
                        <c:v>2014</c:v>
                      </c:pt>
                      <c:pt idx="360">
                        <c:v>2015</c:v>
                      </c:pt>
                      <c:pt idx="372">
                        <c:v>2016</c:v>
                      </c:pt>
                      <c:pt idx="384">
                        <c:v>2017</c:v>
                      </c:pt>
                      <c:pt idx="396">
                        <c:v>2018</c:v>
                      </c:pt>
                      <c:pt idx="408">
                        <c:v>2019</c:v>
                      </c:pt>
                      <c:pt idx="420">
                        <c:v>2020</c:v>
                      </c:pt>
                    </c:numCache>
                  </c:numRef>
                </c:cat>
                <c:val>
                  <c:numRef>
                    <c:extLst xmlns:c15="http://schemas.microsoft.com/office/drawing/2012/chart">
                      <c:ext xmlns:c15="http://schemas.microsoft.com/office/drawing/2012/chart" uri="{02D57815-91ED-43cb-92C2-25804820EDAC}">
                        <c15:formulaRef>
                          <c15:sqref>Final!$C$2:$C$433</c15:sqref>
                        </c15:formulaRef>
                      </c:ext>
                    </c:extLst>
                    <c:numCache>
                      <c:formatCode>General</c:formatCode>
                      <c:ptCount val="432"/>
                      <c:pt idx="0">
                        <c:v>1985</c:v>
                      </c:pt>
                      <c:pt idx="12">
                        <c:v>1986</c:v>
                      </c:pt>
                      <c:pt idx="24">
                        <c:v>1987</c:v>
                      </c:pt>
                      <c:pt idx="36">
                        <c:v>1988</c:v>
                      </c:pt>
                      <c:pt idx="48">
                        <c:v>1989</c:v>
                      </c:pt>
                      <c:pt idx="60">
                        <c:v>1990</c:v>
                      </c:pt>
                      <c:pt idx="72">
                        <c:v>1991</c:v>
                      </c:pt>
                      <c:pt idx="84">
                        <c:v>1992</c:v>
                      </c:pt>
                      <c:pt idx="96">
                        <c:v>1993</c:v>
                      </c:pt>
                      <c:pt idx="108">
                        <c:v>1994</c:v>
                      </c:pt>
                      <c:pt idx="120">
                        <c:v>1995</c:v>
                      </c:pt>
                      <c:pt idx="132">
                        <c:v>1996</c:v>
                      </c:pt>
                      <c:pt idx="144">
                        <c:v>1997</c:v>
                      </c:pt>
                      <c:pt idx="156">
                        <c:v>1998</c:v>
                      </c:pt>
                      <c:pt idx="168">
                        <c:v>1999</c:v>
                      </c:pt>
                      <c:pt idx="180">
                        <c:v>2000</c:v>
                      </c:pt>
                      <c:pt idx="192">
                        <c:v>2001</c:v>
                      </c:pt>
                      <c:pt idx="204">
                        <c:v>2002</c:v>
                      </c:pt>
                      <c:pt idx="216">
                        <c:v>2003</c:v>
                      </c:pt>
                      <c:pt idx="228">
                        <c:v>2004</c:v>
                      </c:pt>
                      <c:pt idx="240">
                        <c:v>2005</c:v>
                      </c:pt>
                      <c:pt idx="252">
                        <c:v>2006</c:v>
                      </c:pt>
                      <c:pt idx="264">
                        <c:v>2007</c:v>
                      </c:pt>
                      <c:pt idx="276">
                        <c:v>2008</c:v>
                      </c:pt>
                      <c:pt idx="288">
                        <c:v>2009</c:v>
                      </c:pt>
                      <c:pt idx="300">
                        <c:v>2010</c:v>
                      </c:pt>
                      <c:pt idx="312">
                        <c:v>2011</c:v>
                      </c:pt>
                      <c:pt idx="324">
                        <c:v>2012</c:v>
                      </c:pt>
                      <c:pt idx="336">
                        <c:v>2013</c:v>
                      </c:pt>
                      <c:pt idx="348">
                        <c:v>2014</c:v>
                      </c:pt>
                      <c:pt idx="360">
                        <c:v>2015</c:v>
                      </c:pt>
                      <c:pt idx="372">
                        <c:v>2016</c:v>
                      </c:pt>
                      <c:pt idx="384">
                        <c:v>2017</c:v>
                      </c:pt>
                      <c:pt idx="396">
                        <c:v>2018</c:v>
                      </c:pt>
                      <c:pt idx="408">
                        <c:v>2019</c:v>
                      </c:pt>
                      <c:pt idx="420">
                        <c:v>2020</c:v>
                      </c:pt>
                    </c:numCache>
                  </c:numRef>
                </c:val>
                <c:smooth val="0"/>
                <c:extLst xmlns:c15="http://schemas.microsoft.com/office/drawing/2012/chart">
                  <c:ext xmlns:c16="http://schemas.microsoft.com/office/drawing/2014/chart" uri="{C3380CC4-5D6E-409C-BE32-E72D297353CC}">
                    <c16:uniqueId val="{00000007-7D82-4116-ACD2-A2460439D5C7}"/>
                  </c:ext>
                </c:extLst>
              </c15:ser>
            </c15:filteredLineSeries>
          </c:ext>
        </c:extLst>
      </c:lineChart>
      <c:scatterChart>
        <c:scatterStyle val="lineMarker"/>
        <c:varyColors val="0"/>
        <c:ser>
          <c:idx val="5"/>
          <c:order val="5"/>
          <c:tx>
            <c:strRef>
              <c:f>Final!$H$1</c:f>
              <c:strCache>
                <c:ptCount val="1"/>
                <c:pt idx="0">
                  <c:v>Bleaching</c:v>
                </c:pt>
              </c:strCache>
            </c:strRef>
          </c:tx>
          <c:spPr>
            <a:ln w="25400" cap="rnd">
              <a:noFill/>
              <a:round/>
            </a:ln>
            <a:effectLst/>
          </c:spPr>
          <c:marker>
            <c:symbol val="diamond"/>
            <c:size val="6"/>
            <c:spPr>
              <a:solidFill>
                <a:schemeClr val="tx1"/>
              </a:solidFill>
              <a:ln w="9525">
                <a:solidFill>
                  <a:schemeClr val="tx1"/>
                </a:solidFill>
              </a:ln>
              <a:effectLst/>
            </c:spPr>
          </c:marker>
          <c:yVal>
            <c:numRef>
              <c:f>Final!$H$2:$H$433</c:f>
              <c:numCache>
                <c:formatCode>General</c:formatCode>
                <c:ptCount val="432"/>
                <c:pt idx="110">
                  <c:v>30.5</c:v>
                </c:pt>
                <c:pt idx="218">
                  <c:v>30.5</c:v>
                </c:pt>
                <c:pt idx="362">
                  <c:v>30.5</c:v>
                </c:pt>
                <c:pt idx="384">
                  <c:v>30.5</c:v>
                </c:pt>
                <c:pt idx="424">
                  <c:v>30.5</c:v>
                </c:pt>
              </c:numCache>
            </c:numRef>
          </c:yVal>
          <c:smooth val="0"/>
          <c:extLst>
            <c:ext xmlns:c16="http://schemas.microsoft.com/office/drawing/2014/chart" uri="{C3380CC4-5D6E-409C-BE32-E72D297353CC}">
              <c16:uniqueId val="{00000005-7D82-4116-ACD2-A2460439D5C7}"/>
            </c:ext>
          </c:extLst>
        </c:ser>
        <c:dLbls>
          <c:showLegendKey val="0"/>
          <c:showVal val="0"/>
          <c:showCatName val="0"/>
          <c:showSerName val="0"/>
          <c:showPercent val="0"/>
          <c:showBubbleSize val="0"/>
        </c:dLbls>
        <c:axId val="444334696"/>
        <c:axId val="444339944"/>
      </c:scatterChart>
      <c:catAx>
        <c:axId val="444334696"/>
        <c:scaling>
          <c:orientation val="minMax"/>
        </c:scaling>
        <c:delete val="0"/>
        <c:axPos val="b"/>
        <c:numFmt formatCode="General" sourceLinked="0"/>
        <c:majorTickMark val="cross"/>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b"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444339944"/>
        <c:crosses val="autoZero"/>
        <c:auto val="1"/>
        <c:lblAlgn val="ctr"/>
        <c:lblOffset val="100"/>
        <c:tickMarkSkip val="12"/>
        <c:noMultiLvlLbl val="1"/>
      </c:catAx>
      <c:valAx>
        <c:axId val="444339944"/>
        <c:scaling>
          <c:orientation val="minMax"/>
          <c:max val="31"/>
          <c:min val="26"/>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aseline="0"/>
                  <a:t>Temperature C</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444334696"/>
        <c:crosses val="autoZero"/>
        <c:crossBetween val="between"/>
        <c:majorUnit val="1"/>
      </c:valAx>
      <c:valAx>
        <c:axId val="622072200"/>
        <c:scaling>
          <c:orientation val="minMax"/>
        </c:scaling>
        <c:delete val="0"/>
        <c:axPos val="r"/>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aseline="0"/>
                  <a:t>Degree Heating Weeks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out"/>
        <c:minorTickMark val="none"/>
        <c:tickLblPos val="nextTo"/>
        <c:spPr>
          <a:noFill/>
          <a:ln w="12700">
            <a:solidFill>
              <a:schemeClr val="bg1">
                <a:lumMod val="65000"/>
              </a:schemeClr>
            </a:solid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622074168"/>
        <c:crosses val="max"/>
        <c:crossBetween val="between"/>
      </c:valAx>
      <c:catAx>
        <c:axId val="622074168"/>
        <c:scaling>
          <c:orientation val="minMax"/>
        </c:scaling>
        <c:delete val="1"/>
        <c:axPos val="b"/>
        <c:numFmt formatCode="General" sourceLinked="1"/>
        <c:majorTickMark val="out"/>
        <c:minorTickMark val="none"/>
        <c:tickLblPos val="nextTo"/>
        <c:crossAx val="622072200"/>
        <c:crosses val="autoZero"/>
        <c:auto val="1"/>
        <c:lblAlgn val="ctr"/>
        <c:lblOffset val="100"/>
        <c:noMultiLvlLbl val="0"/>
      </c:catAx>
      <c:spPr>
        <a:noFill/>
        <a:ln>
          <a:noFill/>
        </a:ln>
        <a:effectLst/>
      </c:spPr>
    </c:plotArea>
    <c:legend>
      <c:legendPos val="b"/>
      <c:layout>
        <c:manualLayout>
          <c:xMode val="edge"/>
          <c:yMode val="edge"/>
          <c:x val="3.1355239248940035E-2"/>
          <c:y val="0.89065084989827503"/>
          <c:w val="0.94156285752742441"/>
          <c:h val="0.10934915010172495"/>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Tropical Cyclones from 1959-2020</a:t>
            </a:r>
          </a:p>
          <a:p>
            <a:pPr>
              <a:defRPr sz="1400" b="0" i="0" u="none" strike="noStrike" kern="1200" spc="0" baseline="0">
                <a:solidFill>
                  <a:schemeClr val="tx1">
                    <a:lumMod val="65000"/>
                    <a:lumOff val="35000"/>
                  </a:schemeClr>
                </a:solidFill>
                <a:latin typeface="+mn-lt"/>
                <a:ea typeface="+mn-ea"/>
                <a:cs typeface="+mn-cs"/>
              </a:defRPr>
            </a:pPr>
            <a:r>
              <a:rPr lang="en-US" sz="1100"/>
              <a:t>Charted</a:t>
            </a:r>
            <a:r>
              <a:rPr lang="en-US" sz="1100" baseline="0"/>
              <a:t> with El Nino</a:t>
            </a:r>
            <a:endParaRPr lang="en-US" sz="1100"/>
          </a:p>
        </c:rich>
      </c:tx>
      <c:overlay val="0"/>
      <c:spPr>
        <a:noFill/>
        <a:ln>
          <a:noFill/>
        </a:ln>
        <a:effectLst/>
      </c:spPr>
    </c:title>
    <c:autoTitleDeleted val="0"/>
    <c:plotArea>
      <c:layout/>
      <c:barChart>
        <c:barDir val="col"/>
        <c:grouping val="clustered"/>
        <c:varyColors val="0"/>
        <c:ser>
          <c:idx val="2"/>
          <c:order val="2"/>
          <c:tx>
            <c:strRef>
              <c:f>'Tutuila (3)'!$C$1</c:f>
              <c:strCache>
                <c:ptCount val="1"/>
                <c:pt idx="0">
                  <c:v>El Nino</c:v>
                </c:pt>
              </c:strCache>
            </c:strRef>
          </c:tx>
          <c:spPr>
            <a:solidFill>
              <a:schemeClr val="bg1">
                <a:lumMod val="95000"/>
              </a:schemeClr>
            </a:solidFill>
            <a:ln>
              <a:noFill/>
            </a:ln>
            <a:effectLst/>
          </c:spPr>
          <c:invertIfNegative val="0"/>
          <c:cat>
            <c:numRef>
              <c:f>'Tutuila (3)'!$A$2:$A$63</c:f>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f>'Tutuila (3)'!$C$2:$C$63</c:f>
              <c:numCache>
                <c:formatCode>General</c:formatCode>
                <c:ptCount val="62"/>
                <c:pt idx="0">
                  <c:v>4</c:v>
                </c:pt>
                <c:pt idx="4">
                  <c:v>4</c:v>
                </c:pt>
                <c:pt idx="6">
                  <c:v>4</c:v>
                </c:pt>
                <c:pt idx="7">
                  <c:v>4</c:v>
                </c:pt>
                <c:pt idx="8">
                  <c:v>4</c:v>
                </c:pt>
                <c:pt idx="13">
                  <c:v>4</c:v>
                </c:pt>
                <c:pt idx="14">
                  <c:v>4</c:v>
                </c:pt>
                <c:pt idx="23">
                  <c:v>4</c:v>
                </c:pt>
                <c:pt idx="24">
                  <c:v>4</c:v>
                </c:pt>
                <c:pt idx="28">
                  <c:v>4</c:v>
                </c:pt>
                <c:pt idx="29">
                  <c:v>4</c:v>
                </c:pt>
                <c:pt idx="33">
                  <c:v>4</c:v>
                </c:pt>
                <c:pt idx="34">
                  <c:v>4</c:v>
                </c:pt>
                <c:pt idx="38">
                  <c:v>4</c:v>
                </c:pt>
                <c:pt idx="39">
                  <c:v>4</c:v>
                </c:pt>
                <c:pt idx="43">
                  <c:v>4</c:v>
                </c:pt>
                <c:pt idx="44">
                  <c:v>4</c:v>
                </c:pt>
                <c:pt idx="45">
                  <c:v>4</c:v>
                </c:pt>
                <c:pt idx="46">
                  <c:v>4</c:v>
                </c:pt>
                <c:pt idx="47">
                  <c:v>4</c:v>
                </c:pt>
                <c:pt idx="48">
                  <c:v>4</c:v>
                </c:pt>
                <c:pt idx="50">
                  <c:v>4</c:v>
                </c:pt>
                <c:pt idx="51">
                  <c:v>4</c:v>
                </c:pt>
                <c:pt idx="55">
                  <c:v>4</c:v>
                </c:pt>
                <c:pt idx="56">
                  <c:v>4</c:v>
                </c:pt>
                <c:pt idx="57">
                  <c:v>4</c:v>
                </c:pt>
                <c:pt idx="59">
                  <c:v>4</c:v>
                </c:pt>
                <c:pt idx="60">
                  <c:v>4</c:v>
                </c:pt>
                <c:pt idx="61">
                  <c:v>4</c:v>
                </c:pt>
              </c:numCache>
            </c:numRef>
          </c:val>
          <c:extLst>
            <c:ext xmlns:c16="http://schemas.microsoft.com/office/drawing/2014/chart" uri="{C3380CC4-5D6E-409C-BE32-E72D297353CC}">
              <c16:uniqueId val="{00000000-BD54-42F1-AAC5-B6AB217B188B}"/>
            </c:ext>
          </c:extLst>
        </c:ser>
        <c:dLbls>
          <c:showLegendKey val="0"/>
          <c:showVal val="0"/>
          <c:showCatName val="0"/>
          <c:showSerName val="0"/>
          <c:showPercent val="0"/>
          <c:showBubbleSize val="0"/>
        </c:dLbls>
        <c:gapWidth val="0"/>
        <c:axId val="1143368248"/>
        <c:axId val="1143361688"/>
        <c:extLst>
          <c:ext xmlns:c15="http://schemas.microsoft.com/office/drawing/2012/chart" uri="{02D57815-91ED-43cb-92C2-25804820EDAC}">
            <c15:filteredBarSeries>
              <c15:ser>
                <c:idx val="0"/>
                <c:order val="0"/>
                <c:tx>
                  <c:strRef>
                    <c:extLst>
                      <c:ext uri="{02D57815-91ED-43cb-92C2-25804820EDAC}">
                        <c15:formulaRef>
                          <c15:sqref>'Tutuila (3)'!$A$1</c15:sqref>
                        </c15:formulaRef>
                      </c:ext>
                    </c:extLst>
                    <c:strCache>
                      <c:ptCount val="1"/>
                      <c:pt idx="0">
                        <c:v>Year</c:v>
                      </c:pt>
                    </c:strCache>
                  </c:strRef>
                </c:tx>
                <c:spPr>
                  <a:solidFill>
                    <a:schemeClr val="accent1"/>
                  </a:solidFill>
                  <a:ln>
                    <a:noFill/>
                  </a:ln>
                  <a:effectLst/>
                </c:spPr>
                <c:invertIfNegative val="0"/>
                <c:cat>
                  <c:numRef>
                    <c:extLst>
                      <c:ext uri="{02D57815-91ED-43cb-92C2-25804820EDAC}">
                        <c15:formulaRef>
                          <c15:sqref>'Tutuila (3)'!$A$2:$A$63</c15:sqref>
                        </c15:formulaRef>
                      </c:ext>
                    </c:extLst>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extLst>
                      <c:ext uri="{02D57815-91ED-43cb-92C2-25804820EDAC}">
                        <c15:formulaRef>
                          <c15:sqref>'Tutuila (3)'!$A$8:$A$63</c15:sqref>
                        </c15:formulaRef>
                      </c:ext>
                    </c:extLst>
                    <c:numCache>
                      <c:formatCode>General</c:formatCode>
                      <c:ptCount val="56"/>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numCache>
                  </c:numRef>
                </c:val>
                <c:extLst>
                  <c:ext xmlns:c16="http://schemas.microsoft.com/office/drawing/2014/chart" uri="{C3380CC4-5D6E-409C-BE32-E72D297353CC}">
                    <c16:uniqueId val="{00000006-BD54-42F1-AAC5-B6AB217B188B}"/>
                  </c:ext>
                </c:extLst>
              </c15:ser>
            </c15:filteredBarSeries>
          </c:ext>
        </c:extLst>
      </c:barChart>
      <c:barChart>
        <c:barDir val="col"/>
        <c:grouping val="stacked"/>
        <c:varyColors val="0"/>
        <c:ser>
          <c:idx val="3"/>
          <c:order val="3"/>
          <c:tx>
            <c:strRef>
              <c:f>'Tutuila (3)'!$D$1</c:f>
              <c:strCache>
                <c:ptCount val="1"/>
                <c:pt idx="0">
                  <c:v>TS</c:v>
                </c:pt>
              </c:strCache>
            </c:strRef>
          </c:tx>
          <c:spPr>
            <a:solidFill>
              <a:schemeClr val="accent6">
                <a:lumMod val="40000"/>
                <a:lumOff val="60000"/>
              </a:schemeClr>
            </a:solidFill>
            <a:ln>
              <a:noFill/>
            </a:ln>
            <a:effectLst/>
          </c:spPr>
          <c:invertIfNegative val="0"/>
          <c:val>
            <c:numRef>
              <c:f>'Tutuila (3)'!$D$2:$D$63</c:f>
              <c:numCache>
                <c:formatCode>General</c:formatCode>
                <c:ptCount val="62"/>
                <c:pt idx="0">
                  <c:v>1</c:v>
                </c:pt>
                <c:pt idx="1">
                  <c:v>1</c:v>
                </c:pt>
                <c:pt idx="3">
                  <c:v>1</c:v>
                </c:pt>
                <c:pt idx="12">
                  <c:v>1</c:v>
                </c:pt>
                <c:pt idx="17">
                  <c:v>2</c:v>
                </c:pt>
                <c:pt idx="22">
                  <c:v>3</c:v>
                </c:pt>
                <c:pt idx="24">
                  <c:v>1</c:v>
                </c:pt>
                <c:pt idx="28">
                  <c:v>2</c:v>
                </c:pt>
                <c:pt idx="30">
                  <c:v>1</c:v>
                </c:pt>
                <c:pt idx="33">
                  <c:v>1</c:v>
                </c:pt>
                <c:pt idx="34">
                  <c:v>1</c:v>
                </c:pt>
                <c:pt idx="39">
                  <c:v>2</c:v>
                </c:pt>
                <c:pt idx="41">
                  <c:v>1</c:v>
                </c:pt>
                <c:pt idx="46">
                  <c:v>1</c:v>
                </c:pt>
                <c:pt idx="51">
                  <c:v>1</c:v>
                </c:pt>
                <c:pt idx="61">
                  <c:v>2</c:v>
                </c:pt>
              </c:numCache>
            </c:numRef>
          </c:val>
          <c:extLst>
            <c:ext xmlns:c16="http://schemas.microsoft.com/office/drawing/2014/chart" uri="{C3380CC4-5D6E-409C-BE32-E72D297353CC}">
              <c16:uniqueId val="{00000001-BD54-42F1-AAC5-B6AB217B188B}"/>
            </c:ext>
          </c:extLst>
        </c:ser>
        <c:ser>
          <c:idx val="4"/>
          <c:order val="4"/>
          <c:tx>
            <c:strRef>
              <c:f>'Tutuila (3)'!$E$1</c:f>
              <c:strCache>
                <c:ptCount val="1"/>
                <c:pt idx="0">
                  <c:v>H1-2</c:v>
                </c:pt>
              </c:strCache>
            </c:strRef>
          </c:tx>
          <c:spPr>
            <a:solidFill>
              <a:schemeClr val="accent4">
                <a:lumMod val="60000"/>
                <a:lumOff val="40000"/>
              </a:schemeClr>
            </a:solidFill>
            <a:ln>
              <a:noFill/>
            </a:ln>
            <a:effectLst/>
          </c:spPr>
          <c:invertIfNegative val="0"/>
          <c:val>
            <c:numRef>
              <c:f>'Tutuila (3)'!$E$2:$E$63</c:f>
              <c:numCache>
                <c:formatCode>General</c:formatCode>
                <c:ptCount val="62"/>
                <c:pt idx="0">
                  <c:v>1</c:v>
                </c:pt>
                <c:pt idx="1">
                  <c:v>0</c:v>
                </c:pt>
                <c:pt idx="2">
                  <c:v>1</c:v>
                </c:pt>
                <c:pt idx="3">
                  <c:v>0</c:v>
                </c:pt>
                <c:pt idx="4">
                  <c:v>1</c:v>
                </c:pt>
                <c:pt idx="5">
                  <c:v>0</c:v>
                </c:pt>
                <c:pt idx="6">
                  <c:v>0</c:v>
                </c:pt>
                <c:pt idx="7">
                  <c:v>1</c:v>
                </c:pt>
                <c:pt idx="8">
                  <c:v>1</c:v>
                </c:pt>
                <c:pt idx="9">
                  <c:v>0</c:v>
                </c:pt>
                <c:pt idx="10">
                  <c:v>0</c:v>
                </c:pt>
                <c:pt idx="11">
                  <c:v>0</c:v>
                </c:pt>
                <c:pt idx="12">
                  <c:v>0</c:v>
                </c:pt>
                <c:pt idx="13">
                  <c:v>0</c:v>
                </c:pt>
                <c:pt idx="14">
                  <c:v>0</c:v>
                </c:pt>
                <c:pt idx="15">
                  <c:v>0</c:v>
                </c:pt>
                <c:pt idx="16">
                  <c:v>0</c:v>
                </c:pt>
                <c:pt idx="17">
                  <c:v>0</c:v>
                </c:pt>
                <c:pt idx="18">
                  <c:v>0</c:v>
                </c:pt>
                <c:pt idx="19">
                  <c:v>1</c:v>
                </c:pt>
                <c:pt idx="20">
                  <c:v>0</c:v>
                </c:pt>
                <c:pt idx="21">
                  <c:v>0</c:v>
                </c:pt>
                <c:pt idx="22">
                  <c:v>0</c:v>
                </c:pt>
                <c:pt idx="23">
                  <c:v>0</c:v>
                </c:pt>
                <c:pt idx="24">
                  <c:v>0</c:v>
                </c:pt>
                <c:pt idx="25">
                  <c:v>0</c:v>
                </c:pt>
                <c:pt idx="26">
                  <c:v>0</c:v>
                </c:pt>
                <c:pt idx="27">
                  <c:v>0</c:v>
                </c:pt>
                <c:pt idx="28">
                  <c:v>1</c:v>
                </c:pt>
                <c:pt idx="29">
                  <c:v>0</c:v>
                </c:pt>
                <c:pt idx="30">
                  <c:v>0</c:v>
                </c:pt>
                <c:pt idx="31">
                  <c:v>0</c:v>
                </c:pt>
                <c:pt idx="32">
                  <c:v>0</c:v>
                </c:pt>
                <c:pt idx="33">
                  <c:v>0</c:v>
                </c:pt>
                <c:pt idx="34">
                  <c:v>2</c:v>
                </c:pt>
                <c:pt idx="35">
                  <c:v>0</c:v>
                </c:pt>
                <c:pt idx="36">
                  <c:v>0</c:v>
                </c:pt>
                <c:pt idx="37">
                  <c:v>0</c:v>
                </c:pt>
                <c:pt idx="38">
                  <c:v>1</c:v>
                </c:pt>
                <c:pt idx="39">
                  <c:v>0</c:v>
                </c:pt>
                <c:pt idx="40">
                  <c:v>0</c:v>
                </c:pt>
                <c:pt idx="41">
                  <c:v>1</c:v>
                </c:pt>
                <c:pt idx="42">
                  <c:v>0</c:v>
                </c:pt>
                <c:pt idx="43">
                  <c:v>0</c:v>
                </c:pt>
                <c:pt idx="44">
                  <c:v>0</c:v>
                </c:pt>
                <c:pt idx="45">
                  <c:v>0</c:v>
                </c:pt>
                <c:pt idx="46">
                  <c:v>0</c:v>
                </c:pt>
                <c:pt idx="47">
                  <c:v>0</c:v>
                </c:pt>
                <c:pt idx="48">
                  <c:v>1</c:v>
                </c:pt>
                <c:pt idx="49">
                  <c:v>0</c:v>
                </c:pt>
                <c:pt idx="50">
                  <c:v>0</c:v>
                </c:pt>
                <c:pt idx="51">
                  <c:v>0</c:v>
                </c:pt>
                <c:pt idx="52">
                  <c:v>0</c:v>
                </c:pt>
                <c:pt idx="53">
                  <c:v>0</c:v>
                </c:pt>
                <c:pt idx="54">
                  <c:v>1</c:v>
                </c:pt>
                <c:pt idx="55">
                  <c:v>0</c:v>
                </c:pt>
                <c:pt idx="56">
                  <c:v>0</c:v>
                </c:pt>
                <c:pt idx="57">
                  <c:v>2</c:v>
                </c:pt>
                <c:pt idx="58">
                  <c:v>0</c:v>
                </c:pt>
                <c:pt idx="59">
                  <c:v>0</c:v>
                </c:pt>
                <c:pt idx="60">
                  <c:v>0</c:v>
                </c:pt>
                <c:pt idx="61">
                  <c:v>0</c:v>
                </c:pt>
              </c:numCache>
            </c:numRef>
          </c:val>
          <c:extLst>
            <c:ext xmlns:c16="http://schemas.microsoft.com/office/drawing/2014/chart" uri="{C3380CC4-5D6E-409C-BE32-E72D297353CC}">
              <c16:uniqueId val="{00000002-BD54-42F1-AAC5-B6AB217B188B}"/>
            </c:ext>
          </c:extLst>
        </c:ser>
        <c:ser>
          <c:idx val="5"/>
          <c:order val="5"/>
          <c:tx>
            <c:strRef>
              <c:f>'Tutuila (3)'!$F$1</c:f>
              <c:strCache>
                <c:ptCount val="1"/>
                <c:pt idx="0">
                  <c:v>H3-5</c:v>
                </c:pt>
              </c:strCache>
            </c:strRef>
          </c:tx>
          <c:spPr>
            <a:solidFill>
              <a:srgbClr val="FF0000"/>
            </a:solidFill>
            <a:ln>
              <a:noFill/>
            </a:ln>
            <a:effectLst/>
          </c:spPr>
          <c:invertIfNegative val="0"/>
          <c:val>
            <c:numRef>
              <c:f>'Tutuila (3)'!$F$2:$F$63</c:f>
              <c:numCache>
                <c:formatCode>General</c:formatCode>
                <c:ptCount val="6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1</c:v>
                </c:pt>
                <c:pt idx="24">
                  <c:v>0</c:v>
                </c:pt>
                <c:pt idx="25">
                  <c:v>0</c:v>
                </c:pt>
                <c:pt idx="26">
                  <c:v>0</c:v>
                </c:pt>
                <c:pt idx="27">
                  <c:v>0</c:v>
                </c:pt>
                <c:pt idx="28">
                  <c:v>1</c:v>
                </c:pt>
                <c:pt idx="29">
                  <c:v>0</c:v>
                </c:pt>
                <c:pt idx="30">
                  <c:v>0</c:v>
                </c:pt>
                <c:pt idx="31">
                  <c:v>0</c:v>
                </c:pt>
                <c:pt idx="32">
                  <c:v>1</c:v>
                </c:pt>
                <c:pt idx="33">
                  <c:v>0</c:v>
                </c:pt>
                <c:pt idx="34">
                  <c:v>0</c:v>
                </c:pt>
                <c:pt idx="35">
                  <c:v>0</c:v>
                </c:pt>
                <c:pt idx="36">
                  <c:v>0</c:v>
                </c:pt>
                <c:pt idx="37">
                  <c:v>0</c:v>
                </c:pt>
                <c:pt idx="38">
                  <c:v>1</c:v>
                </c:pt>
                <c:pt idx="39">
                  <c:v>1</c:v>
                </c:pt>
                <c:pt idx="40">
                  <c:v>0</c:v>
                </c:pt>
                <c:pt idx="41">
                  <c:v>0</c:v>
                </c:pt>
                <c:pt idx="42">
                  <c:v>0</c:v>
                </c:pt>
                <c:pt idx="43">
                  <c:v>0</c:v>
                </c:pt>
                <c:pt idx="44">
                  <c:v>0</c:v>
                </c:pt>
                <c:pt idx="45">
                  <c:v>0</c:v>
                </c:pt>
                <c:pt idx="46">
                  <c:v>4</c:v>
                </c:pt>
                <c:pt idx="47">
                  <c:v>0</c:v>
                </c:pt>
                <c:pt idx="48">
                  <c:v>0</c:v>
                </c:pt>
                <c:pt idx="49">
                  <c:v>0</c:v>
                </c:pt>
                <c:pt idx="50">
                  <c:v>0</c:v>
                </c:pt>
                <c:pt idx="51">
                  <c:v>3</c:v>
                </c:pt>
                <c:pt idx="52">
                  <c:v>1</c:v>
                </c:pt>
                <c:pt idx="53">
                  <c:v>1</c:v>
                </c:pt>
                <c:pt idx="54">
                  <c:v>0</c:v>
                </c:pt>
                <c:pt idx="55">
                  <c:v>0</c:v>
                </c:pt>
                <c:pt idx="56">
                  <c:v>1</c:v>
                </c:pt>
                <c:pt idx="57">
                  <c:v>0</c:v>
                </c:pt>
                <c:pt idx="58">
                  <c:v>0</c:v>
                </c:pt>
                <c:pt idx="59">
                  <c:v>1</c:v>
                </c:pt>
                <c:pt idx="60">
                  <c:v>0</c:v>
                </c:pt>
                <c:pt idx="61">
                  <c:v>0</c:v>
                </c:pt>
              </c:numCache>
            </c:numRef>
          </c:val>
          <c:extLst>
            <c:ext xmlns:c16="http://schemas.microsoft.com/office/drawing/2014/chart" uri="{C3380CC4-5D6E-409C-BE32-E72D297353CC}">
              <c16:uniqueId val="{00000003-BD54-42F1-AAC5-B6AB217B188B}"/>
            </c:ext>
          </c:extLst>
        </c:ser>
        <c:dLbls>
          <c:showLegendKey val="0"/>
          <c:showVal val="0"/>
          <c:showCatName val="0"/>
          <c:showSerName val="0"/>
          <c:showPercent val="0"/>
          <c:showBubbleSize val="0"/>
        </c:dLbls>
        <c:gapWidth val="15"/>
        <c:overlap val="100"/>
        <c:axId val="593285720"/>
        <c:axId val="593285392"/>
      </c:barChart>
      <c:lineChart>
        <c:grouping val="standard"/>
        <c:varyColors val="0"/>
        <c:ser>
          <c:idx val="6"/>
          <c:order val="6"/>
          <c:tx>
            <c:strRef>
              <c:f>'Tutuila (3)'!$G$1</c:f>
              <c:strCache>
                <c:ptCount val="1"/>
                <c:pt idx="0">
                  <c:v>Hurricane</c:v>
                </c:pt>
              </c:strCache>
            </c:strRef>
          </c:tx>
          <c:spPr>
            <a:ln w="0" cap="sq">
              <a:solidFill>
                <a:srgbClr val="FF0000"/>
              </a:solidFill>
              <a:round/>
              <a:tailEnd type="none"/>
            </a:ln>
            <a:effectLst/>
          </c:spPr>
          <c:marker>
            <c:symbol val="picture"/>
            <c:spPr>
              <a:blipFill>
                <a:blip xmlns:r="http://schemas.openxmlformats.org/officeDocument/2006/relationships" r:embed="rId2"/>
                <a:stretch>
                  <a:fillRect/>
                </a:stretch>
              </a:blipFill>
              <a:ln w="9525">
                <a:noFill/>
              </a:ln>
              <a:effectLst/>
            </c:spPr>
          </c:marker>
          <c:dPt>
            <c:idx val="46"/>
            <c:marker>
              <c:spPr>
                <a:blipFill>
                  <a:blip xmlns:r="http://schemas.openxmlformats.org/officeDocument/2006/relationships" r:embed="rId2"/>
                  <a:stretch>
                    <a:fillRect/>
                  </a:stretch>
                </a:blipFill>
                <a:ln w="9525">
                  <a:solidFill>
                    <a:srgbClr val="FF0000"/>
                  </a:solidFill>
                </a:ln>
                <a:effectLst/>
              </c:spPr>
            </c:marker>
            <c:bubble3D val="0"/>
            <c:extLst>
              <c:ext xmlns:c16="http://schemas.microsoft.com/office/drawing/2014/chart" uri="{C3380CC4-5D6E-409C-BE32-E72D297353CC}">
                <c16:uniqueId val="{00000004-BD54-42F1-AAC5-B6AB217B188B}"/>
              </c:ext>
            </c:extLst>
          </c:dPt>
          <c:cat>
            <c:numRef>
              <c:f>'Tutuila (3)'!$A$2:$A$63</c:f>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f>'Tutuila (3)'!$G$2:$G$63</c:f>
              <c:numCache>
                <c:formatCode>General</c:formatCode>
                <c:ptCount val="62"/>
                <c:pt idx="0">
                  <c:v>3.5</c:v>
                </c:pt>
                <c:pt idx="2">
                  <c:v>3.5</c:v>
                </c:pt>
                <c:pt idx="6">
                  <c:v>3.5</c:v>
                </c:pt>
                <c:pt idx="8">
                  <c:v>3.5</c:v>
                </c:pt>
                <c:pt idx="28">
                  <c:v>3.5</c:v>
                </c:pt>
                <c:pt idx="32">
                  <c:v>3.5</c:v>
                </c:pt>
                <c:pt idx="46">
                  <c:v>3.8</c:v>
                </c:pt>
                <c:pt idx="51">
                  <c:v>3.5</c:v>
                </c:pt>
                <c:pt idx="53">
                  <c:v>3.5</c:v>
                </c:pt>
                <c:pt idx="56">
                  <c:v>3.5</c:v>
                </c:pt>
                <c:pt idx="57">
                  <c:v>3.5</c:v>
                </c:pt>
              </c:numCache>
            </c:numRef>
          </c:val>
          <c:smooth val="0"/>
          <c:extLst>
            <c:ext xmlns:c16="http://schemas.microsoft.com/office/drawing/2014/chart" uri="{C3380CC4-5D6E-409C-BE32-E72D297353CC}">
              <c16:uniqueId val="{00000005-BD54-42F1-AAC5-B6AB217B188B}"/>
            </c:ext>
          </c:extLst>
        </c:ser>
        <c:dLbls>
          <c:showLegendKey val="0"/>
          <c:showVal val="0"/>
          <c:showCatName val="0"/>
          <c:showSerName val="0"/>
          <c:showPercent val="0"/>
          <c:showBubbleSize val="0"/>
        </c:dLbls>
        <c:marker val="1"/>
        <c:smooth val="0"/>
        <c:axId val="1143368248"/>
        <c:axId val="1143361688"/>
        <c:extLst>
          <c:ext xmlns:c15="http://schemas.microsoft.com/office/drawing/2012/chart" uri="{02D57815-91ED-43cb-92C2-25804820EDAC}">
            <c15:filteredLineSeries>
              <c15:ser>
                <c:idx val="1"/>
                <c:order val="1"/>
                <c:tx>
                  <c:strRef>
                    <c:extLst>
                      <c:ext uri="{02D57815-91ED-43cb-92C2-25804820EDAC}">
                        <c15:formulaRef>
                          <c15:sqref>'Tutuila (3)'!$B$1</c15:sqref>
                        </c15:formulaRef>
                      </c:ext>
                    </c:extLst>
                    <c:strCache>
                      <c:ptCount val="1"/>
                      <c:pt idx="0">
                        <c:v>Annual Precipitation</c:v>
                      </c:pt>
                    </c:strCache>
                  </c:strRef>
                </c:tx>
                <c:spPr>
                  <a:ln w="12700" cap="rnd">
                    <a:solidFill>
                      <a:srgbClr val="00B0F0"/>
                    </a:solidFill>
                    <a:round/>
                  </a:ln>
                  <a:effectLst/>
                </c:spPr>
                <c:marker>
                  <c:symbol val="none"/>
                </c:marker>
                <c:cat>
                  <c:numRef>
                    <c:extLst>
                      <c:ext uri="{02D57815-91ED-43cb-92C2-25804820EDAC}">
                        <c15:formulaRef>
                          <c15:sqref>'Tutuila (3)'!$A$2:$A$63</c15:sqref>
                        </c15:formulaRef>
                      </c:ext>
                    </c:extLst>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extLst>
                      <c:ext uri="{02D57815-91ED-43cb-92C2-25804820EDAC}">
                        <c15:formulaRef>
                          <c15:sqref>'Tutuila (3)'!$B$8:$B$63</c15:sqref>
                        </c15:formulaRef>
                      </c:ext>
                    </c:extLst>
                    <c:numCache>
                      <c:formatCode>General</c:formatCode>
                      <c:ptCount val="56"/>
                      <c:pt idx="0">
                        <c:v>111</c:v>
                      </c:pt>
                      <c:pt idx="1">
                        <c:v>136.27000000000001</c:v>
                      </c:pt>
                      <c:pt idx="2">
                        <c:v>140.63</c:v>
                      </c:pt>
                      <c:pt idx="3">
                        <c:v>116.84</c:v>
                      </c:pt>
                      <c:pt idx="4">
                        <c:v>123.52</c:v>
                      </c:pt>
                      <c:pt idx="5">
                        <c:v>134.96</c:v>
                      </c:pt>
                      <c:pt idx="6">
                        <c:v>96.17</c:v>
                      </c:pt>
                      <c:pt idx="7">
                        <c:v>130.58000000000001</c:v>
                      </c:pt>
                      <c:pt idx="8">
                        <c:v>131.15</c:v>
                      </c:pt>
                      <c:pt idx="9">
                        <c:v>77.89</c:v>
                      </c:pt>
                      <c:pt idx="10">
                        <c:v>125.07</c:v>
                      </c:pt>
                      <c:pt idx="11">
                        <c:v>114.52</c:v>
                      </c:pt>
                      <c:pt idx="12">
                        <c:v>97.78</c:v>
                      </c:pt>
                      <c:pt idx="13">
                        <c:v>153.03</c:v>
                      </c:pt>
                      <c:pt idx="14">
                        <c:v>110.95</c:v>
                      </c:pt>
                      <c:pt idx="15">
                        <c:v>145.88999999999999</c:v>
                      </c:pt>
                      <c:pt idx="16">
                        <c:v>165.48</c:v>
                      </c:pt>
                      <c:pt idx="17">
                        <c:v>106.3</c:v>
                      </c:pt>
                      <c:pt idx="18">
                        <c:v>87.36</c:v>
                      </c:pt>
                      <c:pt idx="19">
                        <c:v>117.58</c:v>
                      </c:pt>
                      <c:pt idx="20">
                        <c:v>116.71</c:v>
                      </c:pt>
                      <c:pt idx="21">
                        <c:v>149.88</c:v>
                      </c:pt>
                      <c:pt idx="22">
                        <c:v>94.63</c:v>
                      </c:pt>
                      <c:pt idx="23">
                        <c:v>126.78</c:v>
                      </c:pt>
                      <c:pt idx="24">
                        <c:v>120.78</c:v>
                      </c:pt>
                      <c:pt idx="25">
                        <c:v>105.33</c:v>
                      </c:pt>
                      <c:pt idx="26">
                        <c:v>131.56</c:v>
                      </c:pt>
                      <c:pt idx="27">
                        <c:v>139.41</c:v>
                      </c:pt>
                      <c:pt idx="28">
                        <c:v>125.51</c:v>
                      </c:pt>
                      <c:pt idx="29">
                        <c:v>162.06</c:v>
                      </c:pt>
                      <c:pt idx="30">
                        <c:v>124.19</c:v>
                      </c:pt>
                      <c:pt idx="31">
                        <c:v>122.44</c:v>
                      </c:pt>
                      <c:pt idx="32">
                        <c:v>103.18</c:v>
                      </c:pt>
                      <c:pt idx="33">
                        <c:v>55.87</c:v>
                      </c:pt>
                      <c:pt idx="34">
                        <c:v>126.79</c:v>
                      </c:pt>
                      <c:pt idx="35">
                        <c:v>115.24</c:v>
                      </c:pt>
                      <c:pt idx="36">
                        <c:v>96.84</c:v>
                      </c:pt>
                      <c:pt idx="37">
                        <c:v>112.8</c:v>
                      </c:pt>
                      <c:pt idx="38">
                        <c:v>131.71</c:v>
                      </c:pt>
                      <c:pt idx="39">
                        <c:v>95.76</c:v>
                      </c:pt>
                      <c:pt idx="40">
                        <c:v>150.09</c:v>
                      </c:pt>
                      <c:pt idx="41">
                        <c:v>160.04</c:v>
                      </c:pt>
                      <c:pt idx="42">
                        <c:v>145.19</c:v>
                      </c:pt>
                      <c:pt idx="43">
                        <c:v>129.63999999999999</c:v>
                      </c:pt>
                      <c:pt idx="44">
                        <c:v>139.28</c:v>
                      </c:pt>
                      <c:pt idx="45">
                        <c:v>130.24</c:v>
                      </c:pt>
                      <c:pt idx="46">
                        <c:v>105.94</c:v>
                      </c:pt>
                      <c:pt idx="47">
                        <c:v>123.8</c:v>
                      </c:pt>
                      <c:pt idx="48">
                        <c:v>129.44</c:v>
                      </c:pt>
                      <c:pt idx="49">
                        <c:v>125.46</c:v>
                      </c:pt>
                      <c:pt idx="50">
                        <c:v>149</c:v>
                      </c:pt>
                      <c:pt idx="51">
                        <c:v>112.97</c:v>
                      </c:pt>
                      <c:pt idx="52">
                        <c:v>133.57</c:v>
                      </c:pt>
                      <c:pt idx="53">
                        <c:v>158.97</c:v>
                      </c:pt>
                      <c:pt idx="54">
                        <c:v>144.47</c:v>
                      </c:pt>
                    </c:numCache>
                  </c:numRef>
                </c:val>
                <c:smooth val="0"/>
                <c:extLst>
                  <c:ext xmlns:c16="http://schemas.microsoft.com/office/drawing/2014/chart" uri="{C3380CC4-5D6E-409C-BE32-E72D297353CC}">
                    <c16:uniqueId val="{00000007-BD54-42F1-AAC5-B6AB217B188B}"/>
                  </c:ext>
                </c:extLst>
              </c15:ser>
            </c15:filteredLineSeries>
          </c:ext>
        </c:extLst>
      </c:lineChart>
      <c:catAx>
        <c:axId val="11433682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43361688"/>
        <c:crosses val="autoZero"/>
        <c:auto val="1"/>
        <c:lblAlgn val="ctr"/>
        <c:lblOffset val="100"/>
        <c:tickLblSkip val="5"/>
        <c:noMultiLvlLbl val="0"/>
      </c:catAx>
      <c:valAx>
        <c:axId val="1143361688"/>
        <c:scaling>
          <c:orientation val="minMax"/>
          <c:max val="4"/>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cross"/>
        <c:minorTickMark val="none"/>
        <c:tickLblPos val="nextTo"/>
        <c:spPr>
          <a:noFill/>
          <a:ln>
            <a:solidFill>
              <a:srgbClr val="00B0F0"/>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3368248"/>
        <c:crosses val="autoZero"/>
        <c:crossBetween val="between"/>
        <c:majorUnit val="1"/>
      </c:valAx>
      <c:valAx>
        <c:axId val="593285392"/>
        <c:scaling>
          <c:orientation val="minMax"/>
        </c:scaling>
        <c:delete val="0"/>
        <c:axPos val="r"/>
        <c:numFmt formatCode="General" sourceLinked="1"/>
        <c:majorTickMark val="cross"/>
        <c:minorTickMark val="none"/>
        <c:tickLblPos val="nextTo"/>
        <c:spPr>
          <a:noFill/>
          <a:ln>
            <a:solidFill>
              <a:srgbClr val="00B0F0"/>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285720"/>
        <c:crosses val="max"/>
        <c:crossBetween val="between"/>
        <c:majorUnit val="1"/>
      </c:valAx>
      <c:catAx>
        <c:axId val="593285720"/>
        <c:scaling>
          <c:orientation val="minMax"/>
        </c:scaling>
        <c:delete val="1"/>
        <c:axPos val="b"/>
        <c:majorTickMark val="out"/>
        <c:minorTickMark val="none"/>
        <c:tickLblPos val="nextTo"/>
        <c:crossAx val="593285392"/>
        <c:crosses val="autoZero"/>
        <c:auto val="1"/>
        <c:lblAlgn val="ctr"/>
        <c:lblOffset val="100"/>
        <c:noMultiLvlLbl val="0"/>
      </c:catAx>
      <c:spPr>
        <a:noFill/>
        <a:ln>
          <a:noFill/>
        </a:ln>
        <a:effectLst/>
      </c:spPr>
    </c:plotArea>
    <c:legend>
      <c:legendPos val="b"/>
      <c:overlay val="0"/>
      <c:spPr>
        <a:noFill/>
        <a:ln w="0">
          <a:solidFill>
            <a:srgbClr val="00B0F0"/>
          </a:solidFill>
          <a:prstDash val="sysDot"/>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Annual Precipitation</a:t>
            </a:r>
            <a:r>
              <a:rPr lang="en-US" b="1" baseline="0" dirty="0"/>
              <a:t> in American Samoa 1967-2020</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2"/>
          <c:order val="1"/>
          <c:tx>
            <c:strRef>
              <c:f>Sheet3!$E$1</c:f>
              <c:strCache>
                <c:ptCount val="1"/>
                <c:pt idx="0">
                  <c:v>La Nina</c:v>
                </c:pt>
              </c:strCache>
            </c:strRef>
          </c:tx>
          <c:spPr>
            <a:solidFill>
              <a:schemeClr val="accent5">
                <a:lumMod val="40000"/>
                <a:lumOff val="60000"/>
              </a:schemeClr>
            </a:solidFill>
            <a:ln>
              <a:noFill/>
            </a:ln>
            <a:effectLst/>
          </c:spPr>
          <c:invertIfNegative val="0"/>
          <c:cat>
            <c:numRef>
              <c:f>Sheet3!$A$2:$A$66</c:f>
              <c:numCache>
                <c:formatCode>General</c:formatCode>
                <c:ptCount val="54"/>
                <c:pt idx="0">
                  <c:v>1967</c:v>
                </c:pt>
                <c:pt idx="1">
                  <c:v>1968</c:v>
                </c:pt>
                <c:pt idx="2">
                  <c:v>1969</c:v>
                </c:pt>
                <c:pt idx="3">
                  <c:v>1970</c:v>
                </c:pt>
                <c:pt idx="4">
                  <c:v>1971</c:v>
                </c:pt>
                <c:pt idx="5">
                  <c:v>1972</c:v>
                </c:pt>
                <c:pt idx="6">
                  <c:v>1973</c:v>
                </c:pt>
                <c:pt idx="7">
                  <c:v>1974</c:v>
                </c:pt>
                <c:pt idx="8">
                  <c:v>1975</c:v>
                </c:pt>
                <c:pt idx="9">
                  <c:v>1976</c:v>
                </c:pt>
                <c:pt idx="10">
                  <c:v>1977</c:v>
                </c:pt>
                <c:pt idx="11">
                  <c:v>1978</c:v>
                </c:pt>
                <c:pt idx="12">
                  <c:v>1979</c:v>
                </c:pt>
                <c:pt idx="13">
                  <c:v>1980</c:v>
                </c:pt>
                <c:pt idx="14">
                  <c:v>1981</c:v>
                </c:pt>
                <c:pt idx="15">
                  <c:v>1982</c:v>
                </c:pt>
                <c:pt idx="16">
                  <c:v>1983</c:v>
                </c:pt>
                <c:pt idx="17">
                  <c:v>1984</c:v>
                </c:pt>
                <c:pt idx="18">
                  <c:v>1985</c:v>
                </c:pt>
                <c:pt idx="19">
                  <c:v>1986</c:v>
                </c:pt>
                <c:pt idx="20">
                  <c:v>1987</c:v>
                </c:pt>
                <c:pt idx="21">
                  <c:v>1988</c:v>
                </c:pt>
                <c:pt idx="22">
                  <c:v>1989</c:v>
                </c:pt>
                <c:pt idx="23">
                  <c:v>1990</c:v>
                </c:pt>
                <c:pt idx="24">
                  <c:v>1991</c:v>
                </c:pt>
                <c:pt idx="25">
                  <c:v>1992</c:v>
                </c:pt>
                <c:pt idx="26">
                  <c:v>1993</c:v>
                </c:pt>
                <c:pt idx="27">
                  <c:v>1994</c:v>
                </c:pt>
                <c:pt idx="28">
                  <c:v>1995</c:v>
                </c:pt>
                <c:pt idx="29">
                  <c:v>1996</c:v>
                </c:pt>
                <c:pt idx="30">
                  <c:v>1997</c:v>
                </c:pt>
                <c:pt idx="31">
                  <c:v>1998</c:v>
                </c:pt>
                <c:pt idx="32">
                  <c:v>1999</c:v>
                </c:pt>
                <c:pt idx="33">
                  <c:v>2000</c:v>
                </c:pt>
                <c:pt idx="34">
                  <c:v>2001</c:v>
                </c:pt>
                <c:pt idx="35">
                  <c:v>2002</c:v>
                </c:pt>
                <c:pt idx="36">
                  <c:v>2003</c:v>
                </c:pt>
                <c:pt idx="37">
                  <c:v>2004</c:v>
                </c:pt>
                <c:pt idx="38">
                  <c:v>2005</c:v>
                </c:pt>
                <c:pt idx="39">
                  <c:v>2006</c:v>
                </c:pt>
                <c:pt idx="40">
                  <c:v>2007</c:v>
                </c:pt>
                <c:pt idx="41">
                  <c:v>2008</c:v>
                </c:pt>
                <c:pt idx="42">
                  <c:v>2009</c:v>
                </c:pt>
                <c:pt idx="43">
                  <c:v>2010</c:v>
                </c:pt>
                <c:pt idx="44">
                  <c:v>2011</c:v>
                </c:pt>
                <c:pt idx="45">
                  <c:v>2012</c:v>
                </c:pt>
                <c:pt idx="46">
                  <c:v>2013</c:v>
                </c:pt>
                <c:pt idx="47">
                  <c:v>2014</c:v>
                </c:pt>
                <c:pt idx="48">
                  <c:v>2015</c:v>
                </c:pt>
                <c:pt idx="49">
                  <c:v>2016</c:v>
                </c:pt>
                <c:pt idx="50">
                  <c:v>2017</c:v>
                </c:pt>
                <c:pt idx="51">
                  <c:v>2018</c:v>
                </c:pt>
                <c:pt idx="52">
                  <c:v>2019</c:v>
                </c:pt>
              </c:numCache>
            </c:numRef>
          </c:cat>
          <c:val>
            <c:numRef>
              <c:f>Sheet3!$E$2:$E$66</c:f>
              <c:numCache>
                <c:formatCode>General</c:formatCode>
                <c:ptCount val="54"/>
                <c:pt idx="2">
                  <c:v>180</c:v>
                </c:pt>
                <c:pt idx="3">
                  <c:v>180</c:v>
                </c:pt>
                <c:pt idx="6">
                  <c:v>180</c:v>
                </c:pt>
                <c:pt idx="7">
                  <c:v>180</c:v>
                </c:pt>
                <c:pt idx="8">
                  <c:v>180</c:v>
                </c:pt>
                <c:pt idx="9">
                  <c:v>180</c:v>
                </c:pt>
                <c:pt idx="22">
                  <c:v>180</c:v>
                </c:pt>
                <c:pt idx="23">
                  <c:v>180</c:v>
                </c:pt>
                <c:pt idx="31">
                  <c:v>180</c:v>
                </c:pt>
                <c:pt idx="32">
                  <c:v>180</c:v>
                </c:pt>
                <c:pt idx="33">
                  <c:v>180</c:v>
                </c:pt>
                <c:pt idx="40">
                  <c:v>180</c:v>
                </c:pt>
                <c:pt idx="41">
                  <c:v>180</c:v>
                </c:pt>
                <c:pt idx="42">
                  <c:v>180</c:v>
                </c:pt>
                <c:pt idx="43">
                  <c:v>180</c:v>
                </c:pt>
                <c:pt idx="44">
                  <c:v>180</c:v>
                </c:pt>
                <c:pt idx="49">
                  <c:v>180</c:v>
                </c:pt>
                <c:pt idx="50">
                  <c:v>180</c:v>
                </c:pt>
                <c:pt idx="51">
                  <c:v>180</c:v>
                </c:pt>
              </c:numCache>
            </c:numRef>
          </c:val>
          <c:extLst>
            <c:ext xmlns:c16="http://schemas.microsoft.com/office/drawing/2014/chart" uri="{C3380CC4-5D6E-409C-BE32-E72D297353CC}">
              <c16:uniqueId val="{00000000-E0A5-4AA1-872C-5DD19E75CF17}"/>
            </c:ext>
          </c:extLst>
        </c:ser>
        <c:ser>
          <c:idx val="0"/>
          <c:order val="2"/>
          <c:tx>
            <c:strRef>
              <c:f>Sheet3!$D$1</c:f>
              <c:strCache>
                <c:ptCount val="1"/>
                <c:pt idx="0">
                  <c:v>El Nino</c:v>
                </c:pt>
              </c:strCache>
            </c:strRef>
          </c:tx>
          <c:spPr>
            <a:solidFill>
              <a:srgbClr val="FCC3A6"/>
            </a:solidFill>
            <a:ln>
              <a:noFill/>
            </a:ln>
            <a:effectLst/>
          </c:spPr>
          <c:invertIfNegative val="0"/>
          <c:cat>
            <c:numRef>
              <c:f>Sheet3!$A$2:$A$66</c:f>
              <c:numCache>
                <c:formatCode>General</c:formatCode>
                <c:ptCount val="54"/>
                <c:pt idx="0">
                  <c:v>1967</c:v>
                </c:pt>
                <c:pt idx="1">
                  <c:v>1968</c:v>
                </c:pt>
                <c:pt idx="2">
                  <c:v>1969</c:v>
                </c:pt>
                <c:pt idx="3">
                  <c:v>1970</c:v>
                </c:pt>
                <c:pt idx="4">
                  <c:v>1971</c:v>
                </c:pt>
                <c:pt idx="5">
                  <c:v>1972</c:v>
                </c:pt>
                <c:pt idx="6">
                  <c:v>1973</c:v>
                </c:pt>
                <c:pt idx="7">
                  <c:v>1974</c:v>
                </c:pt>
                <c:pt idx="8">
                  <c:v>1975</c:v>
                </c:pt>
                <c:pt idx="9">
                  <c:v>1976</c:v>
                </c:pt>
                <c:pt idx="10">
                  <c:v>1977</c:v>
                </c:pt>
                <c:pt idx="11">
                  <c:v>1978</c:v>
                </c:pt>
                <c:pt idx="12">
                  <c:v>1979</c:v>
                </c:pt>
                <c:pt idx="13">
                  <c:v>1980</c:v>
                </c:pt>
                <c:pt idx="14">
                  <c:v>1981</c:v>
                </c:pt>
                <c:pt idx="15">
                  <c:v>1982</c:v>
                </c:pt>
                <c:pt idx="16">
                  <c:v>1983</c:v>
                </c:pt>
                <c:pt idx="17">
                  <c:v>1984</c:v>
                </c:pt>
                <c:pt idx="18">
                  <c:v>1985</c:v>
                </c:pt>
                <c:pt idx="19">
                  <c:v>1986</c:v>
                </c:pt>
                <c:pt idx="20">
                  <c:v>1987</c:v>
                </c:pt>
                <c:pt idx="21">
                  <c:v>1988</c:v>
                </c:pt>
                <c:pt idx="22">
                  <c:v>1989</c:v>
                </c:pt>
                <c:pt idx="23">
                  <c:v>1990</c:v>
                </c:pt>
                <c:pt idx="24">
                  <c:v>1991</c:v>
                </c:pt>
                <c:pt idx="25">
                  <c:v>1992</c:v>
                </c:pt>
                <c:pt idx="26">
                  <c:v>1993</c:v>
                </c:pt>
                <c:pt idx="27">
                  <c:v>1994</c:v>
                </c:pt>
                <c:pt idx="28">
                  <c:v>1995</c:v>
                </c:pt>
                <c:pt idx="29">
                  <c:v>1996</c:v>
                </c:pt>
                <c:pt idx="30">
                  <c:v>1997</c:v>
                </c:pt>
                <c:pt idx="31">
                  <c:v>1998</c:v>
                </c:pt>
                <c:pt idx="32">
                  <c:v>1999</c:v>
                </c:pt>
                <c:pt idx="33">
                  <c:v>2000</c:v>
                </c:pt>
                <c:pt idx="34">
                  <c:v>2001</c:v>
                </c:pt>
                <c:pt idx="35">
                  <c:v>2002</c:v>
                </c:pt>
                <c:pt idx="36">
                  <c:v>2003</c:v>
                </c:pt>
                <c:pt idx="37">
                  <c:v>2004</c:v>
                </c:pt>
                <c:pt idx="38">
                  <c:v>2005</c:v>
                </c:pt>
                <c:pt idx="39">
                  <c:v>2006</c:v>
                </c:pt>
                <c:pt idx="40">
                  <c:v>2007</c:v>
                </c:pt>
                <c:pt idx="41">
                  <c:v>2008</c:v>
                </c:pt>
                <c:pt idx="42">
                  <c:v>2009</c:v>
                </c:pt>
                <c:pt idx="43">
                  <c:v>2010</c:v>
                </c:pt>
                <c:pt idx="44">
                  <c:v>2011</c:v>
                </c:pt>
                <c:pt idx="45">
                  <c:v>2012</c:v>
                </c:pt>
                <c:pt idx="46">
                  <c:v>2013</c:v>
                </c:pt>
                <c:pt idx="47">
                  <c:v>2014</c:v>
                </c:pt>
                <c:pt idx="48">
                  <c:v>2015</c:v>
                </c:pt>
                <c:pt idx="49">
                  <c:v>2016</c:v>
                </c:pt>
                <c:pt idx="50">
                  <c:v>2017</c:v>
                </c:pt>
                <c:pt idx="51">
                  <c:v>2018</c:v>
                </c:pt>
                <c:pt idx="52">
                  <c:v>2019</c:v>
                </c:pt>
              </c:numCache>
            </c:numRef>
          </c:cat>
          <c:val>
            <c:numRef>
              <c:f>Sheet3!$D$2:$D$66</c:f>
              <c:numCache>
                <c:formatCode>General</c:formatCode>
                <c:ptCount val="54"/>
                <c:pt idx="0">
                  <c:v>180</c:v>
                </c:pt>
                <c:pt idx="5">
                  <c:v>180</c:v>
                </c:pt>
                <c:pt idx="6">
                  <c:v>180</c:v>
                </c:pt>
                <c:pt idx="15">
                  <c:v>180</c:v>
                </c:pt>
                <c:pt idx="16">
                  <c:v>180</c:v>
                </c:pt>
                <c:pt idx="20">
                  <c:v>180</c:v>
                </c:pt>
                <c:pt idx="21">
                  <c:v>180</c:v>
                </c:pt>
                <c:pt idx="25">
                  <c:v>180</c:v>
                </c:pt>
                <c:pt idx="26">
                  <c:v>180</c:v>
                </c:pt>
                <c:pt idx="30">
                  <c:v>180</c:v>
                </c:pt>
                <c:pt idx="31">
                  <c:v>180</c:v>
                </c:pt>
                <c:pt idx="35">
                  <c:v>180</c:v>
                </c:pt>
                <c:pt idx="36">
                  <c:v>180</c:v>
                </c:pt>
                <c:pt idx="37">
                  <c:v>180</c:v>
                </c:pt>
                <c:pt idx="38">
                  <c:v>180</c:v>
                </c:pt>
                <c:pt idx="39">
                  <c:v>180</c:v>
                </c:pt>
                <c:pt idx="40">
                  <c:v>180</c:v>
                </c:pt>
                <c:pt idx="42">
                  <c:v>180</c:v>
                </c:pt>
                <c:pt idx="43">
                  <c:v>180</c:v>
                </c:pt>
                <c:pt idx="47">
                  <c:v>180</c:v>
                </c:pt>
                <c:pt idx="48">
                  <c:v>180</c:v>
                </c:pt>
                <c:pt idx="49">
                  <c:v>180</c:v>
                </c:pt>
                <c:pt idx="51">
                  <c:v>180</c:v>
                </c:pt>
                <c:pt idx="52">
                  <c:v>180</c:v>
                </c:pt>
                <c:pt idx="53">
                  <c:v>180</c:v>
                </c:pt>
              </c:numCache>
            </c:numRef>
          </c:val>
          <c:extLst>
            <c:ext xmlns:c16="http://schemas.microsoft.com/office/drawing/2014/chart" uri="{C3380CC4-5D6E-409C-BE32-E72D297353CC}">
              <c16:uniqueId val="{00000001-E0A5-4AA1-872C-5DD19E75CF17}"/>
            </c:ext>
          </c:extLst>
        </c:ser>
        <c:dLbls>
          <c:showLegendKey val="0"/>
          <c:showVal val="0"/>
          <c:showCatName val="0"/>
          <c:showSerName val="0"/>
          <c:showPercent val="0"/>
          <c:showBubbleSize val="0"/>
        </c:dLbls>
        <c:gapWidth val="150"/>
        <c:axId val="681726968"/>
        <c:axId val="593281784"/>
      </c:barChart>
      <c:lineChart>
        <c:grouping val="standard"/>
        <c:varyColors val="0"/>
        <c:ser>
          <c:idx val="1"/>
          <c:order val="0"/>
          <c:tx>
            <c:strRef>
              <c:f>Sheet3!$B$1</c:f>
              <c:strCache>
                <c:ptCount val="1"/>
                <c:pt idx="0">
                  <c:v>Annual Precipitation</c:v>
                </c:pt>
              </c:strCache>
            </c:strRef>
          </c:tx>
          <c:spPr>
            <a:ln w="28575" cap="rnd">
              <a:solidFill>
                <a:schemeClr val="tx1">
                  <a:lumMod val="65000"/>
                  <a:lumOff val="35000"/>
                </a:schemeClr>
              </a:solidFill>
              <a:round/>
            </a:ln>
            <a:effectLst/>
          </c:spPr>
          <c:marker>
            <c:symbol val="none"/>
          </c:marker>
          <c:trendline>
            <c:spPr>
              <a:ln w="19050" cap="rnd">
                <a:solidFill>
                  <a:schemeClr val="accent2"/>
                </a:solidFill>
                <a:prstDash val="sysDot"/>
              </a:ln>
              <a:effectLst/>
            </c:spPr>
            <c:trendlineType val="linear"/>
            <c:dispRSqr val="0"/>
            <c:dispEq val="0"/>
          </c:trendline>
          <c:cat>
            <c:numRef>
              <c:f>Sheet3!$A$2:$A$66</c:f>
              <c:numCache>
                <c:formatCode>General</c:formatCode>
                <c:ptCount val="54"/>
                <c:pt idx="0">
                  <c:v>1967</c:v>
                </c:pt>
                <c:pt idx="1">
                  <c:v>1968</c:v>
                </c:pt>
                <c:pt idx="2">
                  <c:v>1969</c:v>
                </c:pt>
                <c:pt idx="3">
                  <c:v>1970</c:v>
                </c:pt>
                <c:pt idx="4">
                  <c:v>1971</c:v>
                </c:pt>
                <c:pt idx="5">
                  <c:v>1972</c:v>
                </c:pt>
                <c:pt idx="6">
                  <c:v>1973</c:v>
                </c:pt>
                <c:pt idx="7">
                  <c:v>1974</c:v>
                </c:pt>
                <c:pt idx="8">
                  <c:v>1975</c:v>
                </c:pt>
                <c:pt idx="9">
                  <c:v>1976</c:v>
                </c:pt>
                <c:pt idx="10">
                  <c:v>1977</c:v>
                </c:pt>
                <c:pt idx="11">
                  <c:v>1978</c:v>
                </c:pt>
                <c:pt idx="12">
                  <c:v>1979</c:v>
                </c:pt>
                <c:pt idx="13">
                  <c:v>1980</c:v>
                </c:pt>
                <c:pt idx="14">
                  <c:v>1981</c:v>
                </c:pt>
                <c:pt idx="15">
                  <c:v>1982</c:v>
                </c:pt>
                <c:pt idx="16">
                  <c:v>1983</c:v>
                </c:pt>
                <c:pt idx="17">
                  <c:v>1984</c:v>
                </c:pt>
                <c:pt idx="18">
                  <c:v>1985</c:v>
                </c:pt>
                <c:pt idx="19">
                  <c:v>1986</c:v>
                </c:pt>
                <c:pt idx="20">
                  <c:v>1987</c:v>
                </c:pt>
                <c:pt idx="21">
                  <c:v>1988</c:v>
                </c:pt>
                <c:pt idx="22">
                  <c:v>1989</c:v>
                </c:pt>
                <c:pt idx="23">
                  <c:v>1990</c:v>
                </c:pt>
                <c:pt idx="24">
                  <c:v>1991</c:v>
                </c:pt>
                <c:pt idx="25">
                  <c:v>1992</c:v>
                </c:pt>
                <c:pt idx="26">
                  <c:v>1993</c:v>
                </c:pt>
                <c:pt idx="27">
                  <c:v>1994</c:v>
                </c:pt>
                <c:pt idx="28">
                  <c:v>1995</c:v>
                </c:pt>
                <c:pt idx="29">
                  <c:v>1996</c:v>
                </c:pt>
                <c:pt idx="30">
                  <c:v>1997</c:v>
                </c:pt>
                <c:pt idx="31">
                  <c:v>1998</c:v>
                </c:pt>
                <c:pt idx="32">
                  <c:v>1999</c:v>
                </c:pt>
                <c:pt idx="33">
                  <c:v>2000</c:v>
                </c:pt>
                <c:pt idx="34">
                  <c:v>2001</c:v>
                </c:pt>
                <c:pt idx="35">
                  <c:v>2002</c:v>
                </c:pt>
                <c:pt idx="36">
                  <c:v>2003</c:v>
                </c:pt>
                <c:pt idx="37">
                  <c:v>2004</c:v>
                </c:pt>
                <c:pt idx="38">
                  <c:v>2005</c:v>
                </c:pt>
                <c:pt idx="39">
                  <c:v>2006</c:v>
                </c:pt>
                <c:pt idx="40">
                  <c:v>2007</c:v>
                </c:pt>
                <c:pt idx="41">
                  <c:v>2008</c:v>
                </c:pt>
                <c:pt idx="42">
                  <c:v>2009</c:v>
                </c:pt>
                <c:pt idx="43">
                  <c:v>2010</c:v>
                </c:pt>
                <c:pt idx="44">
                  <c:v>2011</c:v>
                </c:pt>
                <c:pt idx="45">
                  <c:v>2012</c:v>
                </c:pt>
                <c:pt idx="46">
                  <c:v>2013</c:v>
                </c:pt>
                <c:pt idx="47">
                  <c:v>2014</c:v>
                </c:pt>
                <c:pt idx="48">
                  <c:v>2015</c:v>
                </c:pt>
                <c:pt idx="49">
                  <c:v>2016</c:v>
                </c:pt>
                <c:pt idx="50">
                  <c:v>2017</c:v>
                </c:pt>
                <c:pt idx="51">
                  <c:v>2018</c:v>
                </c:pt>
                <c:pt idx="52">
                  <c:v>2019</c:v>
                </c:pt>
              </c:numCache>
            </c:numRef>
          </c:cat>
          <c:val>
            <c:numRef>
              <c:f>Sheet3!$B$2:$B$65</c:f>
              <c:numCache>
                <c:formatCode>General</c:formatCode>
                <c:ptCount val="53"/>
                <c:pt idx="0">
                  <c:v>140.63</c:v>
                </c:pt>
                <c:pt idx="1">
                  <c:v>116.84</c:v>
                </c:pt>
                <c:pt idx="2">
                  <c:v>123.52</c:v>
                </c:pt>
                <c:pt idx="3">
                  <c:v>134.96</c:v>
                </c:pt>
                <c:pt idx="4">
                  <c:v>96.17</c:v>
                </c:pt>
                <c:pt idx="5">
                  <c:v>130.58000000000001</c:v>
                </c:pt>
                <c:pt idx="6">
                  <c:v>131.15</c:v>
                </c:pt>
                <c:pt idx="7">
                  <c:v>77.89</c:v>
                </c:pt>
                <c:pt idx="8">
                  <c:v>125.07</c:v>
                </c:pt>
                <c:pt idx="9">
                  <c:v>114.52</c:v>
                </c:pt>
                <c:pt idx="10">
                  <c:v>97.78</c:v>
                </c:pt>
                <c:pt idx="11">
                  <c:v>153.03</c:v>
                </c:pt>
                <c:pt idx="12">
                  <c:v>110.95</c:v>
                </c:pt>
                <c:pt idx="13">
                  <c:v>145.88999999999999</c:v>
                </c:pt>
                <c:pt idx="14">
                  <c:v>165.48</c:v>
                </c:pt>
                <c:pt idx="15">
                  <c:v>106.3</c:v>
                </c:pt>
                <c:pt idx="16">
                  <c:v>87.36</c:v>
                </c:pt>
                <c:pt idx="17">
                  <c:v>117.58</c:v>
                </c:pt>
                <c:pt idx="18">
                  <c:v>116.71</c:v>
                </c:pt>
                <c:pt idx="19">
                  <c:v>149.88</c:v>
                </c:pt>
                <c:pt idx="20">
                  <c:v>94.63</c:v>
                </c:pt>
                <c:pt idx="21">
                  <c:v>126.78</c:v>
                </c:pt>
                <c:pt idx="22">
                  <c:v>120.78</c:v>
                </c:pt>
                <c:pt idx="23">
                  <c:v>105.33</c:v>
                </c:pt>
                <c:pt idx="24">
                  <c:v>131.56</c:v>
                </c:pt>
                <c:pt idx="25">
                  <c:v>139.41</c:v>
                </c:pt>
                <c:pt idx="26">
                  <c:v>125.51</c:v>
                </c:pt>
                <c:pt idx="27">
                  <c:v>162.06</c:v>
                </c:pt>
                <c:pt idx="28">
                  <c:v>124.19</c:v>
                </c:pt>
                <c:pt idx="29">
                  <c:v>122.44</c:v>
                </c:pt>
                <c:pt idx="30">
                  <c:v>103.18</c:v>
                </c:pt>
                <c:pt idx="31">
                  <c:v>55.87</c:v>
                </c:pt>
                <c:pt idx="32">
                  <c:v>126.79</c:v>
                </c:pt>
                <c:pt idx="33">
                  <c:v>115.24</c:v>
                </c:pt>
                <c:pt idx="34">
                  <c:v>96.84</c:v>
                </c:pt>
                <c:pt idx="35">
                  <c:v>112.8</c:v>
                </c:pt>
                <c:pt idx="36">
                  <c:v>131.71</c:v>
                </c:pt>
                <c:pt idx="37">
                  <c:v>95.76</c:v>
                </c:pt>
                <c:pt idx="38">
                  <c:v>150.09</c:v>
                </c:pt>
                <c:pt idx="39">
                  <c:v>160.04</c:v>
                </c:pt>
                <c:pt idx="40">
                  <c:v>145.19</c:v>
                </c:pt>
                <c:pt idx="41">
                  <c:v>129.63999999999999</c:v>
                </c:pt>
                <c:pt idx="42">
                  <c:v>139.28</c:v>
                </c:pt>
                <c:pt idx="43">
                  <c:v>130.24</c:v>
                </c:pt>
                <c:pt idx="44">
                  <c:v>105.94</c:v>
                </c:pt>
                <c:pt idx="45">
                  <c:v>123.8</c:v>
                </c:pt>
                <c:pt idx="46">
                  <c:v>129.44</c:v>
                </c:pt>
                <c:pt idx="47">
                  <c:v>125.46</c:v>
                </c:pt>
                <c:pt idx="48">
                  <c:v>149</c:v>
                </c:pt>
                <c:pt idx="49">
                  <c:v>112.97</c:v>
                </c:pt>
                <c:pt idx="50">
                  <c:v>133.57</c:v>
                </c:pt>
                <c:pt idx="51">
                  <c:v>158.97</c:v>
                </c:pt>
                <c:pt idx="52">
                  <c:v>144.47</c:v>
                </c:pt>
              </c:numCache>
            </c:numRef>
          </c:val>
          <c:smooth val="0"/>
          <c:extLst>
            <c:ext xmlns:c16="http://schemas.microsoft.com/office/drawing/2014/chart" uri="{C3380CC4-5D6E-409C-BE32-E72D297353CC}">
              <c16:uniqueId val="{00000003-E0A5-4AA1-872C-5DD19E75CF17}"/>
            </c:ext>
          </c:extLst>
        </c:ser>
        <c:dLbls>
          <c:showLegendKey val="0"/>
          <c:showVal val="0"/>
          <c:showCatName val="0"/>
          <c:showSerName val="0"/>
          <c:showPercent val="0"/>
          <c:showBubbleSize val="0"/>
        </c:dLbls>
        <c:marker val="1"/>
        <c:smooth val="0"/>
        <c:axId val="681726968"/>
        <c:axId val="593281784"/>
      </c:lineChart>
      <c:catAx>
        <c:axId val="681726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281784"/>
        <c:crosses val="autoZero"/>
        <c:auto val="1"/>
        <c:lblAlgn val="ctr"/>
        <c:lblOffset val="100"/>
        <c:noMultiLvlLbl val="0"/>
      </c:catAx>
      <c:valAx>
        <c:axId val="593281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17269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Annual</a:t>
            </a:r>
            <a:r>
              <a:rPr lang="en-US" b="1" baseline="0" dirty="0"/>
              <a:t> Precipitation</a:t>
            </a:r>
            <a:endParaRPr lang="en-US" b="1" dirty="0"/>
          </a:p>
          <a:p>
            <a:pPr>
              <a:defRPr sz="1400" b="0" i="0" u="none" strike="noStrike" kern="1200" spc="0" baseline="0">
                <a:solidFill>
                  <a:schemeClr val="tx1">
                    <a:lumMod val="65000"/>
                    <a:lumOff val="35000"/>
                  </a:schemeClr>
                </a:solidFill>
                <a:latin typeface="+mn-lt"/>
                <a:ea typeface="+mn-ea"/>
                <a:cs typeface="+mn-cs"/>
              </a:defRPr>
            </a:pPr>
            <a:r>
              <a:rPr lang="en-US" sz="1100" dirty="0"/>
              <a:t>Charted</a:t>
            </a:r>
            <a:r>
              <a:rPr lang="en-US" sz="1100" baseline="0" dirty="0"/>
              <a:t> with Tropical Cyclones and El Nino</a:t>
            </a:r>
            <a:endParaRPr lang="en-US" sz="1100" dirty="0"/>
          </a:p>
        </c:rich>
      </c:tx>
      <c:overlay val="0"/>
      <c:spPr>
        <a:noFill/>
        <a:ln>
          <a:noFill/>
        </a:ln>
        <a:effectLst/>
      </c:spPr>
    </c:title>
    <c:autoTitleDeleted val="0"/>
    <c:plotArea>
      <c:layout/>
      <c:barChart>
        <c:barDir val="col"/>
        <c:grouping val="clustered"/>
        <c:varyColors val="0"/>
        <c:ser>
          <c:idx val="2"/>
          <c:order val="2"/>
          <c:tx>
            <c:strRef>
              <c:f>'200nm storms - precip'!$C$1</c:f>
              <c:strCache>
                <c:ptCount val="1"/>
                <c:pt idx="0">
                  <c:v>El Nino</c:v>
                </c:pt>
              </c:strCache>
            </c:strRef>
          </c:tx>
          <c:spPr>
            <a:solidFill>
              <a:schemeClr val="bg1">
                <a:lumMod val="95000"/>
              </a:schemeClr>
            </a:solidFill>
            <a:ln>
              <a:noFill/>
            </a:ln>
            <a:effectLst/>
          </c:spPr>
          <c:invertIfNegative val="0"/>
          <c:cat>
            <c:numRef>
              <c:f>'200nm storms - precip'!$A$2:$A$63</c:f>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f>'200nm storms - precip'!$C$2:$C$63</c:f>
              <c:numCache>
                <c:formatCode>General</c:formatCode>
                <c:ptCount val="62"/>
                <c:pt idx="0">
                  <c:v>180</c:v>
                </c:pt>
                <c:pt idx="4">
                  <c:v>180</c:v>
                </c:pt>
                <c:pt idx="6">
                  <c:v>180</c:v>
                </c:pt>
                <c:pt idx="7">
                  <c:v>180</c:v>
                </c:pt>
                <c:pt idx="8">
                  <c:v>180</c:v>
                </c:pt>
                <c:pt idx="13">
                  <c:v>180</c:v>
                </c:pt>
                <c:pt idx="14">
                  <c:v>180</c:v>
                </c:pt>
                <c:pt idx="23">
                  <c:v>180</c:v>
                </c:pt>
                <c:pt idx="24">
                  <c:v>180</c:v>
                </c:pt>
                <c:pt idx="28">
                  <c:v>180</c:v>
                </c:pt>
                <c:pt idx="29">
                  <c:v>180</c:v>
                </c:pt>
                <c:pt idx="33">
                  <c:v>180</c:v>
                </c:pt>
                <c:pt idx="34">
                  <c:v>180</c:v>
                </c:pt>
                <c:pt idx="38">
                  <c:v>180</c:v>
                </c:pt>
                <c:pt idx="39">
                  <c:v>180</c:v>
                </c:pt>
                <c:pt idx="43">
                  <c:v>180</c:v>
                </c:pt>
                <c:pt idx="44">
                  <c:v>180</c:v>
                </c:pt>
                <c:pt idx="45">
                  <c:v>180</c:v>
                </c:pt>
                <c:pt idx="46">
                  <c:v>180</c:v>
                </c:pt>
                <c:pt idx="47">
                  <c:v>180</c:v>
                </c:pt>
                <c:pt idx="48">
                  <c:v>180</c:v>
                </c:pt>
                <c:pt idx="50">
                  <c:v>180</c:v>
                </c:pt>
                <c:pt idx="51">
                  <c:v>180</c:v>
                </c:pt>
                <c:pt idx="55">
                  <c:v>180</c:v>
                </c:pt>
                <c:pt idx="56">
                  <c:v>180</c:v>
                </c:pt>
                <c:pt idx="57">
                  <c:v>180</c:v>
                </c:pt>
                <c:pt idx="59">
                  <c:v>180</c:v>
                </c:pt>
                <c:pt idx="60">
                  <c:v>180</c:v>
                </c:pt>
                <c:pt idx="61">
                  <c:v>180</c:v>
                </c:pt>
              </c:numCache>
            </c:numRef>
          </c:val>
          <c:extLst>
            <c:ext xmlns:c16="http://schemas.microsoft.com/office/drawing/2014/chart" uri="{C3380CC4-5D6E-409C-BE32-E72D297353CC}">
              <c16:uniqueId val="{00000000-CDAA-439C-A236-9D1B7BBF1680}"/>
            </c:ext>
          </c:extLst>
        </c:ser>
        <c:dLbls>
          <c:showLegendKey val="0"/>
          <c:showVal val="0"/>
          <c:showCatName val="0"/>
          <c:showSerName val="0"/>
          <c:showPercent val="0"/>
          <c:showBubbleSize val="0"/>
        </c:dLbls>
        <c:gapWidth val="0"/>
        <c:axId val="1143368248"/>
        <c:axId val="1143361688"/>
      </c:barChart>
      <c:barChart>
        <c:barDir val="col"/>
        <c:grouping val="stacked"/>
        <c:varyColors val="0"/>
        <c:ser>
          <c:idx val="3"/>
          <c:order val="3"/>
          <c:tx>
            <c:strRef>
              <c:f>'200nm storms - precip'!$D$1</c:f>
              <c:strCache>
                <c:ptCount val="1"/>
                <c:pt idx="0">
                  <c:v>TS</c:v>
                </c:pt>
              </c:strCache>
            </c:strRef>
          </c:tx>
          <c:spPr>
            <a:solidFill>
              <a:schemeClr val="accent6">
                <a:lumMod val="40000"/>
                <a:lumOff val="60000"/>
              </a:schemeClr>
            </a:solidFill>
            <a:ln>
              <a:noFill/>
            </a:ln>
            <a:effectLst/>
          </c:spPr>
          <c:invertIfNegative val="0"/>
          <c:val>
            <c:numRef>
              <c:f>'200nm storms - precip'!$D$2:$D$63</c:f>
              <c:numCache>
                <c:formatCode>General</c:formatCode>
                <c:ptCount val="62"/>
                <c:pt idx="0">
                  <c:v>1</c:v>
                </c:pt>
                <c:pt idx="1">
                  <c:v>1</c:v>
                </c:pt>
                <c:pt idx="3">
                  <c:v>1</c:v>
                </c:pt>
                <c:pt idx="12">
                  <c:v>1</c:v>
                </c:pt>
                <c:pt idx="17">
                  <c:v>2</c:v>
                </c:pt>
                <c:pt idx="22">
                  <c:v>3</c:v>
                </c:pt>
                <c:pt idx="24">
                  <c:v>1</c:v>
                </c:pt>
                <c:pt idx="28">
                  <c:v>2</c:v>
                </c:pt>
                <c:pt idx="30">
                  <c:v>1</c:v>
                </c:pt>
                <c:pt idx="33">
                  <c:v>1</c:v>
                </c:pt>
                <c:pt idx="34">
                  <c:v>1</c:v>
                </c:pt>
                <c:pt idx="39">
                  <c:v>2</c:v>
                </c:pt>
                <c:pt idx="41">
                  <c:v>1</c:v>
                </c:pt>
                <c:pt idx="46">
                  <c:v>1</c:v>
                </c:pt>
                <c:pt idx="51">
                  <c:v>1</c:v>
                </c:pt>
                <c:pt idx="61">
                  <c:v>2</c:v>
                </c:pt>
              </c:numCache>
            </c:numRef>
          </c:val>
          <c:extLst>
            <c:ext xmlns:c16="http://schemas.microsoft.com/office/drawing/2014/chart" uri="{C3380CC4-5D6E-409C-BE32-E72D297353CC}">
              <c16:uniqueId val="{00000001-CDAA-439C-A236-9D1B7BBF1680}"/>
            </c:ext>
          </c:extLst>
        </c:ser>
        <c:ser>
          <c:idx val="4"/>
          <c:order val="4"/>
          <c:tx>
            <c:strRef>
              <c:f>'200nm storms - precip'!$E$1</c:f>
              <c:strCache>
                <c:ptCount val="1"/>
                <c:pt idx="0">
                  <c:v>H1-2</c:v>
                </c:pt>
              </c:strCache>
            </c:strRef>
          </c:tx>
          <c:spPr>
            <a:solidFill>
              <a:schemeClr val="accent4">
                <a:lumMod val="60000"/>
                <a:lumOff val="40000"/>
              </a:schemeClr>
            </a:solidFill>
            <a:ln>
              <a:noFill/>
            </a:ln>
            <a:effectLst/>
          </c:spPr>
          <c:invertIfNegative val="0"/>
          <c:val>
            <c:numRef>
              <c:f>'200nm storms - precip'!$E$2:$E$63</c:f>
              <c:numCache>
                <c:formatCode>General</c:formatCode>
                <c:ptCount val="62"/>
                <c:pt idx="0">
                  <c:v>1</c:v>
                </c:pt>
                <c:pt idx="1">
                  <c:v>0</c:v>
                </c:pt>
                <c:pt idx="2">
                  <c:v>1</c:v>
                </c:pt>
                <c:pt idx="3">
                  <c:v>0</c:v>
                </c:pt>
                <c:pt idx="4">
                  <c:v>1</c:v>
                </c:pt>
                <c:pt idx="5">
                  <c:v>0</c:v>
                </c:pt>
                <c:pt idx="6">
                  <c:v>0</c:v>
                </c:pt>
                <c:pt idx="7">
                  <c:v>1</c:v>
                </c:pt>
                <c:pt idx="8">
                  <c:v>1</c:v>
                </c:pt>
                <c:pt idx="9">
                  <c:v>0</c:v>
                </c:pt>
                <c:pt idx="10">
                  <c:v>0</c:v>
                </c:pt>
                <c:pt idx="11">
                  <c:v>0</c:v>
                </c:pt>
                <c:pt idx="12">
                  <c:v>0</c:v>
                </c:pt>
                <c:pt idx="13">
                  <c:v>0</c:v>
                </c:pt>
                <c:pt idx="14">
                  <c:v>0</c:v>
                </c:pt>
                <c:pt idx="15">
                  <c:v>0</c:v>
                </c:pt>
                <c:pt idx="16">
                  <c:v>0</c:v>
                </c:pt>
                <c:pt idx="17">
                  <c:v>0</c:v>
                </c:pt>
                <c:pt idx="18">
                  <c:v>0</c:v>
                </c:pt>
                <c:pt idx="19">
                  <c:v>1</c:v>
                </c:pt>
                <c:pt idx="20">
                  <c:v>0</c:v>
                </c:pt>
                <c:pt idx="21">
                  <c:v>0</c:v>
                </c:pt>
                <c:pt idx="22">
                  <c:v>0</c:v>
                </c:pt>
                <c:pt idx="23">
                  <c:v>0</c:v>
                </c:pt>
                <c:pt idx="24">
                  <c:v>0</c:v>
                </c:pt>
                <c:pt idx="25">
                  <c:v>0</c:v>
                </c:pt>
                <c:pt idx="26">
                  <c:v>0</c:v>
                </c:pt>
                <c:pt idx="27">
                  <c:v>0</c:v>
                </c:pt>
                <c:pt idx="28">
                  <c:v>1</c:v>
                </c:pt>
                <c:pt idx="29">
                  <c:v>0</c:v>
                </c:pt>
                <c:pt idx="30">
                  <c:v>0</c:v>
                </c:pt>
                <c:pt idx="31">
                  <c:v>0</c:v>
                </c:pt>
                <c:pt idx="32">
                  <c:v>0</c:v>
                </c:pt>
                <c:pt idx="33">
                  <c:v>0</c:v>
                </c:pt>
                <c:pt idx="34">
                  <c:v>2</c:v>
                </c:pt>
                <c:pt idx="35">
                  <c:v>0</c:v>
                </c:pt>
                <c:pt idx="36">
                  <c:v>0</c:v>
                </c:pt>
                <c:pt idx="37">
                  <c:v>0</c:v>
                </c:pt>
                <c:pt idx="38">
                  <c:v>1</c:v>
                </c:pt>
                <c:pt idx="39">
                  <c:v>0</c:v>
                </c:pt>
                <c:pt idx="40">
                  <c:v>0</c:v>
                </c:pt>
                <c:pt idx="41">
                  <c:v>1</c:v>
                </c:pt>
                <c:pt idx="42">
                  <c:v>0</c:v>
                </c:pt>
                <c:pt idx="43">
                  <c:v>0</c:v>
                </c:pt>
                <c:pt idx="44">
                  <c:v>0</c:v>
                </c:pt>
                <c:pt idx="45">
                  <c:v>0</c:v>
                </c:pt>
                <c:pt idx="46">
                  <c:v>0</c:v>
                </c:pt>
                <c:pt idx="47">
                  <c:v>0</c:v>
                </c:pt>
                <c:pt idx="48">
                  <c:v>1</c:v>
                </c:pt>
                <c:pt idx="49">
                  <c:v>0</c:v>
                </c:pt>
                <c:pt idx="50">
                  <c:v>0</c:v>
                </c:pt>
                <c:pt idx="51">
                  <c:v>0</c:v>
                </c:pt>
                <c:pt idx="52">
                  <c:v>0</c:v>
                </c:pt>
                <c:pt idx="53">
                  <c:v>0</c:v>
                </c:pt>
                <c:pt idx="54">
                  <c:v>1</c:v>
                </c:pt>
                <c:pt idx="55">
                  <c:v>0</c:v>
                </c:pt>
                <c:pt idx="56">
                  <c:v>0</c:v>
                </c:pt>
                <c:pt idx="57">
                  <c:v>2</c:v>
                </c:pt>
                <c:pt idx="58">
                  <c:v>0</c:v>
                </c:pt>
                <c:pt idx="59">
                  <c:v>0</c:v>
                </c:pt>
                <c:pt idx="60">
                  <c:v>0</c:v>
                </c:pt>
                <c:pt idx="61">
                  <c:v>0</c:v>
                </c:pt>
              </c:numCache>
            </c:numRef>
          </c:val>
          <c:extLst>
            <c:ext xmlns:c16="http://schemas.microsoft.com/office/drawing/2014/chart" uri="{C3380CC4-5D6E-409C-BE32-E72D297353CC}">
              <c16:uniqueId val="{00000002-CDAA-439C-A236-9D1B7BBF1680}"/>
            </c:ext>
          </c:extLst>
        </c:ser>
        <c:ser>
          <c:idx val="5"/>
          <c:order val="5"/>
          <c:tx>
            <c:strRef>
              <c:f>'200nm storms - precip'!$F$1</c:f>
              <c:strCache>
                <c:ptCount val="1"/>
                <c:pt idx="0">
                  <c:v>H3-5</c:v>
                </c:pt>
              </c:strCache>
            </c:strRef>
          </c:tx>
          <c:spPr>
            <a:solidFill>
              <a:srgbClr val="FF0000"/>
            </a:solidFill>
            <a:ln>
              <a:noFill/>
            </a:ln>
            <a:effectLst/>
          </c:spPr>
          <c:invertIfNegative val="0"/>
          <c:val>
            <c:numRef>
              <c:f>'200nm storms - precip'!$F$2:$F$63</c:f>
              <c:numCache>
                <c:formatCode>General</c:formatCode>
                <c:ptCount val="6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1</c:v>
                </c:pt>
                <c:pt idx="24">
                  <c:v>0</c:v>
                </c:pt>
                <c:pt idx="25">
                  <c:v>0</c:v>
                </c:pt>
                <c:pt idx="26">
                  <c:v>0</c:v>
                </c:pt>
                <c:pt idx="27">
                  <c:v>0</c:v>
                </c:pt>
                <c:pt idx="28">
                  <c:v>1</c:v>
                </c:pt>
                <c:pt idx="29">
                  <c:v>0</c:v>
                </c:pt>
                <c:pt idx="30">
                  <c:v>0</c:v>
                </c:pt>
                <c:pt idx="31">
                  <c:v>0</c:v>
                </c:pt>
                <c:pt idx="32">
                  <c:v>1</c:v>
                </c:pt>
                <c:pt idx="33">
                  <c:v>0</c:v>
                </c:pt>
                <c:pt idx="34">
                  <c:v>0</c:v>
                </c:pt>
                <c:pt idx="35">
                  <c:v>0</c:v>
                </c:pt>
                <c:pt idx="36">
                  <c:v>0</c:v>
                </c:pt>
                <c:pt idx="37">
                  <c:v>0</c:v>
                </c:pt>
                <c:pt idx="38">
                  <c:v>1</c:v>
                </c:pt>
                <c:pt idx="39">
                  <c:v>1</c:v>
                </c:pt>
                <c:pt idx="40">
                  <c:v>0</c:v>
                </c:pt>
                <c:pt idx="41">
                  <c:v>0</c:v>
                </c:pt>
                <c:pt idx="42">
                  <c:v>0</c:v>
                </c:pt>
                <c:pt idx="43">
                  <c:v>0</c:v>
                </c:pt>
                <c:pt idx="44">
                  <c:v>0</c:v>
                </c:pt>
                <c:pt idx="45">
                  <c:v>0</c:v>
                </c:pt>
                <c:pt idx="46">
                  <c:v>4</c:v>
                </c:pt>
                <c:pt idx="47">
                  <c:v>0</c:v>
                </c:pt>
                <c:pt idx="48">
                  <c:v>0</c:v>
                </c:pt>
                <c:pt idx="49">
                  <c:v>0</c:v>
                </c:pt>
                <c:pt idx="50">
                  <c:v>0</c:v>
                </c:pt>
                <c:pt idx="51">
                  <c:v>3</c:v>
                </c:pt>
                <c:pt idx="52">
                  <c:v>1</c:v>
                </c:pt>
                <c:pt idx="53">
                  <c:v>1</c:v>
                </c:pt>
                <c:pt idx="54">
                  <c:v>0</c:v>
                </c:pt>
                <c:pt idx="55">
                  <c:v>0</c:v>
                </c:pt>
                <c:pt idx="56">
                  <c:v>1</c:v>
                </c:pt>
                <c:pt idx="57">
                  <c:v>0</c:v>
                </c:pt>
                <c:pt idx="58">
                  <c:v>0</c:v>
                </c:pt>
                <c:pt idx="59">
                  <c:v>1</c:v>
                </c:pt>
                <c:pt idx="60">
                  <c:v>0</c:v>
                </c:pt>
                <c:pt idx="61">
                  <c:v>0</c:v>
                </c:pt>
              </c:numCache>
            </c:numRef>
          </c:val>
          <c:extLst>
            <c:ext xmlns:c16="http://schemas.microsoft.com/office/drawing/2014/chart" uri="{C3380CC4-5D6E-409C-BE32-E72D297353CC}">
              <c16:uniqueId val="{00000003-CDAA-439C-A236-9D1B7BBF1680}"/>
            </c:ext>
          </c:extLst>
        </c:ser>
        <c:dLbls>
          <c:showLegendKey val="0"/>
          <c:showVal val="0"/>
          <c:showCatName val="0"/>
          <c:showSerName val="0"/>
          <c:showPercent val="0"/>
          <c:showBubbleSize val="0"/>
        </c:dLbls>
        <c:gapWidth val="0"/>
        <c:overlap val="100"/>
        <c:axId val="593285720"/>
        <c:axId val="593285392"/>
        <c:extLst>
          <c:ext xmlns:c15="http://schemas.microsoft.com/office/drawing/2012/chart" uri="{02D57815-91ED-43cb-92C2-25804820EDAC}">
            <c15:filteredBarSeries>
              <c15:ser>
                <c:idx val="0"/>
                <c:order val="0"/>
                <c:tx>
                  <c:strRef>
                    <c:extLst>
                      <c:ext uri="{02D57815-91ED-43cb-92C2-25804820EDAC}">
                        <c15:formulaRef>
                          <c15:sqref>'200nm storms - precip'!$A$1</c15:sqref>
                        </c15:formulaRef>
                      </c:ext>
                    </c:extLst>
                    <c:strCache>
                      <c:ptCount val="1"/>
                      <c:pt idx="0">
                        <c:v>Year</c:v>
                      </c:pt>
                    </c:strCache>
                  </c:strRef>
                </c:tx>
                <c:spPr>
                  <a:solidFill>
                    <a:schemeClr val="accent1"/>
                  </a:solidFill>
                  <a:ln>
                    <a:noFill/>
                  </a:ln>
                  <a:effectLst/>
                </c:spPr>
                <c:invertIfNegative val="0"/>
                <c:cat>
                  <c:numRef>
                    <c:extLst>
                      <c:ext uri="{02D57815-91ED-43cb-92C2-25804820EDAC}">
                        <c15:formulaRef>
                          <c15:sqref>'200nm storms - precip'!$A$2:$A$63</c15:sqref>
                        </c15:formulaRef>
                      </c:ext>
                    </c:extLst>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extLst>
                      <c:ext uri="{02D57815-91ED-43cb-92C2-25804820EDAC}">
                        <c15:formulaRef>
                          <c15:sqref>'200nm storms - precip'!$A$8:$A$63</c15:sqref>
                        </c15:formulaRef>
                      </c:ext>
                    </c:extLst>
                    <c:numCache>
                      <c:formatCode>General</c:formatCode>
                      <c:ptCount val="56"/>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numCache>
                  </c:numRef>
                </c:val>
                <c:extLst>
                  <c:ext xmlns:c16="http://schemas.microsoft.com/office/drawing/2014/chart" uri="{C3380CC4-5D6E-409C-BE32-E72D297353CC}">
                    <c16:uniqueId val="{00000005-CDAA-439C-A236-9D1B7BBF1680}"/>
                  </c:ext>
                </c:extLst>
              </c15:ser>
            </c15:filteredBarSeries>
          </c:ext>
        </c:extLst>
      </c:barChart>
      <c:lineChart>
        <c:grouping val="standard"/>
        <c:varyColors val="0"/>
        <c:ser>
          <c:idx val="1"/>
          <c:order val="1"/>
          <c:tx>
            <c:strRef>
              <c:f>'200nm storms - precip'!$B$1</c:f>
              <c:strCache>
                <c:ptCount val="1"/>
                <c:pt idx="0">
                  <c:v>Annual Precipitation</c:v>
                </c:pt>
              </c:strCache>
            </c:strRef>
          </c:tx>
          <c:spPr>
            <a:ln w="12700" cap="rnd">
              <a:solidFill>
                <a:srgbClr val="00B0F0"/>
              </a:solidFill>
              <a:round/>
            </a:ln>
            <a:effectLst/>
          </c:spPr>
          <c:marker>
            <c:symbol val="none"/>
          </c:marker>
          <c:cat>
            <c:numRef>
              <c:f>'200nm storms - precip'!$A$2:$A$63</c:f>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f>'200nm storms - precip'!$B$2:$B$63</c:f>
              <c:numCache>
                <c:formatCode>General</c:formatCode>
                <c:ptCount val="62"/>
                <c:pt idx="6">
                  <c:v>111</c:v>
                </c:pt>
                <c:pt idx="7">
                  <c:v>136.27000000000001</c:v>
                </c:pt>
                <c:pt idx="8">
                  <c:v>140.63</c:v>
                </c:pt>
                <c:pt idx="9">
                  <c:v>116.84</c:v>
                </c:pt>
                <c:pt idx="10">
                  <c:v>123.52</c:v>
                </c:pt>
                <c:pt idx="11">
                  <c:v>134.96</c:v>
                </c:pt>
                <c:pt idx="12">
                  <c:v>96.17</c:v>
                </c:pt>
                <c:pt idx="13">
                  <c:v>130.58000000000001</c:v>
                </c:pt>
                <c:pt idx="14">
                  <c:v>131.15</c:v>
                </c:pt>
                <c:pt idx="15">
                  <c:v>77.89</c:v>
                </c:pt>
                <c:pt idx="16">
                  <c:v>125.07</c:v>
                </c:pt>
                <c:pt idx="17">
                  <c:v>114.52</c:v>
                </c:pt>
                <c:pt idx="18">
                  <c:v>97.78</c:v>
                </c:pt>
                <c:pt idx="19">
                  <c:v>153.03</c:v>
                </c:pt>
                <c:pt idx="20">
                  <c:v>110.95</c:v>
                </c:pt>
                <c:pt idx="21">
                  <c:v>145.88999999999999</c:v>
                </c:pt>
                <c:pt idx="22">
                  <c:v>165.48</c:v>
                </c:pt>
                <c:pt idx="23">
                  <c:v>106.3</c:v>
                </c:pt>
                <c:pt idx="24">
                  <c:v>87.36</c:v>
                </c:pt>
                <c:pt idx="25">
                  <c:v>117.58</c:v>
                </c:pt>
                <c:pt idx="26">
                  <c:v>116.71</c:v>
                </c:pt>
                <c:pt idx="27">
                  <c:v>149.88</c:v>
                </c:pt>
                <c:pt idx="28">
                  <c:v>94.63</c:v>
                </c:pt>
                <c:pt idx="29">
                  <c:v>126.78</c:v>
                </c:pt>
                <c:pt idx="30">
                  <c:v>120.78</c:v>
                </c:pt>
                <c:pt idx="31">
                  <c:v>105.33</c:v>
                </c:pt>
                <c:pt idx="32">
                  <c:v>131.56</c:v>
                </c:pt>
                <c:pt idx="33">
                  <c:v>139.41</c:v>
                </c:pt>
                <c:pt idx="34">
                  <c:v>125.51</c:v>
                </c:pt>
                <c:pt idx="35">
                  <c:v>162.06</c:v>
                </c:pt>
                <c:pt idx="36">
                  <c:v>124.19</c:v>
                </c:pt>
                <c:pt idx="37">
                  <c:v>122.44</c:v>
                </c:pt>
                <c:pt idx="38">
                  <c:v>103.18</c:v>
                </c:pt>
                <c:pt idx="39">
                  <c:v>55.87</c:v>
                </c:pt>
                <c:pt idx="40">
                  <c:v>126.79</c:v>
                </c:pt>
                <c:pt idx="41">
                  <c:v>115.24</c:v>
                </c:pt>
                <c:pt idx="42">
                  <c:v>96.84</c:v>
                </c:pt>
                <c:pt idx="43">
                  <c:v>112.8</c:v>
                </c:pt>
                <c:pt idx="44">
                  <c:v>131.71</c:v>
                </c:pt>
                <c:pt idx="45">
                  <c:v>95.76</c:v>
                </c:pt>
                <c:pt idx="46">
                  <c:v>150.09</c:v>
                </c:pt>
                <c:pt idx="47">
                  <c:v>160.04</c:v>
                </c:pt>
                <c:pt idx="48">
                  <c:v>145.19</c:v>
                </c:pt>
                <c:pt idx="49">
                  <c:v>129.63999999999999</c:v>
                </c:pt>
                <c:pt idx="50">
                  <c:v>139.28</c:v>
                </c:pt>
                <c:pt idx="51">
                  <c:v>130.24</c:v>
                </c:pt>
                <c:pt idx="52">
                  <c:v>105.94</c:v>
                </c:pt>
                <c:pt idx="53">
                  <c:v>123.8</c:v>
                </c:pt>
                <c:pt idx="54">
                  <c:v>129.44</c:v>
                </c:pt>
                <c:pt idx="55">
                  <c:v>125.46</c:v>
                </c:pt>
                <c:pt idx="56">
                  <c:v>149</c:v>
                </c:pt>
                <c:pt idx="57">
                  <c:v>112.97</c:v>
                </c:pt>
                <c:pt idx="58">
                  <c:v>133.57</c:v>
                </c:pt>
                <c:pt idx="59">
                  <c:v>158.97</c:v>
                </c:pt>
                <c:pt idx="60">
                  <c:v>144.47</c:v>
                </c:pt>
              </c:numCache>
            </c:numRef>
          </c:val>
          <c:smooth val="0"/>
          <c:extLst>
            <c:ext xmlns:c16="http://schemas.microsoft.com/office/drawing/2014/chart" uri="{C3380CC4-5D6E-409C-BE32-E72D297353CC}">
              <c16:uniqueId val="{00000004-CDAA-439C-A236-9D1B7BBF1680}"/>
            </c:ext>
          </c:extLst>
        </c:ser>
        <c:dLbls>
          <c:showLegendKey val="0"/>
          <c:showVal val="0"/>
          <c:showCatName val="0"/>
          <c:showSerName val="0"/>
          <c:showPercent val="0"/>
          <c:showBubbleSize val="0"/>
        </c:dLbls>
        <c:marker val="1"/>
        <c:smooth val="0"/>
        <c:axId val="1143368248"/>
        <c:axId val="1143361688"/>
        <c:extLst>
          <c:ext xmlns:c15="http://schemas.microsoft.com/office/drawing/2012/chart" uri="{02D57815-91ED-43cb-92C2-25804820EDAC}">
            <c15:filteredLineSeries>
              <c15:ser>
                <c:idx val="6"/>
                <c:order val="6"/>
                <c:tx>
                  <c:strRef>
                    <c:extLst>
                      <c:ext uri="{02D57815-91ED-43cb-92C2-25804820EDAC}">
                        <c15:formulaRef>
                          <c15:sqref>'200nm storms - precip'!$G$1</c15:sqref>
                        </c15:formulaRef>
                      </c:ext>
                    </c:extLst>
                    <c:strCache>
                      <c:ptCount val="1"/>
                      <c:pt idx="0">
                        <c:v>Hurricane</c:v>
                      </c:pt>
                    </c:strCache>
                  </c:strRef>
                </c:tx>
                <c:spPr>
                  <a:ln w="0" cap="sq">
                    <a:solidFill>
                      <a:srgbClr val="FF0000"/>
                    </a:solidFill>
                    <a:round/>
                    <a:tailEnd type="none"/>
                  </a:ln>
                  <a:effectLst/>
                </c:spPr>
                <c:marker>
                  <c:symbol val="picture"/>
                  <c:spPr>
                    <a:solidFill>
                      <a:schemeClr val="accent1">
                        <a:lumMod val="60000"/>
                      </a:schemeClr>
                    </a:solidFill>
                    <a:ln w="9525">
                      <a:noFill/>
                    </a:ln>
                    <a:effectLst/>
                  </c:spPr>
                </c:marker>
                <c:dPt>
                  <c:idx val="46"/>
                  <c:marker>
                    <c:spPr>
                      <a:solidFill>
                        <a:schemeClr val="accent1">
                          <a:lumMod val="60000"/>
                        </a:schemeClr>
                      </a:solidFill>
                      <a:ln w="9525">
                        <a:solidFill>
                          <a:srgbClr val="FF0000"/>
                        </a:solidFill>
                      </a:ln>
                      <a:effectLst/>
                    </c:spPr>
                  </c:marker>
                  <c:bubble3D val="0"/>
                  <c:extLst>
                    <c:ext xmlns:c16="http://schemas.microsoft.com/office/drawing/2014/chart" uri="{C3380CC4-5D6E-409C-BE32-E72D297353CC}">
                      <c16:uniqueId val="{00000006-CDAA-439C-A236-9D1B7BBF1680}"/>
                    </c:ext>
                  </c:extLst>
                </c:dPt>
                <c:cat>
                  <c:numRef>
                    <c:extLst>
                      <c:ext uri="{02D57815-91ED-43cb-92C2-25804820EDAC}">
                        <c15:formulaRef>
                          <c15:sqref>'200nm storms - precip'!$A$2:$A$63</c15:sqref>
                        </c15:formulaRef>
                      </c:ext>
                    </c:extLst>
                    <c:numCache>
                      <c:formatCode>General</c:formatCode>
                      <c:ptCount val="62"/>
                      <c:pt idx="0">
                        <c:v>1959</c:v>
                      </c:pt>
                      <c:pt idx="1">
                        <c:v>1960</c:v>
                      </c:pt>
                      <c:pt idx="2">
                        <c:v>1961</c:v>
                      </c:pt>
                      <c:pt idx="3">
                        <c:v>1962</c:v>
                      </c:pt>
                      <c:pt idx="4">
                        <c:v>1963</c:v>
                      </c:pt>
                      <c:pt idx="5">
                        <c:v>1964</c:v>
                      </c:pt>
                      <c:pt idx="6">
                        <c:v>1965</c:v>
                      </c:pt>
                      <c:pt idx="7">
                        <c:v>1966</c:v>
                      </c:pt>
                      <c:pt idx="8">
                        <c:v>1967</c:v>
                      </c:pt>
                      <c:pt idx="9">
                        <c:v>1968</c:v>
                      </c:pt>
                      <c:pt idx="10">
                        <c:v>1969</c:v>
                      </c:pt>
                      <c:pt idx="11">
                        <c:v>1970</c:v>
                      </c:pt>
                      <c:pt idx="12">
                        <c:v>1971</c:v>
                      </c:pt>
                      <c:pt idx="13">
                        <c:v>1972</c:v>
                      </c:pt>
                      <c:pt idx="14">
                        <c:v>1973</c:v>
                      </c:pt>
                      <c:pt idx="15">
                        <c:v>1974</c:v>
                      </c:pt>
                      <c:pt idx="16">
                        <c:v>1975</c:v>
                      </c:pt>
                      <c:pt idx="17">
                        <c:v>1976</c:v>
                      </c:pt>
                      <c:pt idx="18">
                        <c:v>1977</c:v>
                      </c:pt>
                      <c:pt idx="19">
                        <c:v>1978</c:v>
                      </c:pt>
                      <c:pt idx="20">
                        <c:v>1979</c:v>
                      </c:pt>
                      <c:pt idx="21">
                        <c:v>1980</c:v>
                      </c:pt>
                      <c:pt idx="22">
                        <c:v>1981</c:v>
                      </c:pt>
                      <c:pt idx="23">
                        <c:v>1982</c:v>
                      </c:pt>
                      <c:pt idx="24">
                        <c:v>1983</c:v>
                      </c:pt>
                      <c:pt idx="25">
                        <c:v>1984</c:v>
                      </c:pt>
                      <c:pt idx="26">
                        <c:v>1985</c:v>
                      </c:pt>
                      <c:pt idx="27">
                        <c:v>1986</c:v>
                      </c:pt>
                      <c:pt idx="28">
                        <c:v>1987</c:v>
                      </c:pt>
                      <c:pt idx="29">
                        <c:v>1988</c:v>
                      </c:pt>
                      <c:pt idx="30">
                        <c:v>1989</c:v>
                      </c:pt>
                      <c:pt idx="31">
                        <c:v>1990</c:v>
                      </c:pt>
                      <c:pt idx="32">
                        <c:v>1991</c:v>
                      </c:pt>
                      <c:pt idx="33">
                        <c:v>1992</c:v>
                      </c:pt>
                      <c:pt idx="34">
                        <c:v>1993</c:v>
                      </c:pt>
                      <c:pt idx="35">
                        <c:v>1994</c:v>
                      </c:pt>
                      <c:pt idx="36">
                        <c:v>1995</c:v>
                      </c:pt>
                      <c:pt idx="37">
                        <c:v>1996</c:v>
                      </c:pt>
                      <c:pt idx="38">
                        <c:v>1997</c:v>
                      </c:pt>
                      <c:pt idx="39">
                        <c:v>1998</c:v>
                      </c:pt>
                      <c:pt idx="40">
                        <c:v>1999</c:v>
                      </c:pt>
                      <c:pt idx="41">
                        <c:v>2000</c:v>
                      </c:pt>
                      <c:pt idx="42">
                        <c:v>2001</c:v>
                      </c:pt>
                      <c:pt idx="43">
                        <c:v>2002</c:v>
                      </c:pt>
                      <c:pt idx="44">
                        <c:v>2003</c:v>
                      </c:pt>
                      <c:pt idx="45">
                        <c:v>2004</c:v>
                      </c:pt>
                      <c:pt idx="46">
                        <c:v>2005</c:v>
                      </c:pt>
                      <c:pt idx="47">
                        <c:v>2006</c:v>
                      </c:pt>
                      <c:pt idx="48">
                        <c:v>2007</c:v>
                      </c:pt>
                      <c:pt idx="49">
                        <c:v>2008</c:v>
                      </c:pt>
                      <c:pt idx="50">
                        <c:v>2009</c:v>
                      </c:pt>
                      <c:pt idx="51">
                        <c:v>2010</c:v>
                      </c:pt>
                      <c:pt idx="52">
                        <c:v>2011</c:v>
                      </c:pt>
                      <c:pt idx="53">
                        <c:v>2012</c:v>
                      </c:pt>
                      <c:pt idx="54">
                        <c:v>2013</c:v>
                      </c:pt>
                      <c:pt idx="55">
                        <c:v>2014</c:v>
                      </c:pt>
                      <c:pt idx="56">
                        <c:v>2015</c:v>
                      </c:pt>
                      <c:pt idx="57">
                        <c:v>2016</c:v>
                      </c:pt>
                      <c:pt idx="58">
                        <c:v>2017</c:v>
                      </c:pt>
                      <c:pt idx="59">
                        <c:v>2018</c:v>
                      </c:pt>
                      <c:pt idx="60">
                        <c:v>2019</c:v>
                      </c:pt>
                      <c:pt idx="61">
                        <c:v>2020</c:v>
                      </c:pt>
                    </c:numCache>
                  </c:numRef>
                </c:cat>
                <c:val>
                  <c:numRef>
                    <c:extLst>
                      <c:ext uri="{02D57815-91ED-43cb-92C2-25804820EDAC}">
                        <c15:formulaRef>
                          <c15:sqref>'200nm storms - precip'!$G$2:$G$63</c15:sqref>
                        </c15:formulaRef>
                      </c:ext>
                    </c:extLst>
                    <c:numCache>
                      <c:formatCode>General</c:formatCode>
                      <c:ptCount val="62"/>
                      <c:pt idx="0">
                        <c:v>3.5</c:v>
                      </c:pt>
                      <c:pt idx="2">
                        <c:v>3.5</c:v>
                      </c:pt>
                      <c:pt idx="6">
                        <c:v>3.5</c:v>
                      </c:pt>
                      <c:pt idx="8">
                        <c:v>3.5</c:v>
                      </c:pt>
                      <c:pt idx="28">
                        <c:v>3.5</c:v>
                      </c:pt>
                      <c:pt idx="32">
                        <c:v>3.5</c:v>
                      </c:pt>
                      <c:pt idx="46">
                        <c:v>3.8</c:v>
                      </c:pt>
                      <c:pt idx="51">
                        <c:v>3.5</c:v>
                      </c:pt>
                      <c:pt idx="53">
                        <c:v>3.5</c:v>
                      </c:pt>
                      <c:pt idx="56">
                        <c:v>3.5</c:v>
                      </c:pt>
                      <c:pt idx="57">
                        <c:v>3.5</c:v>
                      </c:pt>
                    </c:numCache>
                  </c:numRef>
                </c:val>
                <c:smooth val="0"/>
                <c:extLst>
                  <c:ext xmlns:c16="http://schemas.microsoft.com/office/drawing/2014/chart" uri="{C3380CC4-5D6E-409C-BE32-E72D297353CC}">
                    <c16:uniqueId val="{00000007-CDAA-439C-A236-9D1B7BBF1680}"/>
                  </c:ext>
                </c:extLst>
              </c15:ser>
            </c15:filteredLineSeries>
          </c:ext>
        </c:extLst>
      </c:lineChart>
      <c:catAx>
        <c:axId val="11433682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43361688"/>
        <c:crosses val="autoZero"/>
        <c:auto val="1"/>
        <c:lblAlgn val="ctr"/>
        <c:lblOffset val="100"/>
        <c:tickLblSkip val="5"/>
        <c:noMultiLvlLbl val="0"/>
      </c:catAx>
      <c:valAx>
        <c:axId val="1143361688"/>
        <c:scaling>
          <c:orientation val="minMax"/>
          <c:max val="18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cross"/>
        <c:minorTickMark val="none"/>
        <c:tickLblPos val="nextTo"/>
        <c:spPr>
          <a:noFill/>
          <a:ln>
            <a:solidFill>
              <a:srgbClr val="00B0F0"/>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3368248"/>
        <c:crosses val="autoZero"/>
        <c:crossBetween val="between"/>
        <c:majorUnit val="20"/>
      </c:valAx>
      <c:valAx>
        <c:axId val="593285392"/>
        <c:scaling>
          <c:orientation val="minMax"/>
        </c:scaling>
        <c:delete val="0"/>
        <c:axPos val="r"/>
        <c:numFmt formatCode="General" sourceLinked="1"/>
        <c:majorTickMark val="cross"/>
        <c:minorTickMark val="none"/>
        <c:tickLblPos val="nextTo"/>
        <c:spPr>
          <a:noFill/>
          <a:ln>
            <a:solidFill>
              <a:srgbClr val="00B0F0"/>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285720"/>
        <c:crosses val="max"/>
        <c:crossBetween val="between"/>
        <c:majorUnit val="1"/>
      </c:valAx>
      <c:catAx>
        <c:axId val="593285720"/>
        <c:scaling>
          <c:orientation val="minMax"/>
        </c:scaling>
        <c:delete val="1"/>
        <c:axPos val="b"/>
        <c:majorTickMark val="out"/>
        <c:minorTickMark val="none"/>
        <c:tickLblPos val="nextTo"/>
        <c:crossAx val="593285392"/>
        <c:crosses val="autoZero"/>
        <c:auto val="1"/>
        <c:lblAlgn val="ctr"/>
        <c:lblOffset val="100"/>
        <c:noMultiLvlLbl val="0"/>
      </c:catAx>
      <c:spPr>
        <a:noFill/>
        <a:ln>
          <a:noFill/>
        </a:ln>
        <a:effectLst/>
      </c:spPr>
    </c:plotArea>
    <c:legend>
      <c:legendPos val="b"/>
      <c:overlay val="0"/>
      <c:spPr>
        <a:noFill/>
        <a:ln w="0">
          <a:solidFill>
            <a:srgbClr val="00B0F0"/>
          </a:solidFill>
          <a:prstDash val="sysDot"/>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esrl.noaa.gov/gmd/dv/data/index.php?site=SMO&amp;parameter_name=Carbon%2BDioxide&amp;frequency=Discret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pmel.noaa.gov/co2/files/co2_time_series_aloha_06-11-2019.jpg"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archive.stats.govt.nz/browse_for_stats/environment/environmental-reporting-series/environmental-indicators/Home/Marine/ocean-acidification.aspx" TargetMode="External"/><Relationship Id="rId4" Type="http://schemas.openxmlformats.org/officeDocument/2006/relationships/hyperlink" Target="https://public.wmo.int/en/resources/bulletin/monitoring-ocean-carbon-and-ocean-acidification-0"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epa.gov/climate-indicators/climate-change-indicators-ocean-acidity#ref8"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tidesandcurrents.noaa.gov/sltrends/sltrends_station.shtml?id=1770000"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824a699b75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g824a699b75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824a699b75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2" name="Google Shape;102;g824a699b75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800" b="0" i="0" u="none" strike="noStrike" cap="none"/>
          </a:p>
        </p:txBody>
      </p:sp>
      <p:sp>
        <p:nvSpPr>
          <p:cNvPr id="103" name="Google Shape;103;g824a699b75_0_62: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strike="noStrike" cap="none">
                <a:solidFill>
                  <a:srgbClr val="000000"/>
                </a:solidFill>
                <a:latin typeface="Calibri"/>
                <a:ea typeface="Calibri"/>
                <a:cs typeface="Calibri"/>
                <a:sym typeface="Calibri"/>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824a699b75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12" name="Google Shape;112;g824a699b75_0_1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13" name="Google Shape;113;g824a699b75_0_112: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c85f6f7a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23" name="Google Shape;123;g8c85f6f7a6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24" name="Google Shape;124;g8c85f6f7a6_0_10: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8c85f6f7a6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33" name="Google Shape;133;g8c85f6f7a6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next slide presents temperature data that was collected at these sites</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200"/>
          </a:p>
        </p:txBody>
      </p:sp>
      <p:sp>
        <p:nvSpPr>
          <p:cNvPr id="134" name="Google Shape;134;g8c85f6f7a6_0_19: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8c85f6f7a6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44" name="Google Shape;144;g8c85f6f7a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dirty="0">
                <a:solidFill>
                  <a:schemeClr val="dk1"/>
                </a:solidFill>
                <a:latin typeface="Times New Roman"/>
                <a:ea typeface="Times New Roman"/>
                <a:cs typeface="Times New Roman"/>
                <a:sym typeface="Times New Roman"/>
              </a:rPr>
              <a:t>The timing and magnitude of temperature patterns in the Territory are similar across islands and Sanctuary management areas. A strong seasonal cycle is evident, with the warmest temperatures occurring during summer months (Dec–Mar) and cooler temperatures observed in the winter (July–Sept). </a:t>
            </a:r>
          </a:p>
          <a:p>
            <a:pPr marL="0" lvl="0" indent="0" algn="l" rtl="0">
              <a:spcBef>
                <a:spcPts val="0"/>
              </a:spcBef>
              <a:spcAft>
                <a:spcPts val="0"/>
              </a:spcAft>
              <a:buClr>
                <a:schemeClr val="dk1"/>
              </a:buClr>
              <a:buSzPts val="1100"/>
              <a:buFont typeface="Arial"/>
              <a:buNone/>
            </a:pPr>
            <a:endParaRPr lang="en-US"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dirty="0">
                <a:solidFill>
                  <a:schemeClr val="dk1"/>
                </a:solidFill>
                <a:latin typeface="Times New Roman"/>
                <a:ea typeface="Times New Roman"/>
                <a:cs typeface="Times New Roman"/>
                <a:sym typeface="Times New Roman"/>
              </a:rPr>
              <a:t>During this warming event, Swains Island experienced the greatest thermal anomalies with water temperatures of almost 31°C and consequently widespread levels of coral bleaching (NOAA 2016</a:t>
            </a:r>
          </a:p>
          <a:p>
            <a:pPr marL="0" lvl="0" indent="0" algn="l" rtl="0">
              <a:spcBef>
                <a:spcPts val="0"/>
              </a:spcBef>
              <a:spcAft>
                <a:spcPts val="0"/>
              </a:spcAft>
              <a:buClr>
                <a:schemeClr val="dk1"/>
              </a:buClr>
              <a:buSzPts val="1100"/>
              <a:buFont typeface="Arial"/>
              <a:buNone/>
            </a:pPr>
            <a:endParaRPr lang="en-US"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lang="en-US"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lang="en-US"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lang="en-US"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dirty="0">
                <a:solidFill>
                  <a:schemeClr val="dk1"/>
                </a:solidFill>
                <a:latin typeface="Times New Roman"/>
                <a:ea typeface="Times New Roman"/>
                <a:cs typeface="Times New Roman"/>
                <a:sym typeface="Times New Roman"/>
              </a:rPr>
              <a:t>From the beginning of temperature data collection from 2010 through 2015, temperatures across all islands rarely exceeded the bleaching threshold —i.e., 1°C above the maximum monthly mean; and if exceeded, it was over a very narrow time period. In 2015–2017 however, summer temperatures exceeded the bleaching threshold for several months during each year. These sharp and repeated ocean temperature rises during the 2015–2016 El Niño caused prolonged thermal stress and subsequent coral bleaching, which was recorded by the coral demographic surveys in March–April 2015. During this warming event, Swains Island experienced the greatest thermal anomalies with water temperatures of almost 31°C and consequently widespread levels of coral bleaching (NOAA 2016). By the summer of 2018, the ocean warming event had receded and temperatures were mild, well within the typical range. </a:t>
            </a:r>
            <a:endParaRPr sz="1200" dirty="0"/>
          </a:p>
        </p:txBody>
      </p:sp>
      <p:sp>
        <p:nvSpPr>
          <p:cNvPr id="145" name="Google Shape;145;g8c85f6f7a6_0_29: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90c137ff1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90c137ff1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9022edeff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65" name="Google Shape;165;g9022edeff2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sz="1200"/>
          </a:p>
        </p:txBody>
      </p:sp>
      <p:sp>
        <p:nvSpPr>
          <p:cNvPr id="166" name="Google Shape;166;g9022edeff2_0_24: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8c85f6f7a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75" name="Google Shape;175;g8c85f6f7a6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Severe bleaching in 2015. Widely known example is the massive staghorn mortality in the airport pools (see Catlin Seaview image).</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NOAA CREP conducted their American Samoa Reef Assessment and Monitoring Cruise (ASCRMP) between 15 February 2015 – 30 March 2015 and recorded data for the beginning of this bleaching event.</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Second bleaching event recorded in 2017: No real quantitative data, only some subjective data collected by CRAG that documents widespread bleaching around the island of Tutuila.</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a:solidFill>
                <a:schemeClr val="dk1"/>
              </a:solidFill>
              <a:latin typeface="Times New Roman"/>
              <a:ea typeface="Times New Roman"/>
              <a:cs typeface="Times New Roman"/>
              <a:sym typeface="Times New Roman"/>
            </a:endParaRPr>
          </a:p>
        </p:txBody>
      </p:sp>
      <p:sp>
        <p:nvSpPr>
          <p:cNvPr id="176" name="Google Shape;176;g8c85f6f7a6_0_54: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8c85f6f7a6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92" name="Google Shape;192;g8c85f6f7a6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Before 2015 Pocillopora was one of the dominant corals on the reef at Swains (see 2010 picture)</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Bleaching in 2015 (see 2015 picture) and potential unrecorded bleaching in 2016.</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Note high amount of dead Pocillopora covered in CCA in 2017 picture (documented on snorkel during a DMWR research trip to Swains).</a:t>
            </a:r>
            <a:endParaRPr sz="11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Research cruise in 2018: ESD recorded a staggering &gt;60% loss of Pocillopora colonies at Swains Island between 2015 and 2018.</a:t>
            </a:r>
            <a:endParaRPr sz="1100">
              <a:solidFill>
                <a:schemeClr val="dk1"/>
              </a:solidFill>
              <a:latin typeface="Times New Roman"/>
              <a:ea typeface="Times New Roman"/>
              <a:cs typeface="Times New Roman"/>
              <a:sym typeface="Times New Roman"/>
            </a:endParaRPr>
          </a:p>
        </p:txBody>
      </p:sp>
      <p:sp>
        <p:nvSpPr>
          <p:cNvPr id="193" name="Google Shape;193;g8c85f6f7a6_0_70: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824a699b75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13" name="Google Shape;213;g824a699b75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NOAA: Ocean acidification is an often overlooked consequence of humankind's release of carbon dioxide emissions into the atmosphere from fossil fuel burning. Excess carbon dioxide enters the ocean and reacts with water to form carbonic acid, which decreases ocean pH (i.e., makes seawater less basic), and lowers carbonate ion concentrations. Organisms such as corals, clams, oysters, and some plankton use carbonate ions to create their shells and skeletons. Decreases in carbonate ion concentration will make it difficult for these creatures to form hard structures, particularly for juveniles. Ocean acidification may cause some organisms to die, reproduce less successfully, or leave an area. Other organisms such as seagrass and some plankton species may do better in oceans affected by ocean acidification because they use carbon dioxide to photosynthesize, but do not require carbonate ions to survive. Ocean ecosystem diversity and ecosystem services may therefore change dramatically from ocean acidification.</a:t>
            </a:r>
            <a:endParaRPr sz="1200"/>
          </a:p>
          <a:p>
            <a:pPr marL="0" lvl="0" indent="0" algn="l" rtl="0">
              <a:spcBef>
                <a:spcPts val="0"/>
              </a:spcBef>
              <a:spcAft>
                <a:spcPts val="0"/>
              </a:spcAft>
              <a:buNone/>
            </a:pPr>
            <a:r>
              <a:rPr lang="en-US" sz="1200"/>
              <a:t>Aragonite saturation state is commonly used to track ocean acidification because it is a measure of carbonate ion concentration. Aragonite is one of the more soluble forms of calcium carbonate and is widely used by marine calcifiers (organisms with calcium carbonate structures). </a:t>
            </a:r>
            <a:endParaRPr sz="1200"/>
          </a:p>
          <a:p>
            <a:pPr marL="0" lvl="0" indent="0" algn="l" rtl="0">
              <a:spcBef>
                <a:spcPts val="0"/>
              </a:spcBef>
              <a:spcAft>
                <a:spcPts val="0"/>
              </a:spcAft>
              <a:buNone/>
            </a:pPr>
            <a:endParaRPr sz="1200"/>
          </a:p>
        </p:txBody>
      </p:sp>
      <p:sp>
        <p:nvSpPr>
          <p:cNvPr id="214" name="Google Shape;214;g824a699b75_0_13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8c85f6f7a6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24" name="Google Shape;224;g8c85f6f7a6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Long Term Carbon Dioxide Measurements from the NOAA Tula Observatory</a:t>
            </a:r>
          </a:p>
          <a:p>
            <a:pPr marL="0" lvl="0" indent="0" algn="l" rtl="0">
              <a:spcBef>
                <a:spcPts val="0"/>
              </a:spcBef>
              <a:spcAft>
                <a:spcPts val="0"/>
              </a:spcAft>
              <a:buNone/>
            </a:pPr>
            <a:r>
              <a:rPr lang="en-US" sz="2000" dirty="0">
                <a:hlinkClick r:id="rId3"/>
              </a:rPr>
              <a:t>https://www.esrl.noaa.gov/gmd/dv/data/index.php?site=SMO&amp;parameter_name=Carbon%2BDioxide&amp;frequency=Discrete</a:t>
            </a:r>
            <a:endParaRPr lang="en-US" sz="1200" dirty="0"/>
          </a:p>
          <a:p>
            <a:pPr marL="0" lvl="0" indent="0" algn="l" rtl="0">
              <a:spcBef>
                <a:spcPts val="0"/>
              </a:spcBef>
              <a:spcAft>
                <a:spcPts val="0"/>
              </a:spcAft>
              <a:buNone/>
            </a:pPr>
            <a:r>
              <a:rPr lang="en-US" sz="1200" dirty="0"/>
              <a:t>Data accessed 8/29/2020</a:t>
            </a:r>
            <a:endParaRPr sz="1200" dirty="0"/>
          </a:p>
        </p:txBody>
      </p:sp>
      <p:sp>
        <p:nvSpPr>
          <p:cNvPr id="225" name="Google Shape;225;g8c85f6f7a6_0_13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8c85f6f7a6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24" name="Google Shape;224;g8c85f6f7a6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The MAPCO2 Buoy in Fagatele Bay measures a suite of indicators, including air and seawater CO2.</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These data are preliminary pending review of the dataset and sensor after refurbishment.  This has unfortunately been delayed due to Measles and COVID.</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The preliminary data however, shows us the variation in CO2 concentration in Fagatele Bay.</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You’ll notice that there are natural diurnal fluxes in Carbon Dioxide in the water in Fagatele.</a:t>
            </a:r>
          </a:p>
          <a:p>
            <a:pPr marL="0" lvl="0" indent="0" algn="l" rtl="0">
              <a:spcBef>
                <a:spcPts val="0"/>
              </a:spcBef>
              <a:spcAft>
                <a:spcPts val="0"/>
              </a:spcAft>
              <a:buNone/>
            </a:pPr>
            <a:endParaRPr sz="1200" dirty="0"/>
          </a:p>
          <a:p>
            <a:pPr marL="0" lvl="0" indent="0" algn="l" rtl="0">
              <a:spcBef>
                <a:spcPts val="0"/>
              </a:spcBef>
              <a:spcAft>
                <a:spcPts val="0"/>
              </a:spcAft>
              <a:buNone/>
            </a:pPr>
            <a:r>
              <a:rPr lang="en-US" sz="1200" dirty="0"/>
              <a:t>Short term data set but will provide valuable in-situ real time data into the future</a:t>
            </a:r>
            <a:endParaRPr sz="1200" dirty="0"/>
          </a:p>
        </p:txBody>
      </p:sp>
      <p:sp>
        <p:nvSpPr>
          <p:cNvPr id="225" name="Google Shape;225;g8c85f6f7a6_0_13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561385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9022edeff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34" name="Google Shape;234;g9022edeff2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Looking at pH from the buoy, we notice that there are also natural diurnal fluxes in </a:t>
            </a:r>
            <a:r>
              <a:rPr lang="en-US" sz="1200" dirty="0" err="1"/>
              <a:t>pH.</a:t>
            </a:r>
            <a:endParaRPr lang="en-US" sz="1200" dirty="0"/>
          </a:p>
          <a:p>
            <a:pPr marL="0" lvl="0" indent="0" algn="l" rtl="0">
              <a:spcBef>
                <a:spcPts val="0"/>
              </a:spcBef>
              <a:spcAft>
                <a:spcPts val="0"/>
              </a:spcAft>
              <a:buNone/>
            </a:pPr>
            <a:endParaRPr sz="1200" dirty="0"/>
          </a:p>
          <a:p>
            <a:pPr marL="0" lvl="0" indent="0" algn="l" rtl="0">
              <a:spcBef>
                <a:spcPts val="0"/>
              </a:spcBef>
              <a:spcAft>
                <a:spcPts val="0"/>
              </a:spcAft>
              <a:buNone/>
            </a:pPr>
            <a:r>
              <a:rPr lang="en-US" sz="1200" dirty="0"/>
              <a:t>Short term data set but will provide valuable in-situ real time data into the future.</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Again this is a preliminary dataset, so we should treat this with a little caution.</a:t>
            </a:r>
            <a:endParaRPr sz="1200" dirty="0"/>
          </a:p>
        </p:txBody>
      </p:sp>
      <p:sp>
        <p:nvSpPr>
          <p:cNvPr id="235" name="Google Shape;235;g9022edeff2_0_2: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8c85f6f7a6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24" name="Google Shape;224;g8c85f6f7a6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Long Term Carbon Dioxide and pH Measurements from the NOAA Mauna Loa Observatory and Station ALOHA</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We don’t have long term fine scale pH monitoring data for the tropical South Pacific, but we do have data from Hawaii and New Zealand (MUNIDA station data in the bottom right graph) and other sites around the world.  All of them are showing declining </a:t>
            </a:r>
            <a:r>
              <a:rPr lang="en-US" sz="1200" dirty="0" err="1"/>
              <a:t>pH.</a:t>
            </a:r>
            <a:endParaRPr lang="en-US" sz="1200" dirty="0"/>
          </a:p>
          <a:p>
            <a:pPr marL="0" lvl="0" indent="0" algn="l" rtl="0">
              <a:spcBef>
                <a:spcPts val="0"/>
              </a:spcBef>
              <a:spcAft>
                <a:spcPts val="0"/>
              </a:spcAft>
              <a:buNone/>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dirty="0"/>
              <a:t>It is important to remind everyone that while these seem like small changes, pH is measured on a logarithmic scale.</a:t>
            </a:r>
          </a:p>
          <a:p>
            <a:pPr marL="0" lvl="0" indent="0" algn="l" rtl="0">
              <a:spcBef>
                <a:spcPts val="0"/>
              </a:spcBef>
              <a:spcAft>
                <a:spcPts val="0"/>
              </a:spcAft>
              <a:buNone/>
            </a:pPr>
            <a:endParaRPr lang="en-US" sz="1200" dirty="0"/>
          </a:p>
          <a:p>
            <a:pPr marL="0" lvl="0" indent="0" algn="l" rtl="0">
              <a:spcBef>
                <a:spcPts val="0"/>
              </a:spcBef>
              <a:spcAft>
                <a:spcPts val="0"/>
              </a:spcAft>
              <a:buNone/>
            </a:pPr>
            <a:endParaRPr lang="en-US" sz="1200" dirty="0"/>
          </a:p>
          <a:p>
            <a:pPr marL="0" lvl="0" indent="0" algn="l" rtl="0">
              <a:spcBef>
                <a:spcPts val="0"/>
              </a:spcBef>
              <a:spcAft>
                <a:spcPts val="0"/>
              </a:spcAft>
              <a:buNone/>
            </a:pPr>
            <a:r>
              <a:rPr lang="en-US" sz="2000" dirty="0">
                <a:hlinkClick r:id="rId3"/>
              </a:rPr>
              <a:t>https://www.pmel.noaa.gov/co2/files/co2_time_series_aloha_06-11-2019.jpg</a:t>
            </a:r>
            <a:endParaRPr lang="en-US" sz="1200" dirty="0"/>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Reference Dore et al 2009</a:t>
            </a:r>
          </a:p>
          <a:p>
            <a:pPr marL="0" lvl="0" indent="0" algn="l" rtl="0">
              <a:spcBef>
                <a:spcPts val="0"/>
              </a:spcBef>
              <a:spcAft>
                <a:spcPts val="0"/>
              </a:spcAft>
              <a:buNone/>
            </a:pPr>
            <a:endParaRPr lang="en-US" sz="1200" dirty="0"/>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World Meteorological Organization</a:t>
            </a:r>
          </a:p>
          <a:p>
            <a:pPr marL="0" lvl="0" indent="0" algn="l" rtl="0">
              <a:spcBef>
                <a:spcPts val="0"/>
              </a:spcBef>
              <a:spcAft>
                <a:spcPts val="0"/>
              </a:spcAft>
              <a:buNone/>
            </a:pPr>
            <a:r>
              <a:rPr lang="en-US" sz="2000" dirty="0">
                <a:hlinkClick r:id="rId4"/>
              </a:rPr>
              <a:t>https://public.wmo.int/en/resources/bulletin/monitoring-ocean-carbon-and-ocean-acidification-0</a:t>
            </a:r>
            <a:endParaRPr lang="en-US" sz="1200" dirty="0"/>
          </a:p>
          <a:p>
            <a:pPr marL="0" lvl="0" indent="0" algn="l" rtl="0">
              <a:spcBef>
                <a:spcPts val="0"/>
              </a:spcBef>
              <a:spcAft>
                <a:spcPts val="0"/>
              </a:spcAft>
              <a:buNone/>
            </a:pPr>
            <a:r>
              <a:rPr lang="en-US" sz="1200" dirty="0" err="1"/>
              <a:t>Munida</a:t>
            </a:r>
            <a:r>
              <a:rPr lang="en-US" sz="1200" dirty="0"/>
              <a:t>, NZ pH data</a:t>
            </a:r>
          </a:p>
          <a:p>
            <a:pPr marL="0" lvl="0" indent="0" algn="l" rtl="0">
              <a:spcBef>
                <a:spcPts val="0"/>
              </a:spcBef>
              <a:spcAft>
                <a:spcPts val="0"/>
              </a:spcAft>
              <a:buNone/>
            </a:pPr>
            <a:r>
              <a:rPr lang="en-US" sz="2000" dirty="0">
                <a:hlinkClick r:id="rId5"/>
              </a:rPr>
              <a:t>http://archive.stats.govt.nz/browse_for_stats/environment/environmental-reporting-series/environmental-indicators/Home/Marine/ocean-acidification.aspx</a:t>
            </a:r>
            <a:endParaRPr lang="en-US" sz="1200" dirty="0"/>
          </a:p>
        </p:txBody>
      </p:sp>
      <p:sp>
        <p:nvSpPr>
          <p:cNvPr id="225" name="Google Shape;225;g8c85f6f7a6_0_13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564365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8c85f6f7a6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44" name="Google Shape;244;g8c85f6f7a6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We do have discrete samples from RAMP cruises conducted from 2010 – 2018</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As we noted earlier, pH can vary on diurnal cycles near reefs, and this is particularly true for Fagatele as the embayment can increase residence time of water.</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NOAA: Ranging from 0 to 14, pH is a scale that describes the acid and base properties of a solution. The ocean's surface has an average pH of around 8.1, which is slightly basic. The pH of the open ocean is relatively stable in both time and space; however, the uptake of CO2 by the ocean has caused measurable changes in seawater.</a:t>
            </a:r>
            <a:endParaRPr sz="1200" dirty="0"/>
          </a:p>
          <a:p>
            <a:pPr marL="0" lvl="0" indent="0" algn="l" rtl="0">
              <a:spcBef>
                <a:spcPts val="0"/>
              </a:spcBef>
              <a:spcAft>
                <a:spcPts val="0"/>
              </a:spcAft>
              <a:buNone/>
            </a:pPr>
            <a:r>
              <a:rPr lang="en-US" sz="1200" dirty="0"/>
              <a:t>Although the pH changes appear small, pH is on a log scale meaning that a change of one unit represents an order of magnitude change in the acidity of the seawater. Ocean acidification, a lowering of ocean pH, has the potential to significantly impact marine ecosystems by the end of this century.</a:t>
            </a:r>
            <a:endParaRPr sz="1200" dirty="0"/>
          </a:p>
        </p:txBody>
      </p:sp>
      <p:sp>
        <p:nvSpPr>
          <p:cNvPr id="245" name="Google Shape;245;g8c85f6f7a6_0_11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8c85f6f7a6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55" name="Google Shape;255;g8c85f6f7a6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hlinkClick r:id="rId3"/>
              </a:rPr>
              <a:t>https://www.epa.gov/climate-indicators/climate-change-indicators-ocean-acidity#ref8</a:t>
            </a:r>
            <a:endParaRPr lang="en-US" b="0" i="0" baseline="30000" dirty="0">
              <a:solidFill>
                <a:srgbClr val="212121"/>
              </a:solidFill>
              <a:effectLst/>
              <a:latin typeface="Source Sans Pro" panose="020B0503030403020204" pitchFamily="34" charset="0"/>
            </a:endParaRPr>
          </a:p>
          <a:p>
            <a:pPr marL="0" lvl="0" indent="0" algn="l" rtl="0">
              <a:spcBef>
                <a:spcPts val="0"/>
              </a:spcBef>
              <a:spcAft>
                <a:spcPts val="0"/>
              </a:spcAft>
              <a:buNone/>
            </a:pPr>
            <a:endParaRPr lang="en-US" b="0" i="0" baseline="30000" dirty="0">
              <a:solidFill>
                <a:srgbClr val="212121"/>
              </a:solidFill>
              <a:effectLst/>
              <a:latin typeface="Source Sans Pro" panose="020B0503030403020204" pitchFamily="34" charset="0"/>
            </a:endParaRPr>
          </a:p>
          <a:p>
            <a:pPr marL="0" lvl="0" indent="0" algn="l" rtl="0">
              <a:spcBef>
                <a:spcPts val="0"/>
              </a:spcBef>
              <a:spcAft>
                <a:spcPts val="0"/>
              </a:spcAft>
              <a:buNone/>
            </a:pPr>
            <a:r>
              <a:rPr lang="en-US" b="0" i="0" dirty="0">
                <a:solidFill>
                  <a:srgbClr val="212121"/>
                </a:solidFill>
                <a:effectLst/>
                <a:latin typeface="Source Sans Pro" panose="020B0503030403020204" pitchFamily="34" charset="0"/>
              </a:rPr>
              <a:t>This is a global model of changes in aragonite saturation for the world’s oceans from 1880 – 2015.</a:t>
            </a:r>
          </a:p>
          <a:p>
            <a:pPr marL="0" lvl="0" indent="0" algn="l" rtl="0">
              <a:spcBef>
                <a:spcPts val="0"/>
              </a:spcBef>
              <a:spcAft>
                <a:spcPts val="0"/>
              </a:spcAft>
              <a:buNone/>
            </a:pPr>
            <a:endParaRPr lang="en-US" b="0" i="0" dirty="0">
              <a:solidFill>
                <a:srgbClr val="212121"/>
              </a:solidFill>
              <a:effectLst/>
              <a:latin typeface="Source Sans Pro" panose="020B0503030403020204" pitchFamily="34" charset="0"/>
            </a:endParaRPr>
          </a:p>
          <a:p>
            <a:pPr marL="0" lvl="0" indent="0" algn="l" rtl="0">
              <a:spcBef>
                <a:spcPts val="0"/>
              </a:spcBef>
              <a:spcAft>
                <a:spcPts val="0"/>
              </a:spcAft>
              <a:buNone/>
            </a:pPr>
            <a:r>
              <a:rPr lang="en-US" b="0" i="0" dirty="0">
                <a:solidFill>
                  <a:srgbClr val="212121"/>
                </a:solidFill>
                <a:effectLst/>
                <a:latin typeface="Source Sans Pro" panose="020B0503030403020204" pitchFamily="34" charset="0"/>
              </a:rPr>
              <a:t>This model suggests that aragonite has likely declined in American Samoa over this time period.  However…..</a:t>
            </a:r>
          </a:p>
          <a:p>
            <a:pPr marL="0" lvl="0" indent="0" algn="l" rtl="0">
              <a:spcBef>
                <a:spcPts val="0"/>
              </a:spcBef>
              <a:spcAft>
                <a:spcPts val="0"/>
              </a:spcAft>
              <a:buNone/>
            </a:pPr>
            <a:endParaRPr lang="en-US" b="0" i="0" dirty="0">
              <a:solidFill>
                <a:srgbClr val="212121"/>
              </a:solidFill>
              <a:effectLst/>
              <a:latin typeface="Source Sans Pro" panose="020B0503030403020204" pitchFamily="34" charset="0"/>
            </a:endParaRPr>
          </a:p>
          <a:p>
            <a:pPr marL="0" lvl="0" indent="0" algn="l" rtl="0">
              <a:spcBef>
                <a:spcPts val="0"/>
              </a:spcBef>
              <a:spcAft>
                <a:spcPts val="0"/>
              </a:spcAft>
              <a:buNone/>
            </a:pPr>
            <a:r>
              <a:rPr lang="en-US" b="0" i="0" dirty="0">
                <a:solidFill>
                  <a:srgbClr val="212121"/>
                </a:solidFill>
                <a:effectLst/>
                <a:latin typeface="Source Sans Pro" panose="020B0503030403020204" pitchFamily="34" charset="0"/>
              </a:rPr>
              <a:t>Woods Hole Oceanographic Institution. 2016 update to data originally published in: Feely, R.A., S.C. </a:t>
            </a:r>
            <a:r>
              <a:rPr lang="en-US" b="0" i="0" dirty="0" err="1">
                <a:solidFill>
                  <a:srgbClr val="212121"/>
                </a:solidFill>
                <a:effectLst/>
                <a:latin typeface="Source Sans Pro" panose="020B0503030403020204" pitchFamily="34" charset="0"/>
              </a:rPr>
              <a:t>Doney</a:t>
            </a:r>
            <a:r>
              <a:rPr lang="en-US" b="0" i="0" dirty="0">
                <a:solidFill>
                  <a:srgbClr val="212121"/>
                </a:solidFill>
                <a:effectLst/>
                <a:latin typeface="Source Sans Pro" panose="020B0503030403020204" pitchFamily="34" charset="0"/>
              </a:rPr>
              <a:t>, and S.R. Cooley. 2009. Ocean acidification: Present conditions and future changes in a high-CO</a:t>
            </a:r>
            <a:r>
              <a:rPr lang="en-US" b="0" i="0" baseline="-25000" dirty="0">
                <a:solidFill>
                  <a:srgbClr val="212121"/>
                </a:solidFill>
                <a:effectLst/>
                <a:latin typeface="Source Sans Pro" panose="020B0503030403020204" pitchFamily="34" charset="0"/>
              </a:rPr>
              <a:t>2</a:t>
            </a:r>
            <a:r>
              <a:rPr lang="en-US" b="0" i="0" dirty="0">
                <a:solidFill>
                  <a:srgbClr val="212121"/>
                </a:solidFill>
                <a:effectLst/>
                <a:latin typeface="Source Sans Pro" panose="020B0503030403020204" pitchFamily="34" charset="0"/>
              </a:rPr>
              <a:t> world. Oceanography 22(4):36–47.</a:t>
            </a:r>
          </a:p>
          <a:p>
            <a:pPr marL="0" lvl="0" indent="0" algn="l" rtl="0">
              <a:spcBef>
                <a:spcPts val="0"/>
              </a:spcBef>
              <a:spcAft>
                <a:spcPts val="0"/>
              </a:spcAft>
              <a:buNone/>
            </a:pPr>
            <a:endParaRPr lang="en-US" sz="1100" b="0" i="0" dirty="0">
              <a:solidFill>
                <a:srgbClr val="212121"/>
              </a:solidFill>
              <a:effectLst/>
              <a:latin typeface="Source Sans Pro" panose="020B0503030403020204" pitchFamily="34" charset="0"/>
              <a:ea typeface="Times New Roman"/>
              <a:cs typeface="Times New Roman"/>
              <a:sym typeface="Times New Roman"/>
            </a:endParaRPr>
          </a:p>
          <a:p>
            <a:pPr marL="0" lvl="0" indent="0" algn="l" rtl="0">
              <a:spcBef>
                <a:spcPts val="0"/>
              </a:spcBef>
              <a:spcAft>
                <a:spcPts val="0"/>
              </a:spcAft>
              <a:buNone/>
            </a:pPr>
            <a:endParaRPr lang="en-US" sz="1100" b="0" i="0" dirty="0">
              <a:solidFill>
                <a:srgbClr val="212121"/>
              </a:solidFill>
              <a:effectLst/>
              <a:latin typeface="Source Sans Pro" panose="020B0503030403020204" pitchFamily="34" charset="0"/>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dirty="0">
                <a:solidFill>
                  <a:schemeClr val="dk1"/>
                </a:solidFill>
                <a:latin typeface="Times New Roman"/>
                <a:ea typeface="Times New Roman"/>
                <a:cs typeface="Times New Roman"/>
                <a:sym typeface="Times New Roman"/>
              </a:rPr>
              <a:t>The aragonite saturation state is projected to fall below 3.5 in Samoa by 2060</a:t>
            </a: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p:txBody>
      </p:sp>
      <p:sp>
        <p:nvSpPr>
          <p:cNvPr id="256" name="Google Shape;256;g8c85f6f7a6_0_103: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619771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8c85f6f7a6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55" name="Google Shape;255;g8c85f6f7a6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dirty="0">
                <a:solidFill>
                  <a:schemeClr val="dk1"/>
                </a:solidFill>
                <a:latin typeface="Times New Roman"/>
                <a:ea typeface="Times New Roman"/>
                <a:cs typeface="Times New Roman"/>
                <a:sym typeface="Times New Roman"/>
              </a:rPr>
              <a:t>Aragonite saturation state data for American Samoa remains some of the highest in the US Pacific Islands.   In many places, this is still near optimal levels of 4.0 and has not demonstrated much temporal change.  Rose is higher with a slight decrease in values moving towards Tutuila.   Fagatele and </a:t>
            </a:r>
            <a:r>
              <a:rPr lang="en-US" sz="1100" dirty="0" err="1">
                <a:solidFill>
                  <a:schemeClr val="dk1"/>
                </a:solidFill>
                <a:latin typeface="Times New Roman"/>
                <a:ea typeface="Times New Roman"/>
                <a:cs typeface="Times New Roman"/>
                <a:sym typeface="Times New Roman"/>
              </a:rPr>
              <a:t>Fagalua</a:t>
            </a:r>
            <a:r>
              <a:rPr lang="en-US" sz="1100" dirty="0">
                <a:solidFill>
                  <a:schemeClr val="dk1"/>
                </a:solidFill>
                <a:latin typeface="Times New Roman"/>
                <a:ea typeface="Times New Roman"/>
                <a:cs typeface="Times New Roman"/>
                <a:sym typeface="Times New Roman"/>
              </a:rPr>
              <a:t>/</a:t>
            </a:r>
            <a:r>
              <a:rPr lang="en-US" sz="1100" dirty="0" err="1">
                <a:solidFill>
                  <a:schemeClr val="dk1"/>
                </a:solidFill>
                <a:latin typeface="Times New Roman"/>
                <a:ea typeface="Times New Roman"/>
                <a:cs typeface="Times New Roman"/>
                <a:sym typeface="Times New Roman"/>
              </a:rPr>
              <a:t>Fogama’a</a:t>
            </a:r>
            <a:r>
              <a:rPr lang="en-US" sz="1100" dirty="0">
                <a:solidFill>
                  <a:schemeClr val="dk1"/>
                </a:solidFill>
                <a:latin typeface="Times New Roman"/>
                <a:ea typeface="Times New Roman"/>
                <a:cs typeface="Times New Roman"/>
                <a:sym typeface="Times New Roman"/>
              </a:rPr>
              <a:t> are lower, but this may be due to biological demand.</a:t>
            </a:r>
          </a:p>
          <a:p>
            <a:pPr marL="0" lvl="0" indent="0" algn="l" rtl="0">
              <a:spcBef>
                <a:spcPts val="0"/>
              </a:spcBef>
              <a:spcAft>
                <a:spcPts val="0"/>
              </a:spcAft>
              <a:buNone/>
            </a:pPr>
            <a:endParaRPr lang="en-US" sz="1100" dirty="0">
              <a:solidFill>
                <a:schemeClr val="dk1"/>
              </a:solidFill>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chemeClr val="dk1"/>
                </a:solidFill>
                <a:latin typeface="Times New Roman"/>
                <a:ea typeface="Times New Roman"/>
                <a:cs typeface="Times New Roman"/>
                <a:sym typeface="Times New Roman"/>
              </a:rPr>
              <a:t>The aragonite saturation state is projected to fall below 3.5 in Samoa by 2060</a:t>
            </a:r>
          </a:p>
          <a:p>
            <a:pPr marL="0" lvl="0" indent="0" algn="l" rtl="0">
              <a:spcBef>
                <a:spcPts val="0"/>
              </a:spcBef>
              <a:spcAft>
                <a:spcPts val="0"/>
              </a:spcAft>
              <a:buNone/>
            </a:pPr>
            <a:endParaRPr lang="en-US"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1100" dirty="0">
                <a:solidFill>
                  <a:schemeClr val="dk1"/>
                </a:solidFill>
                <a:latin typeface="Times New Roman"/>
                <a:ea typeface="Times New Roman"/>
                <a:cs typeface="Times New Roman"/>
                <a:sym typeface="Times New Roman"/>
              </a:rPr>
              <a:t>Aragonite saturation state (Omega aragonite) data was estimated based on discrete seawater samples analyzed for two parameters: Dissolved Inorganic Carbon (DIC) and Total Alkalinity (TA). Because the marine carbonate system is influenced by salinity, temperature, and pressure, these data were obtained from CTD casts and used during analysis with DIC and TA values to calculate values for omega aragonite. All carbonate system collection and measurement methodologies followed Dickinson et al. (2007). </a:t>
            </a: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1100" dirty="0">
                <a:solidFill>
                  <a:schemeClr val="dk1"/>
                </a:solidFill>
                <a:latin typeface="Times New Roman"/>
                <a:ea typeface="Times New Roman"/>
                <a:cs typeface="Times New Roman"/>
                <a:sym typeface="Times New Roman"/>
              </a:rPr>
              <a:t>Aragonite saturation state is commonly used to track ocean acidification because it is a measure of carbonate ion concentration. Aragonite is one of the more soluble forms of calcium carbonate and is widely used by marine </a:t>
            </a:r>
            <a:r>
              <a:rPr lang="en-US" sz="1100" dirty="0" err="1">
                <a:solidFill>
                  <a:schemeClr val="dk1"/>
                </a:solidFill>
                <a:latin typeface="Times New Roman"/>
                <a:ea typeface="Times New Roman"/>
                <a:cs typeface="Times New Roman"/>
                <a:sym typeface="Times New Roman"/>
              </a:rPr>
              <a:t>calcifiers</a:t>
            </a:r>
            <a:r>
              <a:rPr lang="en-US" sz="1100" dirty="0">
                <a:solidFill>
                  <a:schemeClr val="dk1"/>
                </a:solidFill>
                <a:latin typeface="Times New Roman"/>
                <a:ea typeface="Times New Roman"/>
                <a:cs typeface="Times New Roman"/>
                <a:sym typeface="Times New Roman"/>
              </a:rPr>
              <a:t> (organisms with calcium carbonate structures). Corals and other </a:t>
            </a:r>
            <a:r>
              <a:rPr lang="en-US" sz="1100" dirty="0" err="1">
                <a:solidFill>
                  <a:schemeClr val="dk1"/>
                </a:solidFill>
                <a:latin typeface="Times New Roman"/>
                <a:ea typeface="Times New Roman"/>
                <a:cs typeface="Times New Roman"/>
                <a:sym typeface="Times New Roman"/>
              </a:rPr>
              <a:t>calcifiers</a:t>
            </a:r>
            <a:r>
              <a:rPr lang="en-US" sz="1100" dirty="0">
                <a:solidFill>
                  <a:schemeClr val="dk1"/>
                </a:solidFill>
                <a:latin typeface="Times New Roman"/>
                <a:ea typeface="Times New Roman"/>
                <a:cs typeface="Times New Roman"/>
                <a:sym typeface="Times New Roman"/>
              </a:rPr>
              <a:t> are more likely to survive and reproduce when the saturation state is greater than three. When aragonite saturation state falls below 3, these organisms become stressed, and when saturation state is less than 1, shells and other aragonite structures begin to dissolve.</a:t>
            </a: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1100" dirty="0">
                <a:solidFill>
                  <a:schemeClr val="dk1"/>
                </a:solidFill>
                <a:latin typeface="Times New Roman"/>
                <a:ea typeface="Times New Roman"/>
                <a:cs typeface="Times New Roman"/>
                <a:sym typeface="Times New Roman"/>
              </a:rPr>
              <a:t>Omega aragonite values in American Samoa are traditionally the highest measured among the 48 island and atolls periodically visited by NOAA’s Pacific RAMP. Within the islands of American Samoa there is not a lot of temporal variation; Omega aragonite values were very similar between survey years 2015 and 2018.  Also, Rose Atoll typically exhibits the highest omega aragonite levels and Tutuila has the lowest. Fagatele and </a:t>
            </a:r>
            <a:r>
              <a:rPr lang="en-US" sz="1100" dirty="0" err="1">
                <a:solidFill>
                  <a:schemeClr val="dk1"/>
                </a:solidFill>
                <a:latin typeface="Times New Roman"/>
                <a:ea typeface="Times New Roman"/>
                <a:cs typeface="Times New Roman"/>
                <a:sym typeface="Times New Roman"/>
              </a:rPr>
              <a:t>Fagalua</a:t>
            </a:r>
            <a:r>
              <a:rPr lang="en-US" sz="1100" dirty="0">
                <a:solidFill>
                  <a:schemeClr val="dk1"/>
                </a:solidFill>
                <a:latin typeface="Times New Roman"/>
                <a:ea typeface="Times New Roman"/>
                <a:cs typeface="Times New Roman"/>
                <a:sym typeface="Times New Roman"/>
              </a:rPr>
              <a:t> Sanctuary management areas have lower omega aragonite values than most of the forereef sampling locations, likely due to biological activity (e.g. calcification and respiration) that occurs in waters with a longer residence time similar to within these sheltered bays.</a:t>
            </a: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100" dirty="0">
                <a:solidFill>
                  <a:schemeClr val="dk1"/>
                </a:solidFill>
                <a:latin typeface="Times New Roman"/>
                <a:ea typeface="Times New Roman"/>
                <a:cs typeface="Times New Roman"/>
                <a:sym typeface="Times New Roman"/>
              </a:rPr>
              <a:t>The aragonite saturation state is projected to fall below 3.5 in Samoa by 2060, and continue declining thereafter (ABM and CSIRO 2011).</a:t>
            </a: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p:txBody>
      </p:sp>
      <p:sp>
        <p:nvSpPr>
          <p:cNvPr id="256" name="Google Shape;256;g8c85f6f7a6_0_103: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8c85f6f7a6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68" name="Google Shape;268;g8c85f6f7a6_0_1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Update 5/27/2020</a:t>
            </a:r>
            <a:endParaRPr sz="1200" dirty="0"/>
          </a:p>
          <a:p>
            <a:pPr marL="0" lvl="0" indent="0" algn="l" rtl="0">
              <a:spcBef>
                <a:spcPts val="0"/>
              </a:spcBef>
              <a:spcAft>
                <a:spcPts val="0"/>
              </a:spcAft>
              <a:buNone/>
            </a:pPr>
            <a:r>
              <a:rPr lang="en-US" sz="1200" dirty="0"/>
              <a:t>Ari Halperin (ESD OC Tech): “In terms of the AS CAUs, we were so close to finishing off the Rose plates right before we shut down for COVID, and they were the last of the batch! But unfortunately, the data isn't ready yet. As soon as they reopen the office, those plates should be done within 2 weeks to a month, we do some data QC, and then it should be ready for you! I'd like to think we can make the August/September report time, but I'm really not sure when we're going to get back to the office to finish the last of the lab work. Do you want to touch base in early-mid August and we can see how we're doing with the dataset?”</a:t>
            </a:r>
            <a:endParaRPr sz="1200" dirty="0"/>
          </a:p>
          <a:p>
            <a:pPr marL="0" lvl="0" indent="0" algn="l" rtl="0">
              <a:spcBef>
                <a:spcPts val="0"/>
              </a:spcBef>
              <a:spcAft>
                <a:spcPts val="0"/>
              </a:spcAft>
              <a:buNone/>
            </a:pPr>
            <a:endParaRPr sz="1200" dirty="0"/>
          </a:p>
        </p:txBody>
      </p:sp>
      <p:sp>
        <p:nvSpPr>
          <p:cNvPr id="269" name="Google Shape;269;g8c85f6f7a6_0_146: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824a699b75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78" name="Google Shape;278;g824a699b75_0_1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NOAA: Global sea level has been rising over the past century, and the rate has increased in recent decades. In 2014, global sea level was 2.6 inches above the 1993 average—the highest annual average in the satellite record (1993-present). Sea level continues to rise at a rate of about one-eighth of an inch per year. With continued ocean and atmospheric warming, sea levels will likely rise for many centuries at rates higher than that of the current century. </a:t>
            </a:r>
            <a:endParaRPr sz="1200"/>
          </a:p>
          <a:p>
            <a:pPr marL="0" lvl="0" indent="0" algn="l" rtl="0">
              <a:spcBef>
                <a:spcPts val="0"/>
              </a:spcBef>
              <a:spcAft>
                <a:spcPts val="0"/>
              </a:spcAft>
              <a:buNone/>
            </a:pPr>
            <a:endParaRPr sz="1200"/>
          </a:p>
        </p:txBody>
      </p:sp>
      <p:sp>
        <p:nvSpPr>
          <p:cNvPr id="279" name="Google Shape;279;g824a699b75_0_180: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8c85f6f7a6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87" name="Google Shape;287;g8c85f6f7a6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indent="0" algn="l">
              <a:buNone/>
            </a:pPr>
            <a:endParaRPr lang="en-US" sz="2000" b="1" i="0" dirty="0">
              <a:solidFill>
                <a:srgbClr val="000000"/>
              </a:solidFill>
              <a:effectLst/>
              <a:latin typeface="inherit"/>
            </a:endParaRPr>
          </a:p>
          <a:p>
            <a:pPr marL="158750" indent="0" algn="l">
              <a:buNone/>
            </a:pPr>
            <a:r>
              <a:rPr lang="en-US" sz="2000" b="1" i="0" dirty="0">
                <a:solidFill>
                  <a:srgbClr val="000000"/>
                </a:solidFill>
                <a:effectLst/>
                <a:latin typeface="inherit"/>
              </a:rPr>
              <a:t>The relative sea level trend is 2.41 millimeters/year with a 95% confidence</a:t>
            </a:r>
            <a:br>
              <a:rPr lang="en-US" sz="2000" b="1" i="0" dirty="0">
                <a:solidFill>
                  <a:srgbClr val="000000"/>
                </a:solidFill>
                <a:effectLst/>
                <a:latin typeface="inherit"/>
              </a:rPr>
            </a:br>
            <a:r>
              <a:rPr lang="en-US" sz="2000" b="1" i="0" dirty="0">
                <a:solidFill>
                  <a:srgbClr val="000000"/>
                </a:solidFill>
                <a:effectLst/>
                <a:latin typeface="inherit"/>
              </a:rPr>
              <a:t>interval of +/- 0.8 mm/</a:t>
            </a:r>
            <a:r>
              <a:rPr lang="en-US" sz="2000" b="1" i="0" dirty="0" err="1">
                <a:solidFill>
                  <a:srgbClr val="000000"/>
                </a:solidFill>
                <a:effectLst/>
                <a:latin typeface="inherit"/>
              </a:rPr>
              <a:t>yr</a:t>
            </a:r>
            <a:r>
              <a:rPr lang="en-US" sz="2000" b="1" i="0" dirty="0">
                <a:solidFill>
                  <a:srgbClr val="000000"/>
                </a:solidFill>
                <a:effectLst/>
                <a:latin typeface="inherit"/>
              </a:rPr>
              <a:t> based on monthly mean sea level data from</a:t>
            </a:r>
            <a:br>
              <a:rPr lang="en-US" sz="2000" b="1" i="0" dirty="0">
                <a:solidFill>
                  <a:srgbClr val="000000"/>
                </a:solidFill>
                <a:effectLst/>
                <a:latin typeface="inherit"/>
              </a:rPr>
            </a:br>
            <a:r>
              <a:rPr lang="en-US" sz="2000" b="1" i="0" dirty="0">
                <a:solidFill>
                  <a:srgbClr val="000000"/>
                </a:solidFill>
                <a:effectLst/>
                <a:latin typeface="inherit"/>
              </a:rPr>
              <a:t>1948 to 2009 which is equivalent to a change of 0.79 feet in 100 years.</a:t>
            </a:r>
          </a:p>
          <a:p>
            <a:pPr algn="l"/>
            <a:r>
              <a:rPr lang="en-US" sz="2000" b="0" i="0" dirty="0">
                <a:solidFill>
                  <a:srgbClr val="000000"/>
                </a:solidFill>
                <a:effectLst/>
                <a:latin typeface="Helvetica Neue"/>
              </a:rPr>
              <a:t>Trend is based only on data before September 2009 earthquake</a:t>
            </a:r>
          </a:p>
          <a:p>
            <a:pPr algn="l"/>
            <a:endParaRPr lang="en-US" sz="2000" b="0" i="0" dirty="0">
              <a:solidFill>
                <a:srgbClr val="000000"/>
              </a:solidFill>
              <a:effectLst/>
              <a:latin typeface="Helvetica Neue"/>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2000" b="1" i="0" dirty="0">
                <a:solidFill>
                  <a:srgbClr val="000000"/>
                </a:solidFill>
                <a:effectLst/>
                <a:latin typeface="inherit"/>
              </a:rPr>
              <a:t>However, over the last decade, sea level has increased more rapidly, for a total increase of approximately 25 cm or 9 inches.  </a:t>
            </a:r>
          </a:p>
          <a:p>
            <a:pPr algn="l"/>
            <a:endParaRPr lang="en-US" sz="2000" b="0" i="0" dirty="0">
              <a:solidFill>
                <a:srgbClr val="000000"/>
              </a:solidFill>
              <a:effectLst/>
              <a:latin typeface="Helvetica Neue"/>
            </a:endParaRP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2000" dirty="0">
                <a:hlinkClick r:id="rId3"/>
              </a:rPr>
              <a:t>https://tidesandcurrents.noaa.gov/sltrends/sltrends_station.shtml?id=1770000</a:t>
            </a:r>
            <a:endParaRPr sz="1200" dirty="0"/>
          </a:p>
        </p:txBody>
      </p:sp>
      <p:sp>
        <p:nvSpPr>
          <p:cNvPr id="288" name="Google Shape;288;g8c85f6f7a6_0_192: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8c85f6f7a6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97" name="Google Shape;297;g8c85f6f7a6_0_2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200" dirty="0">
                <a:solidFill>
                  <a:schemeClr val="dk1"/>
                </a:solidFill>
              </a:rPr>
              <a:t>Due to subsidence after the 2009 earthquake doublet along the Tongan trench</a:t>
            </a:r>
          </a:p>
          <a:p>
            <a:pPr marL="0" lvl="0" indent="0" algn="l" rtl="0">
              <a:spcBef>
                <a:spcPts val="0"/>
              </a:spcBef>
              <a:spcAft>
                <a:spcPts val="0"/>
              </a:spcAft>
              <a:buClr>
                <a:schemeClr val="dk1"/>
              </a:buClr>
              <a:buSzPts val="1100"/>
              <a:buFont typeface="Arial"/>
              <a:buNone/>
            </a:pPr>
            <a:endParaRPr lang="en-US" sz="1200" dirty="0">
              <a:solidFill>
                <a:schemeClr val="dk1"/>
              </a:solidFill>
            </a:endParaRPr>
          </a:p>
          <a:p>
            <a:pPr marL="0" lvl="0" indent="0" algn="l" rtl="0">
              <a:spcBef>
                <a:spcPts val="0"/>
              </a:spcBef>
              <a:spcAft>
                <a:spcPts val="0"/>
              </a:spcAft>
              <a:buClr>
                <a:schemeClr val="dk1"/>
              </a:buClr>
              <a:buSzPts val="1100"/>
              <a:buFont typeface="Arial"/>
              <a:buNone/>
            </a:pPr>
            <a:r>
              <a:rPr lang="en-US" sz="1200" dirty="0">
                <a:solidFill>
                  <a:schemeClr val="dk1"/>
                </a:solidFill>
              </a:rPr>
              <a:t>Sea level is effectively rising 5 times faster than the global average.  And this trend is expected to continue.</a:t>
            </a:r>
          </a:p>
          <a:p>
            <a:pPr marL="0" lvl="0" indent="0" algn="l" rtl="0">
              <a:spcBef>
                <a:spcPts val="0"/>
              </a:spcBef>
              <a:spcAft>
                <a:spcPts val="0"/>
              </a:spcAft>
              <a:buClr>
                <a:schemeClr val="dk1"/>
              </a:buClr>
              <a:buSzPts val="1100"/>
              <a:buFont typeface="Arial"/>
              <a:buNone/>
            </a:pPr>
            <a:endParaRPr lang="en-US" sz="1200" dirty="0">
              <a:solidFill>
                <a:schemeClr val="dk1"/>
              </a:solidFill>
            </a:endParaRPr>
          </a:p>
          <a:p>
            <a:pPr marL="0" lvl="0" indent="0" algn="l" rtl="0">
              <a:spcBef>
                <a:spcPts val="0"/>
              </a:spcBef>
              <a:spcAft>
                <a:spcPts val="0"/>
              </a:spcAft>
              <a:buClr>
                <a:schemeClr val="dk1"/>
              </a:buClr>
              <a:buSzPts val="1100"/>
              <a:buFont typeface="Arial"/>
              <a:buNone/>
            </a:pPr>
            <a:endParaRPr lang="en-US" sz="1200" dirty="0">
              <a:solidFill>
                <a:schemeClr val="dk1"/>
              </a:solidFill>
            </a:endParaRPr>
          </a:p>
          <a:p>
            <a:pPr marL="0" lvl="0" indent="0" algn="l" rtl="0">
              <a:spcBef>
                <a:spcPts val="0"/>
              </a:spcBef>
              <a:spcAft>
                <a:spcPts val="0"/>
              </a:spcAft>
              <a:buClr>
                <a:schemeClr val="dk1"/>
              </a:buClr>
              <a:buSzPts val="1100"/>
              <a:buFont typeface="Arial"/>
              <a:buNone/>
            </a:pPr>
            <a:endParaRPr lang="en-US" sz="1200" dirty="0">
              <a:solidFill>
                <a:schemeClr val="dk1"/>
              </a:solidFill>
            </a:endParaRPr>
          </a:p>
          <a:p>
            <a:pPr marL="0" lvl="0" indent="0" algn="l" rtl="0">
              <a:spcBef>
                <a:spcPts val="0"/>
              </a:spcBef>
              <a:spcAft>
                <a:spcPts val="0"/>
              </a:spcAft>
              <a:buClr>
                <a:schemeClr val="dk1"/>
              </a:buClr>
              <a:buSzPts val="1100"/>
              <a:buFont typeface="Arial"/>
              <a:buNone/>
            </a:pPr>
            <a:r>
              <a:rPr lang="en-US" sz="1200" dirty="0">
                <a:solidFill>
                  <a:schemeClr val="dk1"/>
                </a:solidFill>
              </a:rPr>
              <a:t>The islands have experienced sea level rise by 2–3 mm/year during the last half century. The rate, however, has dramatically increased following the Mw 8.1 Samoa‐Tonga earthquake doublet (megathrust + normal faulting) in September 2009. Since the earthquake, we found large‐scale gravity increase (0.5 </a:t>
            </a:r>
            <a:r>
              <a:rPr lang="en-US" sz="1200" dirty="0" err="1">
                <a:solidFill>
                  <a:schemeClr val="dk1"/>
                </a:solidFill>
              </a:rPr>
              <a:t>μGal</a:t>
            </a:r>
            <a:r>
              <a:rPr lang="en-US" sz="1200" dirty="0">
                <a:solidFill>
                  <a:schemeClr val="dk1"/>
                </a:solidFill>
              </a:rPr>
              <a:t>/year) around the islands and ongoing subsidence (8–16 mm/year) of the islands from our analysis of Gravity Recovery And Climate Experiment gravity and GPS displacement data. The </a:t>
            </a:r>
            <a:r>
              <a:rPr lang="en-US" sz="1200" dirty="0" err="1">
                <a:solidFill>
                  <a:schemeClr val="dk1"/>
                </a:solidFill>
              </a:rPr>
              <a:t>postseismic</a:t>
            </a:r>
            <a:r>
              <a:rPr lang="en-US" sz="1200" dirty="0">
                <a:solidFill>
                  <a:schemeClr val="dk1"/>
                </a:solidFill>
              </a:rPr>
              <a:t> horizontal displacement is faster in Samoa, while the </a:t>
            </a:r>
            <a:r>
              <a:rPr lang="en-US" sz="1200" dirty="0" err="1">
                <a:solidFill>
                  <a:schemeClr val="dk1"/>
                </a:solidFill>
              </a:rPr>
              <a:t>postseismic</a:t>
            </a:r>
            <a:r>
              <a:rPr lang="en-US" sz="1200" dirty="0">
                <a:solidFill>
                  <a:schemeClr val="dk1"/>
                </a:solidFill>
              </a:rPr>
              <a:t> subsidence rate is considerably larger in American Samoa. The analysis of local tide gauge records and satellite altimeter data also identified that the relative sea level rise becomes faster by 7–9 mm/year in American Samoa than Samoa. A simple viscoelastic model with a Maxwell viscosity of 2–3×1018 Pa s for the asthenosphere explained </a:t>
            </a:r>
            <a:r>
              <a:rPr lang="en-US" sz="1200" dirty="0" err="1">
                <a:solidFill>
                  <a:schemeClr val="dk1"/>
                </a:solidFill>
              </a:rPr>
              <a:t>postseismic</a:t>
            </a:r>
            <a:r>
              <a:rPr lang="en-US" sz="1200" dirty="0">
                <a:solidFill>
                  <a:schemeClr val="dk1"/>
                </a:solidFill>
              </a:rPr>
              <a:t> deformation at nearby GPS sites as well as Gravity Recovery And Climate Experiment gravity change. It is found that the constructive interference of viscoelastic relaxation from both megathrust and normal faulting has intensified the </a:t>
            </a:r>
            <a:r>
              <a:rPr lang="en-US" sz="1200" dirty="0" err="1">
                <a:solidFill>
                  <a:schemeClr val="dk1"/>
                </a:solidFill>
              </a:rPr>
              <a:t>postseismic</a:t>
            </a:r>
            <a:r>
              <a:rPr lang="en-US" sz="1200" dirty="0">
                <a:solidFill>
                  <a:schemeClr val="dk1"/>
                </a:solidFill>
              </a:rPr>
              <a:t> subsidence at American Samoa, causing ~5 times faster sea level rise than the global average. Our model indicates that this trend is likely to continue for decades and result in sea level rise of 30–40 cm, which is independent of and in addition to anticipated climate‐related sea level rise. It will worsen coastal flooding on the islands leading to regular nuisance flooding.</a:t>
            </a:r>
            <a:endParaRPr sz="1200" dirty="0">
              <a:solidFill>
                <a:schemeClr val="dk1"/>
              </a:solidFill>
            </a:endParaRPr>
          </a:p>
          <a:p>
            <a:pPr marL="0" lvl="0" indent="0" algn="l" rtl="0">
              <a:spcBef>
                <a:spcPts val="600"/>
              </a:spcBef>
              <a:spcAft>
                <a:spcPts val="600"/>
              </a:spcAft>
              <a:buClr>
                <a:schemeClr val="dk1"/>
              </a:buClr>
              <a:buSzPts val="1100"/>
              <a:buFont typeface="Arial"/>
              <a:buNone/>
            </a:pPr>
            <a:endParaRPr sz="1200" dirty="0">
              <a:solidFill>
                <a:schemeClr val="dk1"/>
              </a:solidFill>
            </a:endParaRPr>
          </a:p>
        </p:txBody>
      </p:sp>
      <p:sp>
        <p:nvSpPr>
          <p:cNvPr id="298" name="Google Shape;298;g8c85f6f7a6_0_212: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995503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824a699b75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08" name="Google Shape;308;g824a699b75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09" name="Google Shape;309;g824a699b75_0_158: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240056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8d051550c7_2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44" name="Google Shape;544;g8d051550c7_2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600"/>
              </a:spcAft>
              <a:buClr>
                <a:schemeClr val="dk1"/>
              </a:buClr>
              <a:buSzPts val="1100"/>
              <a:buFont typeface="Arial"/>
              <a:buNone/>
            </a:pPr>
            <a:r>
              <a:rPr lang="en-US" sz="1200" dirty="0">
                <a:solidFill>
                  <a:schemeClr val="dk1"/>
                </a:solidFill>
              </a:rPr>
              <a:t>Cyclones</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35 Tropical Cyclones have passed within 100 nm of Tutuila since 1959.</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Climate Change is expected to decrease the number of cyclones in this region, but storms are expected to be stronger.</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Most of these storms passed American Samoa while at Tropical Depression or Storm level.</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Exceptions to this were Renee in 2010 (H3 E of </a:t>
            </a:r>
            <a:r>
              <a:rPr lang="en-US" sz="1200" dirty="0" err="1">
                <a:solidFill>
                  <a:schemeClr val="dk1"/>
                </a:solidFill>
              </a:rPr>
              <a:t>Ta’u</a:t>
            </a:r>
            <a:r>
              <a:rPr lang="en-US" sz="1200" dirty="0">
                <a:solidFill>
                  <a:schemeClr val="dk1"/>
                </a:solidFill>
              </a:rPr>
              <a:t>), </a:t>
            </a:r>
            <a:r>
              <a:rPr lang="en-US" sz="1200" b="1" dirty="0">
                <a:solidFill>
                  <a:schemeClr val="dk1"/>
                </a:solidFill>
              </a:rPr>
              <a:t>Olaf 2005 (Cat 5)</a:t>
            </a:r>
            <a:r>
              <a:rPr lang="en-US" sz="1200" dirty="0">
                <a:solidFill>
                  <a:schemeClr val="dk1"/>
                </a:solidFill>
              </a:rPr>
              <a:t>, Val in 1991 (Cat 2 direct to Tutuila), </a:t>
            </a:r>
            <a:r>
              <a:rPr lang="en-US" sz="1200" dirty="0" err="1">
                <a:solidFill>
                  <a:schemeClr val="dk1"/>
                </a:solidFill>
              </a:rPr>
              <a:t>Tusi</a:t>
            </a:r>
            <a:r>
              <a:rPr lang="en-US" sz="1200" dirty="0">
                <a:solidFill>
                  <a:schemeClr val="dk1"/>
                </a:solidFill>
              </a:rPr>
              <a:t> 1987 ( H2 </a:t>
            </a:r>
            <a:r>
              <a:rPr lang="en-US" sz="1200" dirty="0" err="1">
                <a:solidFill>
                  <a:schemeClr val="dk1"/>
                </a:solidFill>
              </a:rPr>
              <a:t>Ta’u</a:t>
            </a:r>
            <a:r>
              <a:rPr lang="en-US" sz="1200" dirty="0">
                <a:solidFill>
                  <a:schemeClr val="dk1"/>
                </a:solidFill>
              </a:rPr>
              <a:t> </a:t>
            </a:r>
            <a:r>
              <a:rPr lang="en-US" sz="1200" dirty="0" err="1">
                <a:solidFill>
                  <a:schemeClr val="dk1"/>
                </a:solidFill>
              </a:rPr>
              <a:t>Fituta</a:t>
            </a:r>
            <a:r>
              <a:rPr lang="en-US" sz="1200" dirty="0">
                <a:solidFill>
                  <a:schemeClr val="dk1"/>
                </a:solidFill>
              </a:rPr>
              <a:t>),  Unnamed (H1 1959)</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NOAA Digital Coast – Historical Hurricane Tracks</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Search for 100nm from Tutuila</a:t>
            </a:r>
          </a:p>
          <a:p>
            <a:pPr marL="0" lvl="0" indent="0" algn="l" rtl="0">
              <a:spcBef>
                <a:spcPts val="0"/>
              </a:spcBef>
              <a:spcAft>
                <a:spcPts val="600"/>
              </a:spcAft>
              <a:buClr>
                <a:schemeClr val="dk1"/>
              </a:buClr>
              <a:buSzPts val="1100"/>
              <a:buFont typeface="Arial"/>
              <a:buNone/>
            </a:pPr>
            <a:r>
              <a:rPr lang="en-US" sz="1200" dirty="0">
                <a:solidFill>
                  <a:schemeClr val="dk1"/>
                </a:solidFill>
              </a:rPr>
              <a:t>https://bit.ly/3bdex5v</a:t>
            </a:r>
            <a:endParaRPr sz="1200" dirty="0">
              <a:solidFill>
                <a:schemeClr val="dk1"/>
              </a:solidFill>
            </a:endParaRPr>
          </a:p>
        </p:txBody>
      </p:sp>
      <p:sp>
        <p:nvSpPr>
          <p:cNvPr id="545" name="Google Shape;545;g8d051550c7_2_221: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8d051550c7_2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44" name="Google Shape;544;g8d051550c7_2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600"/>
              </a:spcAft>
              <a:buClr>
                <a:schemeClr val="dk1"/>
              </a:buClr>
              <a:buSzPts val="1100"/>
              <a:buFont typeface="Arial"/>
              <a:buNone/>
            </a:pPr>
            <a:r>
              <a:rPr lang="en-US" sz="1200" dirty="0">
                <a:solidFill>
                  <a:schemeClr val="dk1"/>
                </a:solidFill>
              </a:rPr>
              <a:t>Cyclones</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54 Tropical Cyclones have passed within 100 nm of Tutuila since 1959.</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Climate Change is expected to decrease the number of cyclones in this region, but storms are expected to be stronger.</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Most of these storms passed American Samoa while at Tropical Depression or Storm level.</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Exceptions to this were Renee in 2010 (H3 E of </a:t>
            </a:r>
            <a:r>
              <a:rPr lang="en-US" sz="1200" dirty="0" err="1">
                <a:solidFill>
                  <a:schemeClr val="dk1"/>
                </a:solidFill>
              </a:rPr>
              <a:t>Ta’u</a:t>
            </a:r>
            <a:r>
              <a:rPr lang="en-US" sz="1200" dirty="0">
                <a:solidFill>
                  <a:schemeClr val="dk1"/>
                </a:solidFill>
              </a:rPr>
              <a:t>), </a:t>
            </a:r>
            <a:r>
              <a:rPr lang="en-US" sz="1200" b="1" dirty="0">
                <a:solidFill>
                  <a:schemeClr val="dk1"/>
                </a:solidFill>
              </a:rPr>
              <a:t>Olaf &amp; Percy 2005 (Cat 5)</a:t>
            </a:r>
            <a:r>
              <a:rPr lang="en-US" sz="1200" dirty="0">
                <a:solidFill>
                  <a:schemeClr val="dk1"/>
                </a:solidFill>
              </a:rPr>
              <a:t>, Val in 1991 (Cat 2 direct to Tutuila), </a:t>
            </a:r>
            <a:r>
              <a:rPr lang="en-US" sz="1200" dirty="0" err="1">
                <a:solidFill>
                  <a:schemeClr val="dk1"/>
                </a:solidFill>
              </a:rPr>
              <a:t>Tusi</a:t>
            </a:r>
            <a:r>
              <a:rPr lang="en-US" sz="1200" dirty="0">
                <a:solidFill>
                  <a:schemeClr val="dk1"/>
                </a:solidFill>
              </a:rPr>
              <a:t> 1987 ( H2 </a:t>
            </a:r>
            <a:r>
              <a:rPr lang="en-US" sz="1200" dirty="0" err="1">
                <a:solidFill>
                  <a:schemeClr val="dk1"/>
                </a:solidFill>
              </a:rPr>
              <a:t>Ta’u</a:t>
            </a:r>
            <a:r>
              <a:rPr lang="en-US" sz="1200" dirty="0">
                <a:solidFill>
                  <a:schemeClr val="dk1"/>
                </a:solidFill>
              </a:rPr>
              <a:t> </a:t>
            </a:r>
            <a:r>
              <a:rPr lang="en-US" sz="1200" dirty="0" err="1">
                <a:solidFill>
                  <a:schemeClr val="dk1"/>
                </a:solidFill>
              </a:rPr>
              <a:t>Fituta</a:t>
            </a:r>
            <a:r>
              <a:rPr lang="en-US" sz="1200" dirty="0">
                <a:solidFill>
                  <a:schemeClr val="dk1"/>
                </a:solidFill>
              </a:rPr>
              <a:t>),  Unnamed (H1 1959)</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NOAA Digital Coast – Historical Hurricane Tracks</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Search for 200nm from a central point that included Rose and Swains</a:t>
            </a:r>
          </a:p>
          <a:p>
            <a:pPr marL="0" lvl="0" indent="0" algn="l" rtl="0">
              <a:spcBef>
                <a:spcPts val="0"/>
              </a:spcBef>
              <a:spcAft>
                <a:spcPts val="600"/>
              </a:spcAft>
              <a:buClr>
                <a:schemeClr val="dk1"/>
              </a:buClr>
              <a:buSzPts val="1100"/>
              <a:buFont typeface="Arial"/>
              <a:buNone/>
            </a:pPr>
            <a:r>
              <a:rPr lang="en-US" sz="1200" dirty="0">
                <a:solidFill>
                  <a:schemeClr val="dk1"/>
                </a:solidFill>
              </a:rPr>
              <a:t>https://bit.ly/2G9Pntb</a:t>
            </a:r>
            <a:endParaRPr sz="1200" dirty="0">
              <a:solidFill>
                <a:schemeClr val="dk1"/>
              </a:solidFill>
            </a:endParaRPr>
          </a:p>
        </p:txBody>
      </p:sp>
      <p:sp>
        <p:nvSpPr>
          <p:cNvPr id="545" name="Google Shape;545;g8d051550c7_2_221: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78036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824a699b75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08" name="Google Shape;308;g824a699b75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09" name="Google Shape;309;g824a699b75_0_158: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8c85f6f7a6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17" name="Google Shape;317;g8c85f6f7a6_0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rPr>
              <a:t>Rainfall can affect coastal habitats due to shifts in salinity, non-point source pollution, and sedimentation linked to rainfall events.</a:t>
            </a:r>
          </a:p>
          <a:p>
            <a:pPr marL="0" lvl="0" indent="0" algn="l" rtl="0">
              <a:spcBef>
                <a:spcPts val="0"/>
              </a:spcBef>
              <a:spcAft>
                <a:spcPts val="0"/>
              </a:spcAft>
              <a:buNone/>
            </a:pPr>
            <a:endParaRPr lang="en-US" sz="1200" dirty="0">
              <a:solidFill>
                <a:schemeClr val="dk1"/>
              </a:solidFill>
            </a:endParaRPr>
          </a:p>
          <a:p>
            <a:pPr marL="0" lvl="0" indent="0" algn="l" rtl="0">
              <a:spcBef>
                <a:spcPts val="0"/>
              </a:spcBef>
              <a:spcAft>
                <a:spcPts val="0"/>
              </a:spcAft>
              <a:buNone/>
            </a:pPr>
            <a:r>
              <a:rPr lang="en-US" sz="1200" dirty="0">
                <a:solidFill>
                  <a:schemeClr val="dk1"/>
                </a:solidFill>
              </a:rPr>
              <a:t>Slight increasing trend in total precipitation.  May be affected by ENSO, but we weren’t able to locate any analysis of patterns to see if this is linked to more extreme events (which could exacerbate effects) or a general trend.</a:t>
            </a:r>
          </a:p>
          <a:p>
            <a:pPr marL="0" lvl="0" indent="0" algn="l" rtl="0">
              <a:spcBef>
                <a:spcPts val="0"/>
              </a:spcBef>
              <a:spcAft>
                <a:spcPts val="0"/>
              </a:spcAft>
              <a:buNone/>
            </a:pPr>
            <a:endParaRPr lang="en-US"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en-US" sz="1200" dirty="0">
                <a:solidFill>
                  <a:schemeClr val="dk1"/>
                </a:solidFill>
              </a:rPr>
              <a:t>Keener et al 2018: Using global climate model results for the lower scenario (RCP4.5), i</a:t>
            </a:r>
            <a:r>
              <a:rPr lang="en-US" sz="1200" dirty="0"/>
              <a:t>n American Samoa, rainfall is projected to increase by up to 10% by mid-century compared with the present, with additional slight increases by the end of the century. In American Samoa, drought magnitude and duration have minimal decreasing trends.</a:t>
            </a:r>
            <a:endParaRPr sz="1200" dirty="0"/>
          </a:p>
          <a:p>
            <a:pPr marL="0" lvl="0" indent="0" algn="l" rtl="0">
              <a:spcBef>
                <a:spcPts val="0"/>
              </a:spcBef>
              <a:spcAft>
                <a:spcPts val="0"/>
              </a:spcAft>
              <a:buNone/>
            </a:pPr>
            <a:r>
              <a:rPr lang="en-US" sz="1200" dirty="0"/>
              <a:t>Extreme heavy rainfall events causes increased runoff, erosion, and flooding.</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US" sz="1200" dirty="0"/>
              <a:t>Keener, V., D. </a:t>
            </a:r>
            <a:r>
              <a:rPr lang="en-US" sz="1200" dirty="0" err="1"/>
              <a:t>Helweg</a:t>
            </a:r>
            <a:r>
              <a:rPr lang="en-US" sz="1200" dirty="0"/>
              <a:t>, S. </a:t>
            </a:r>
            <a:r>
              <a:rPr lang="en-US" sz="1200" dirty="0" err="1"/>
              <a:t>Asam</a:t>
            </a:r>
            <a:r>
              <a:rPr lang="en-US" sz="1200" dirty="0"/>
              <a:t>, S. </a:t>
            </a:r>
            <a:r>
              <a:rPr lang="en-US" sz="1200" dirty="0" err="1"/>
              <a:t>Balwani</a:t>
            </a:r>
            <a:r>
              <a:rPr lang="en-US" sz="1200" dirty="0"/>
              <a:t>, M. Burkett, C. Fletcher, T. </a:t>
            </a:r>
            <a:r>
              <a:rPr lang="en-US" sz="1200" dirty="0" err="1"/>
              <a:t>Giambelluca</a:t>
            </a:r>
            <a:r>
              <a:rPr lang="en-US" sz="1200" dirty="0"/>
              <a:t>, Z. </a:t>
            </a:r>
            <a:r>
              <a:rPr lang="en-US" sz="1200" dirty="0" err="1"/>
              <a:t>Grecni</a:t>
            </a:r>
            <a:r>
              <a:rPr lang="en-US" sz="1200" dirty="0"/>
              <a:t>, M. </a:t>
            </a:r>
            <a:r>
              <a:rPr lang="en-US" sz="1200" dirty="0" err="1"/>
              <a:t>Nobrega</a:t>
            </a:r>
            <a:r>
              <a:rPr lang="en-US" sz="1200" dirty="0"/>
              <a:t>-</a:t>
            </a:r>
            <a:endParaRPr sz="1200" dirty="0"/>
          </a:p>
          <a:p>
            <a:pPr marL="0" lvl="0" indent="0" algn="l" rtl="0">
              <a:spcBef>
                <a:spcPts val="0"/>
              </a:spcBef>
              <a:spcAft>
                <a:spcPts val="0"/>
              </a:spcAft>
              <a:buNone/>
            </a:pPr>
            <a:r>
              <a:rPr lang="en-US" sz="1200" dirty="0"/>
              <a:t>Olivera, J. </a:t>
            </a:r>
            <a:r>
              <a:rPr lang="en-US" sz="1200" dirty="0" err="1"/>
              <a:t>Polovina</a:t>
            </a:r>
            <a:r>
              <a:rPr lang="en-US" sz="1200" dirty="0"/>
              <a:t>, and G. Tribble, 2018: Hawai‘i and U.S.-Affiliated Pacific Islands. In Impacts, Risks, and Adaptation in the United States: Fourth National Climate Assessment, Volume II [</a:t>
            </a:r>
            <a:r>
              <a:rPr lang="en-US" sz="1200" dirty="0" err="1"/>
              <a:t>Reidmiller</a:t>
            </a:r>
            <a:r>
              <a:rPr lang="en-US" sz="1200" dirty="0"/>
              <a:t>, D.R., C.W. Avery, D.R. Easterling, K.E. Kunkel, K.L.M. Lewis, T.K. </a:t>
            </a:r>
            <a:r>
              <a:rPr lang="en-US" sz="1200" dirty="0" err="1"/>
              <a:t>Maycock</a:t>
            </a:r>
            <a:r>
              <a:rPr lang="en-US" sz="1200" dirty="0"/>
              <a:t>, and B.C. Stewart (eds.)]. U.S. Global Change Research Program, Washington, DC, USA, pp. 1242–1308. </a:t>
            </a:r>
            <a:r>
              <a:rPr lang="en-US" sz="1200" dirty="0" err="1"/>
              <a:t>doi</a:t>
            </a:r>
            <a:r>
              <a:rPr lang="en-US" sz="1200" dirty="0"/>
              <a:t>: 10.7930/NCA4.2018.CH27</a:t>
            </a:r>
            <a:endParaRPr sz="1200" dirty="0"/>
          </a:p>
          <a:p>
            <a:pPr marL="0" lvl="0" indent="0" algn="l" rtl="0">
              <a:spcBef>
                <a:spcPts val="0"/>
              </a:spcBef>
              <a:spcAft>
                <a:spcPts val="0"/>
              </a:spcAft>
              <a:buNone/>
            </a:pPr>
            <a:endParaRPr sz="1200" dirty="0"/>
          </a:p>
        </p:txBody>
      </p:sp>
      <p:sp>
        <p:nvSpPr>
          <p:cNvPr id="318" name="Google Shape;318;g8c85f6f7a6_0_169: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8d051550c7_2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44" name="Google Shape;544;g8d051550c7_2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600"/>
              </a:spcAft>
              <a:buClr>
                <a:schemeClr val="dk1"/>
              </a:buClr>
              <a:buSzPts val="1100"/>
              <a:buFont typeface="Arial"/>
              <a:buNone/>
            </a:pPr>
            <a:r>
              <a:rPr lang="en-US" sz="1200" dirty="0">
                <a:solidFill>
                  <a:schemeClr val="dk1"/>
                </a:solidFill>
              </a:rPr>
              <a:t>Charted the precipitation data with storms, but there doesn’t seem to be a clear trend.  This may be due to the distance of some storms from WSO Pago Pago measuring devices.</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NOAA Digital Coast – Historical Hurricane Tracks</a:t>
            </a:r>
          </a:p>
          <a:p>
            <a:pPr marL="0" lvl="0" indent="0" algn="l" rtl="0">
              <a:spcBef>
                <a:spcPts val="0"/>
              </a:spcBef>
              <a:spcAft>
                <a:spcPts val="600"/>
              </a:spcAft>
              <a:buClr>
                <a:schemeClr val="dk1"/>
              </a:buClr>
              <a:buSzPts val="1100"/>
              <a:buFont typeface="Arial"/>
              <a:buNone/>
            </a:pPr>
            <a:endParaRPr lang="en-US" sz="1200" dirty="0">
              <a:solidFill>
                <a:schemeClr val="dk1"/>
              </a:solidFill>
            </a:endParaRPr>
          </a:p>
          <a:p>
            <a:pPr marL="0" lvl="0" indent="0" algn="l" rtl="0">
              <a:spcBef>
                <a:spcPts val="0"/>
              </a:spcBef>
              <a:spcAft>
                <a:spcPts val="600"/>
              </a:spcAft>
              <a:buClr>
                <a:schemeClr val="dk1"/>
              </a:buClr>
              <a:buSzPts val="1100"/>
              <a:buFont typeface="Arial"/>
              <a:buNone/>
            </a:pPr>
            <a:r>
              <a:rPr lang="en-US" sz="1200" dirty="0">
                <a:solidFill>
                  <a:schemeClr val="dk1"/>
                </a:solidFill>
              </a:rPr>
              <a:t>Search for 100nm from Tutuila</a:t>
            </a:r>
          </a:p>
          <a:p>
            <a:pPr marL="0" lvl="0" indent="0" algn="l" rtl="0">
              <a:spcBef>
                <a:spcPts val="0"/>
              </a:spcBef>
              <a:spcAft>
                <a:spcPts val="600"/>
              </a:spcAft>
              <a:buClr>
                <a:schemeClr val="dk1"/>
              </a:buClr>
              <a:buSzPts val="1100"/>
              <a:buFont typeface="Arial"/>
              <a:buNone/>
            </a:pPr>
            <a:r>
              <a:rPr lang="en-US" sz="1200" dirty="0">
                <a:solidFill>
                  <a:schemeClr val="dk1"/>
                </a:solidFill>
              </a:rPr>
              <a:t>https://bit.ly/2G9Pntb</a:t>
            </a:r>
          </a:p>
        </p:txBody>
      </p:sp>
      <p:sp>
        <p:nvSpPr>
          <p:cNvPr id="545" name="Google Shape;545;g8d051550c7_2_221: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759426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824a699b75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27" name="Google Shape;327;g824a699b75_0_2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28" name="Google Shape;328;g824a699b75_0_210: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8c85f6f7a6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36" name="Google Shape;336;g8c85f6f7a6_0_2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The SEC is expected to weaken with warming conditions (Luo and Rothstein 2011). However, there does not seem to be any targeted assessment of this indicator.</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Currents generally move westward via the SEC from Rose towards Tutuila and on to Upolu and Savaii, however, the SECC can entrain larvae from Samoa in October / November and bring it towards American Samoa.  This may be important for species with longer Pelagic Larval Durations.</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Swains and Rose are quite distant from larval sources and may be particularly vulnerable to changes in current strength.</a:t>
            </a:r>
          </a:p>
          <a:p>
            <a:pPr marL="0" lvl="0" indent="0" algn="l" rtl="0">
              <a:spcBef>
                <a:spcPts val="0"/>
              </a:spcBef>
              <a:spcAft>
                <a:spcPts val="0"/>
              </a:spcAft>
              <a:buNone/>
            </a:pPr>
            <a:endParaRPr lang="en-US" sz="1200" dirty="0"/>
          </a:p>
        </p:txBody>
      </p:sp>
      <p:sp>
        <p:nvSpPr>
          <p:cNvPr id="337" name="Google Shape;337;g8c85f6f7a6_0_23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c85f6f7a6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58" name="Google Shape;358;g8c85f6f7a6_0_2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The importance of these currents becomes more obvious when we look at modeled larval dispersion from the Biogeographic Assessment released in 2011 by NCCOS.  As an example,  here you can see virtual larvae from the </a:t>
            </a:r>
            <a:r>
              <a:rPr lang="en-US" sz="1200" dirty="0" err="1"/>
              <a:t>Manu’a</a:t>
            </a:r>
            <a:r>
              <a:rPr lang="en-US" sz="1200" dirty="0"/>
              <a:t> islands.</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20% of larvae with a short PLD may be retained in </a:t>
            </a:r>
            <a:r>
              <a:rPr lang="en-US" sz="1200" dirty="0" err="1"/>
              <a:t>Manua</a:t>
            </a:r>
            <a:r>
              <a:rPr lang="en-US" sz="1200" dirty="0"/>
              <a:t>, but less for longer larval durations.   Larvae with longer PLD likely spread to Tutuila, seamounts, and as far west as Wallis depending on the PLD and mortality.</a:t>
            </a:r>
          </a:p>
          <a:p>
            <a:pPr marL="0" lvl="0" indent="0" algn="l" rtl="0">
              <a:spcBef>
                <a:spcPts val="0"/>
              </a:spcBef>
              <a:spcAft>
                <a:spcPts val="0"/>
              </a:spcAft>
              <a:buNone/>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dirty="0"/>
              <a:t>The </a:t>
            </a:r>
            <a:r>
              <a:rPr lang="en-US" sz="1200" dirty="0" err="1"/>
              <a:t>Manu’a</a:t>
            </a:r>
            <a:r>
              <a:rPr lang="en-US" sz="1200" dirty="0"/>
              <a:t> Islands themselves are reliant on outside larval sources for a wide range, 0-90%, of their arriving larvae depending on PLD and daily mortality rate.  These likely come from Tutuila and Samoa via the SECC.</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dirty="0"/>
              <a:t>Slowing currents may affect these transport patterns.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2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dirty="0"/>
              <a:t>Nearly all larvae with a 100 day PLD are from outside sources whereas a high proportion of self seeding occurs for larvae in the 10-30 day PLD range. For longer PLDs, sources include Tutuila and Samoa with larvae entrained in the eastward flowing SECC and then fed back south along the Samoan Archipelago including </a:t>
            </a:r>
            <a:r>
              <a:rPr lang="en-US" sz="1200" dirty="0" err="1"/>
              <a:t>Manu’a</a:t>
            </a:r>
            <a:r>
              <a:rPr lang="en-US" sz="1200" dirty="0"/>
              <a:t> in the 50-100 day range. Small but measurable contributions to the larvae arriving at </a:t>
            </a:r>
            <a:r>
              <a:rPr lang="en-US" sz="1200" dirty="0" err="1"/>
              <a:t>Manu’a</a:t>
            </a:r>
            <a:r>
              <a:rPr lang="en-US" sz="1200" dirty="0"/>
              <a:t> in the low to moderate mortality rate scenarios are from Tokelau to the north and </a:t>
            </a:r>
            <a:r>
              <a:rPr lang="en-US" sz="1200" dirty="0" err="1"/>
              <a:t>Pukapuka</a:t>
            </a:r>
            <a:r>
              <a:rPr lang="en-US" sz="1200" dirty="0"/>
              <a:t> and Nassau, and </a:t>
            </a:r>
            <a:r>
              <a:rPr lang="en-US" sz="1200" dirty="0" err="1"/>
              <a:t>Suwarrow</a:t>
            </a:r>
            <a:r>
              <a:rPr lang="en-US" sz="1200" dirty="0"/>
              <a:t> to the east.</a:t>
            </a:r>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You’ll notice that </a:t>
            </a:r>
          </a:p>
          <a:p>
            <a:pPr marL="0" lvl="0" indent="0" algn="l" rtl="0">
              <a:spcBef>
                <a:spcPts val="0"/>
              </a:spcBef>
              <a:spcAft>
                <a:spcPts val="0"/>
              </a:spcAft>
              <a:buNone/>
            </a:pPr>
            <a:r>
              <a:rPr lang="en-US" sz="1200" dirty="0"/>
              <a:t>The </a:t>
            </a:r>
            <a:r>
              <a:rPr lang="en-US" sz="1200" dirty="0" err="1"/>
              <a:t>Manu’a</a:t>
            </a:r>
            <a:r>
              <a:rPr lang="en-US" sz="1200" dirty="0"/>
              <a:t> Islands of </a:t>
            </a:r>
            <a:r>
              <a:rPr lang="en-US" sz="1200" dirty="0" err="1"/>
              <a:t>Ta’u</a:t>
            </a:r>
            <a:r>
              <a:rPr lang="en-US" sz="1200" dirty="0"/>
              <a:t>, </a:t>
            </a:r>
            <a:r>
              <a:rPr lang="en-US" sz="1200" dirty="0" err="1"/>
              <a:t>Ofu</a:t>
            </a:r>
            <a:r>
              <a:rPr lang="en-US" sz="1200" dirty="0"/>
              <a:t>, and </a:t>
            </a:r>
            <a:r>
              <a:rPr lang="en-US" sz="1200" dirty="0" err="1"/>
              <a:t>Olosega</a:t>
            </a:r>
            <a:r>
              <a:rPr lang="en-US" sz="1200" dirty="0"/>
              <a:t> represent the last moderately sized source of larvae in the Samoan Archipelago. Larvae from </a:t>
            </a:r>
            <a:r>
              <a:rPr lang="en-US" sz="1200" dirty="0" err="1"/>
              <a:t>Manu’a</a:t>
            </a:r>
            <a:r>
              <a:rPr lang="en-US" sz="1200" dirty="0"/>
              <a:t> split into two groups, one along the northern side of the Samoan Archipelago and another that is cast southwestward into the region of the Tonga Trench Eddy. Many in the northern trajectory are entrained in the SEC and transported well south of Swains where they mostly expire in the open ocean between the Samoan Archipelago and the Cook Islands. Over 20% of the larvae spawned at </a:t>
            </a:r>
            <a:r>
              <a:rPr lang="en-US" sz="1200" dirty="0" err="1"/>
              <a:t>Manu’a</a:t>
            </a:r>
            <a:r>
              <a:rPr lang="en-US" sz="1200" dirty="0"/>
              <a:t> are retained there for the 10 day PLD and low mortality scenario. Much smaller fractions of local production are retained locally for longer PLDs and higher mortality scenarios. Larvae settle along the archipelago on the seamounts, Tutuila, and the islands of Samoa in similar proportions. Larvae are then spread farther westward reaching Wallis and nearby islands and seamounts in the 50-100 day range in the low to moderate mortality scenarios.</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US" sz="1200" dirty="0"/>
              <a:t>Sources</a:t>
            </a:r>
            <a:endParaRPr sz="1200" dirty="0"/>
          </a:p>
          <a:p>
            <a:pPr marL="0" lvl="0" indent="0" algn="l" rtl="0">
              <a:spcBef>
                <a:spcPts val="0"/>
              </a:spcBef>
              <a:spcAft>
                <a:spcPts val="0"/>
              </a:spcAft>
              <a:buNone/>
            </a:pPr>
            <a:r>
              <a:rPr lang="en-US" sz="1200" dirty="0"/>
              <a:t>The </a:t>
            </a:r>
            <a:r>
              <a:rPr lang="en-US" sz="1200" dirty="0" err="1"/>
              <a:t>Manu’a</a:t>
            </a:r>
            <a:r>
              <a:rPr lang="en-US" sz="1200" dirty="0"/>
              <a:t> Islands are reliant on outside larval sources for a wide range, 0-90%, of their arriving larvae depending on PLD and daily mortality rate. Nearly all larvae with a 100 day PLD are from outside sources whereas a high proportion of self seeding occurs for larvae in the 10-30 day PLD range. For longer PLDs, sources include Tutuila and Samoa with larvae entrained in the eastward flowing SECC and then fed back south along the Samoan Archipelago including </a:t>
            </a:r>
            <a:r>
              <a:rPr lang="en-US" sz="1200" dirty="0" err="1"/>
              <a:t>Manu’a</a:t>
            </a:r>
            <a:r>
              <a:rPr lang="en-US" sz="1200" dirty="0"/>
              <a:t> in the 50-100 day range. Small but measurable contributions to the larvae arriving at </a:t>
            </a:r>
            <a:r>
              <a:rPr lang="en-US" sz="1200" dirty="0" err="1"/>
              <a:t>Manu’a</a:t>
            </a:r>
            <a:r>
              <a:rPr lang="en-US" sz="1200" dirty="0"/>
              <a:t> in the low to moderate mortality rate scenarios are from Tokelau to the north and </a:t>
            </a:r>
            <a:r>
              <a:rPr lang="en-US" sz="1200" dirty="0" err="1"/>
              <a:t>Pukapuka</a:t>
            </a:r>
            <a:r>
              <a:rPr lang="en-US" sz="1200" dirty="0"/>
              <a:t> and Nassau, and </a:t>
            </a:r>
            <a:r>
              <a:rPr lang="en-US" sz="1200" dirty="0" err="1"/>
              <a:t>Suwarrow</a:t>
            </a:r>
            <a:r>
              <a:rPr lang="en-US" sz="1200" dirty="0"/>
              <a:t> to the east.</a:t>
            </a:r>
            <a:endParaRPr sz="1200" dirty="0"/>
          </a:p>
          <a:p>
            <a:pPr marL="0" lvl="0" indent="0" algn="l" rtl="0">
              <a:spcBef>
                <a:spcPts val="0"/>
              </a:spcBef>
              <a:spcAft>
                <a:spcPts val="0"/>
              </a:spcAft>
              <a:buClr>
                <a:schemeClr val="dk1"/>
              </a:buClr>
              <a:buSzPts val="1100"/>
              <a:buFont typeface="Arial"/>
              <a:buNone/>
            </a:pPr>
            <a:endParaRPr sz="1200" dirty="0"/>
          </a:p>
          <a:p>
            <a:pPr marL="0" lvl="0" indent="0" algn="l" rtl="0">
              <a:spcBef>
                <a:spcPts val="0"/>
              </a:spcBef>
              <a:spcAft>
                <a:spcPts val="0"/>
              </a:spcAft>
              <a:buNone/>
            </a:pPr>
            <a:endParaRPr sz="1200" dirty="0"/>
          </a:p>
        </p:txBody>
      </p:sp>
      <p:sp>
        <p:nvSpPr>
          <p:cNvPr id="359" name="Google Shape;359;g8c85f6f7a6_0_256: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824a699b75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27" name="Google Shape;327;g824a699b75_0_2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Figure – NASA in FBNMS climate report</a:t>
            </a:r>
            <a:endParaRPr sz="1200" dirty="0"/>
          </a:p>
        </p:txBody>
      </p:sp>
      <p:sp>
        <p:nvSpPr>
          <p:cNvPr id="328" name="Google Shape;328;g824a699b75_0_210: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425403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8da14274d1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89" name="Google Shape;189;g8da14274d1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rPr>
              <a:t>Recent expeditions have suggested that biological communities appear to be structured by depth.  Temperature may be particularly important in the 250-750m zone.</a:t>
            </a:r>
          </a:p>
          <a:p>
            <a:pPr marL="0" lvl="0" indent="0" algn="l" rtl="0">
              <a:spcBef>
                <a:spcPts val="0"/>
              </a:spcBef>
              <a:spcAft>
                <a:spcPts val="0"/>
              </a:spcAft>
              <a:buNone/>
            </a:pPr>
            <a:endParaRPr sz="1200" dirty="0">
              <a:solidFill>
                <a:schemeClr val="dk1"/>
              </a:solidFill>
            </a:endParaRPr>
          </a:p>
          <a:p>
            <a:pPr marL="0" lvl="0" indent="0" algn="l" rtl="0">
              <a:spcBef>
                <a:spcPts val="600"/>
              </a:spcBef>
              <a:spcAft>
                <a:spcPts val="0"/>
              </a:spcAft>
              <a:buNone/>
            </a:pPr>
            <a:r>
              <a:rPr lang="en-US" sz="1200" dirty="0">
                <a:solidFill>
                  <a:schemeClr val="dk1"/>
                </a:solidFill>
              </a:rPr>
              <a:t>Further analyses are required to test the significance of the observed general patterns of depth structuring and to assess the potential impacts of climate change.</a:t>
            </a:r>
          </a:p>
          <a:p>
            <a:pPr marL="0" lvl="0" indent="0" algn="l" rtl="0">
              <a:spcBef>
                <a:spcPts val="600"/>
              </a:spcBef>
              <a:spcAft>
                <a:spcPts val="0"/>
              </a:spcAft>
              <a:buNone/>
            </a:pPr>
            <a:endParaRPr lang="en-US" sz="1200" dirty="0">
              <a:solidFill>
                <a:schemeClr val="dk1"/>
              </a:solidFill>
            </a:endParaRPr>
          </a:p>
          <a:p>
            <a:pPr marL="0" lvl="0" indent="0" algn="l" rtl="0">
              <a:spcBef>
                <a:spcPts val="600"/>
              </a:spcBef>
              <a:spcAft>
                <a:spcPts val="0"/>
              </a:spcAft>
              <a:buNone/>
            </a:pPr>
            <a:r>
              <a:rPr lang="en-US" sz="1200" dirty="0">
                <a:solidFill>
                  <a:schemeClr val="dk1"/>
                </a:solidFill>
              </a:rPr>
              <a:t>Important to note that habitat structuring organisms are slow growing, and in some places no recent recruitment was observed.  Not clear if this is an emerging impact of changing conditions or just the normal pattern in deep sea succession.</a:t>
            </a:r>
          </a:p>
          <a:p>
            <a:pPr marL="0" lvl="0" indent="0" algn="l" rtl="0">
              <a:spcBef>
                <a:spcPts val="600"/>
              </a:spcBef>
              <a:spcAft>
                <a:spcPts val="0"/>
              </a:spcAft>
              <a:buNone/>
            </a:pPr>
            <a:endParaRPr lang="en-US" sz="1200" dirty="0">
              <a:solidFill>
                <a:schemeClr val="dk1"/>
              </a:solidFill>
            </a:endParaRPr>
          </a:p>
          <a:p>
            <a:pPr marL="0" lvl="0" indent="0" algn="l" rtl="0">
              <a:spcBef>
                <a:spcPts val="600"/>
              </a:spcBef>
              <a:spcAft>
                <a:spcPts val="0"/>
              </a:spcAft>
              <a:buNone/>
            </a:pPr>
            <a:r>
              <a:rPr lang="en-US" sz="1200" dirty="0">
                <a:solidFill>
                  <a:schemeClr val="dk1"/>
                </a:solidFill>
              </a:rPr>
              <a:t>Temperature, salinity, and DO were collected, but have not been analyzed for trends at this time.</a:t>
            </a:r>
            <a:endParaRPr sz="1200" dirty="0">
              <a:solidFill>
                <a:schemeClr val="dk1"/>
              </a:solidFill>
            </a:endParaRPr>
          </a:p>
        </p:txBody>
      </p:sp>
      <p:sp>
        <p:nvSpPr>
          <p:cNvPr id="190" name="Google Shape;190;g8da14274d1_0_67: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824a699b75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2" name="Google Shape;102;g824a699b75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800" b="0" i="0" u="none" strike="noStrike" cap="none"/>
          </a:p>
        </p:txBody>
      </p:sp>
      <p:sp>
        <p:nvSpPr>
          <p:cNvPr id="103" name="Google Shape;103;g824a699b75_0_62: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strike="noStrike" cap="none">
                <a:solidFill>
                  <a:srgbClr val="000000"/>
                </a:solidFill>
                <a:latin typeface="Calibri"/>
                <a:ea typeface="Calibri"/>
                <a:cs typeface="Calibri"/>
                <a:sym typeface="Calibri"/>
              </a:rPr>
              <a:t>34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9728953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824a699b75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g824a699b75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85750" marR="0" lvl="0" indent="0" algn="l" rtl="0">
              <a:lnSpc>
                <a:spcPct val="100000"/>
              </a:lnSpc>
              <a:spcBef>
                <a:spcPts val="0"/>
              </a:spcBef>
              <a:spcAft>
                <a:spcPts val="0"/>
              </a:spcAft>
              <a:buSzPts val="1400"/>
              <a:buNone/>
            </a:pPr>
            <a:r>
              <a:rPr lang="en-US" dirty="0"/>
              <a:t>Likely Good / Fair   or Fair  when considering the full range of habitats</a:t>
            </a:r>
            <a:endParaRPr dirty="0"/>
          </a:p>
        </p:txBody>
      </p:sp>
      <p:sp>
        <p:nvSpPr>
          <p:cNvPr id="371" name="Google Shape;371;g824a699b75_0_70: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90c137ff13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g90c137ff13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85750" marR="0" lvl="0" indent="0" algn="l" rtl="0">
              <a:lnSpc>
                <a:spcPct val="100000"/>
              </a:lnSpc>
              <a:spcBef>
                <a:spcPts val="0"/>
              </a:spcBef>
              <a:spcAft>
                <a:spcPts val="0"/>
              </a:spcAft>
              <a:buSzPts val="1400"/>
              <a:buNone/>
            </a:pPr>
            <a:endParaRPr/>
          </a:p>
        </p:txBody>
      </p:sp>
      <p:sp>
        <p:nvSpPr>
          <p:cNvPr id="378" name="Google Shape;378;g90c137ff13_0_17: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8c02618498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5" name="Google Shape;185;g8c02618498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dirty="0">
                <a:latin typeface="Calibri"/>
                <a:ea typeface="Calibri"/>
                <a:cs typeface="Calibri"/>
                <a:sym typeface="Calibri"/>
              </a:rPr>
              <a:t>Use this slide to summarize the confidence scoring of workshop experts for each question. If experts differ in their opinions on amount of evidence or agreement on the rating, you may want to capture  the number of experts who voted for different categories.</a:t>
            </a:r>
            <a:endParaRPr dirty="0"/>
          </a:p>
        </p:txBody>
      </p:sp>
      <p:sp>
        <p:nvSpPr>
          <p:cNvPr id="186" name="Google Shape;186;g8c02618498_0_75:notes"/>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37</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4"/>
        <p:cNvGrpSpPr/>
        <p:nvPr/>
      </p:nvGrpSpPr>
      <p:grpSpPr>
        <a:xfrm>
          <a:off x="0" y="0"/>
          <a:ext cx="0" cy="0"/>
          <a:chOff x="0" y="0"/>
          <a:chExt cx="0" cy="0"/>
        </a:xfrm>
      </p:grpSpPr>
      <p:sp>
        <p:nvSpPr>
          <p:cNvPr id="85" name="Google Shape;85;g824a699b75_0_103"/>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9pPr>
          </a:lstStyle>
          <a:p>
            <a:endParaRPr/>
          </a:p>
        </p:txBody>
      </p:sp>
      <p:sp>
        <p:nvSpPr>
          <p:cNvPr id="86" name="Google Shape;86;g824a699b75_0_103"/>
          <p:cNvSpPr txBox="1">
            <a:spLocks noGrp="1"/>
          </p:cNvSpPr>
          <p:nvPr>
            <p:ph type="body" idx="1"/>
          </p:nvPr>
        </p:nvSpPr>
        <p:spPr>
          <a:xfrm>
            <a:off x="609600" y="1828800"/>
            <a:ext cx="10972800" cy="47244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7"/>
        <p:cNvGrpSpPr/>
        <p:nvPr/>
      </p:nvGrpSpPr>
      <p:grpSpPr>
        <a:xfrm>
          <a:off x="0" y="0"/>
          <a:ext cx="0" cy="0"/>
          <a:chOff x="0" y="0"/>
          <a:chExt cx="0" cy="0"/>
        </a:xfrm>
      </p:grpSpPr>
      <p:sp>
        <p:nvSpPr>
          <p:cNvPr id="88" name="Google Shape;88;g824a699b75_0_106"/>
          <p:cNvSpPr txBox="1">
            <a:spLocks noGrp="1"/>
          </p:cNvSpPr>
          <p:nvPr>
            <p:ph type="ctrTitle"/>
          </p:nvPr>
        </p:nvSpPr>
        <p:spPr>
          <a:xfrm>
            <a:off x="1524000" y="1122363"/>
            <a:ext cx="9144000" cy="2387700"/>
          </a:xfrm>
          <a:prstGeom prst="rect">
            <a:avLst/>
          </a:prstGeom>
          <a:noFill/>
          <a:ln>
            <a:noFill/>
          </a:ln>
        </p:spPr>
        <p:txBody>
          <a:bodyPr spcFirstLastPara="1" wrap="square" lIns="121900" tIns="60925" rIns="121900" bIns="60925" anchor="b" anchorCtr="0">
            <a:noAutofit/>
          </a:bodyPr>
          <a:lstStyle>
            <a:lvl1pPr marR="0" lvl="0" algn="ctr" rtl="0">
              <a:lnSpc>
                <a:spcPct val="90000"/>
              </a:lnSpc>
              <a:spcBef>
                <a:spcPts val="0"/>
              </a:spcBef>
              <a:spcAft>
                <a:spcPts val="0"/>
              </a:spcAft>
              <a:buSzPts val="1900"/>
              <a:buNone/>
              <a:defRPr sz="60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9pPr>
          </a:lstStyle>
          <a:p>
            <a:endParaRPr/>
          </a:p>
        </p:txBody>
      </p:sp>
      <p:sp>
        <p:nvSpPr>
          <p:cNvPr id="89" name="Google Shape;89;g824a699b75_0_106"/>
          <p:cNvSpPr txBox="1">
            <a:spLocks noGrp="1"/>
          </p:cNvSpPr>
          <p:nvPr>
            <p:ph type="subTitle" idx="1"/>
          </p:nvPr>
        </p:nvSpPr>
        <p:spPr>
          <a:xfrm>
            <a:off x="1524000" y="3602037"/>
            <a:ext cx="9144000" cy="1655700"/>
          </a:xfrm>
          <a:prstGeom prst="rect">
            <a:avLst/>
          </a:prstGeom>
          <a:noFill/>
          <a:ln>
            <a:noFill/>
          </a:ln>
        </p:spPr>
        <p:txBody>
          <a:bodyPr spcFirstLastPara="1" wrap="square" lIns="121900" tIns="60925" rIns="121900" bIns="609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90" name="Google Shape;90;g824a699b75_0_106"/>
          <p:cNvSpPr txBox="1">
            <a:spLocks noGrp="1"/>
          </p:cNvSpPr>
          <p:nvPr>
            <p:ph type="dt" idx="10"/>
          </p:nvPr>
        </p:nvSpPr>
        <p:spPr>
          <a:xfrm>
            <a:off x="838200" y="6356349"/>
            <a:ext cx="27432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1" name="Google Shape;91;g824a699b75_0_106"/>
          <p:cNvSpPr txBox="1">
            <a:spLocks noGrp="1"/>
          </p:cNvSpPr>
          <p:nvPr>
            <p:ph type="ftr" idx="11"/>
          </p:nvPr>
        </p:nvSpPr>
        <p:spPr>
          <a:xfrm>
            <a:off x="4038600" y="6356349"/>
            <a:ext cx="41148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2" name="Google Shape;92;g824a699b75_0_106"/>
          <p:cNvSpPr txBox="1">
            <a:spLocks noGrp="1"/>
          </p:cNvSpPr>
          <p:nvPr>
            <p:ph type="sldNum" idx="12"/>
          </p:nvPr>
        </p:nvSpPr>
        <p:spPr>
          <a:xfrm>
            <a:off x="8610600" y="6356349"/>
            <a:ext cx="2743200" cy="366000"/>
          </a:xfrm>
          <a:prstGeom prst="rect">
            <a:avLst/>
          </a:prstGeom>
          <a:noFill/>
          <a:ln>
            <a:noFill/>
          </a:ln>
        </p:spPr>
        <p:txBody>
          <a:bodyPr spcFirstLastPara="1" wrap="square" lIns="121900" tIns="60925" rIns="121900" bIns="60925"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4"/>
        <p:cNvGrpSpPr/>
        <p:nvPr/>
      </p:nvGrpSpPr>
      <p:grpSpPr>
        <a:xfrm>
          <a:off x="0" y="0"/>
          <a:ext cx="0" cy="0"/>
          <a:chOff x="0" y="0"/>
          <a:chExt cx="0" cy="0"/>
        </a:xfrm>
      </p:grpSpPr>
      <p:sp>
        <p:nvSpPr>
          <p:cNvPr id="85" name="Google Shape;85;g8c02e40ff2_0_101"/>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9pPr>
          </a:lstStyle>
          <a:p>
            <a:endParaRPr/>
          </a:p>
        </p:txBody>
      </p:sp>
      <p:sp>
        <p:nvSpPr>
          <p:cNvPr id="86" name="Google Shape;86;g8c02e40ff2_0_101"/>
          <p:cNvSpPr txBox="1">
            <a:spLocks noGrp="1"/>
          </p:cNvSpPr>
          <p:nvPr>
            <p:ph type="body" idx="1"/>
          </p:nvPr>
        </p:nvSpPr>
        <p:spPr>
          <a:xfrm>
            <a:off x="609600" y="1828800"/>
            <a:ext cx="10972800" cy="47244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7773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7"/>
        <p:cNvGrpSpPr/>
        <p:nvPr/>
      </p:nvGrpSpPr>
      <p:grpSpPr>
        <a:xfrm>
          <a:off x="0" y="0"/>
          <a:ext cx="0" cy="0"/>
          <a:chOff x="0" y="0"/>
          <a:chExt cx="0" cy="0"/>
        </a:xfrm>
      </p:grpSpPr>
      <p:sp>
        <p:nvSpPr>
          <p:cNvPr id="88" name="Google Shape;88;g8c02e40ff2_0_104"/>
          <p:cNvSpPr txBox="1">
            <a:spLocks noGrp="1"/>
          </p:cNvSpPr>
          <p:nvPr>
            <p:ph type="ctrTitle"/>
          </p:nvPr>
        </p:nvSpPr>
        <p:spPr>
          <a:xfrm>
            <a:off x="1524000" y="1122363"/>
            <a:ext cx="9144000" cy="2387700"/>
          </a:xfrm>
          <a:prstGeom prst="rect">
            <a:avLst/>
          </a:prstGeom>
          <a:noFill/>
          <a:ln>
            <a:noFill/>
          </a:ln>
        </p:spPr>
        <p:txBody>
          <a:bodyPr spcFirstLastPara="1" wrap="square" lIns="121900" tIns="60925" rIns="121900" bIns="60925" anchor="b" anchorCtr="0">
            <a:noAutofit/>
          </a:bodyPr>
          <a:lstStyle>
            <a:lvl1pPr marR="0" lvl="0" algn="ctr" rtl="0">
              <a:lnSpc>
                <a:spcPct val="90000"/>
              </a:lnSpc>
              <a:spcBef>
                <a:spcPts val="0"/>
              </a:spcBef>
              <a:spcAft>
                <a:spcPts val="0"/>
              </a:spcAft>
              <a:buSzPts val="1900"/>
              <a:buNone/>
              <a:defRPr sz="60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9pPr>
          </a:lstStyle>
          <a:p>
            <a:endParaRPr/>
          </a:p>
        </p:txBody>
      </p:sp>
      <p:sp>
        <p:nvSpPr>
          <p:cNvPr id="89" name="Google Shape;89;g8c02e40ff2_0_104"/>
          <p:cNvSpPr txBox="1">
            <a:spLocks noGrp="1"/>
          </p:cNvSpPr>
          <p:nvPr>
            <p:ph type="subTitle" idx="1"/>
          </p:nvPr>
        </p:nvSpPr>
        <p:spPr>
          <a:xfrm>
            <a:off x="1524000" y="3602037"/>
            <a:ext cx="9144000" cy="1655700"/>
          </a:xfrm>
          <a:prstGeom prst="rect">
            <a:avLst/>
          </a:prstGeom>
          <a:noFill/>
          <a:ln>
            <a:noFill/>
          </a:ln>
        </p:spPr>
        <p:txBody>
          <a:bodyPr spcFirstLastPara="1" wrap="square" lIns="121900" tIns="60925" rIns="121900" bIns="609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90" name="Google Shape;90;g8c02e40ff2_0_104"/>
          <p:cNvSpPr txBox="1">
            <a:spLocks noGrp="1"/>
          </p:cNvSpPr>
          <p:nvPr>
            <p:ph type="dt" idx="10"/>
          </p:nvPr>
        </p:nvSpPr>
        <p:spPr>
          <a:xfrm>
            <a:off x="838200" y="6356349"/>
            <a:ext cx="27432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1" name="Google Shape;91;g8c02e40ff2_0_104"/>
          <p:cNvSpPr txBox="1">
            <a:spLocks noGrp="1"/>
          </p:cNvSpPr>
          <p:nvPr>
            <p:ph type="ftr" idx="11"/>
          </p:nvPr>
        </p:nvSpPr>
        <p:spPr>
          <a:xfrm>
            <a:off x="4038600" y="6356349"/>
            <a:ext cx="41148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2" name="Google Shape;92;g8c02e40ff2_0_104"/>
          <p:cNvSpPr txBox="1">
            <a:spLocks noGrp="1"/>
          </p:cNvSpPr>
          <p:nvPr>
            <p:ph type="sldNum" idx="12"/>
          </p:nvPr>
        </p:nvSpPr>
        <p:spPr>
          <a:xfrm>
            <a:off x="8610600" y="6356349"/>
            <a:ext cx="2743200" cy="366000"/>
          </a:xfrm>
          <a:prstGeom prst="rect">
            <a:avLst/>
          </a:prstGeom>
          <a:noFill/>
          <a:ln>
            <a:noFill/>
          </a:ln>
        </p:spPr>
        <p:txBody>
          <a:bodyPr spcFirstLastPara="1" wrap="square" lIns="121900" tIns="60925" rIns="121900" bIns="60925"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9021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4"/>
        <p:cNvGrpSpPr/>
        <p:nvPr/>
      </p:nvGrpSpPr>
      <p:grpSpPr>
        <a:xfrm>
          <a:off x="0" y="0"/>
          <a:ext cx="0" cy="0"/>
          <a:chOff x="0" y="0"/>
          <a:chExt cx="0" cy="0"/>
        </a:xfrm>
      </p:grpSpPr>
      <p:sp>
        <p:nvSpPr>
          <p:cNvPr id="85" name="Google Shape;85;g8c02618498_0_101"/>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9pPr>
          </a:lstStyle>
          <a:p>
            <a:endParaRPr/>
          </a:p>
        </p:txBody>
      </p:sp>
      <p:sp>
        <p:nvSpPr>
          <p:cNvPr id="86" name="Google Shape;86;g8c02618498_0_101"/>
          <p:cNvSpPr txBox="1">
            <a:spLocks noGrp="1"/>
          </p:cNvSpPr>
          <p:nvPr>
            <p:ph type="body" idx="1"/>
          </p:nvPr>
        </p:nvSpPr>
        <p:spPr>
          <a:xfrm>
            <a:off x="609600" y="1828800"/>
            <a:ext cx="10972800" cy="47244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372596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7"/>
        <p:cNvGrpSpPr/>
        <p:nvPr/>
      </p:nvGrpSpPr>
      <p:grpSpPr>
        <a:xfrm>
          <a:off x="0" y="0"/>
          <a:ext cx="0" cy="0"/>
          <a:chOff x="0" y="0"/>
          <a:chExt cx="0" cy="0"/>
        </a:xfrm>
      </p:grpSpPr>
      <p:sp>
        <p:nvSpPr>
          <p:cNvPr id="88" name="Google Shape;88;g8c02618498_0_104"/>
          <p:cNvSpPr txBox="1">
            <a:spLocks noGrp="1"/>
          </p:cNvSpPr>
          <p:nvPr>
            <p:ph type="ctrTitle"/>
          </p:nvPr>
        </p:nvSpPr>
        <p:spPr>
          <a:xfrm>
            <a:off x="1524000" y="1122363"/>
            <a:ext cx="9144000" cy="2387700"/>
          </a:xfrm>
          <a:prstGeom prst="rect">
            <a:avLst/>
          </a:prstGeom>
          <a:noFill/>
          <a:ln>
            <a:noFill/>
          </a:ln>
        </p:spPr>
        <p:txBody>
          <a:bodyPr spcFirstLastPara="1" wrap="square" lIns="121900" tIns="60925" rIns="121900" bIns="60925" anchor="b" anchorCtr="0">
            <a:noAutofit/>
          </a:bodyPr>
          <a:lstStyle>
            <a:lvl1pPr marR="0" lvl="0" algn="ctr" rtl="0">
              <a:lnSpc>
                <a:spcPct val="90000"/>
              </a:lnSpc>
              <a:spcBef>
                <a:spcPts val="0"/>
              </a:spcBef>
              <a:spcAft>
                <a:spcPts val="0"/>
              </a:spcAft>
              <a:buSzPts val="1900"/>
              <a:buNone/>
              <a:defRPr sz="60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9pPr>
          </a:lstStyle>
          <a:p>
            <a:endParaRPr/>
          </a:p>
        </p:txBody>
      </p:sp>
      <p:sp>
        <p:nvSpPr>
          <p:cNvPr id="89" name="Google Shape;89;g8c02618498_0_104"/>
          <p:cNvSpPr txBox="1">
            <a:spLocks noGrp="1"/>
          </p:cNvSpPr>
          <p:nvPr>
            <p:ph type="subTitle" idx="1"/>
          </p:nvPr>
        </p:nvSpPr>
        <p:spPr>
          <a:xfrm>
            <a:off x="1524000" y="3602037"/>
            <a:ext cx="9144000" cy="1655700"/>
          </a:xfrm>
          <a:prstGeom prst="rect">
            <a:avLst/>
          </a:prstGeom>
          <a:noFill/>
          <a:ln>
            <a:noFill/>
          </a:ln>
        </p:spPr>
        <p:txBody>
          <a:bodyPr spcFirstLastPara="1" wrap="square" lIns="121900" tIns="60925" rIns="121900" bIns="609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90" name="Google Shape;90;g8c02618498_0_104"/>
          <p:cNvSpPr txBox="1">
            <a:spLocks noGrp="1"/>
          </p:cNvSpPr>
          <p:nvPr>
            <p:ph type="dt" idx="10"/>
          </p:nvPr>
        </p:nvSpPr>
        <p:spPr>
          <a:xfrm>
            <a:off x="838200" y="6356349"/>
            <a:ext cx="27432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1" name="Google Shape;91;g8c02618498_0_104"/>
          <p:cNvSpPr txBox="1">
            <a:spLocks noGrp="1"/>
          </p:cNvSpPr>
          <p:nvPr>
            <p:ph type="ftr" idx="11"/>
          </p:nvPr>
        </p:nvSpPr>
        <p:spPr>
          <a:xfrm>
            <a:off x="4038600" y="6356349"/>
            <a:ext cx="41148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2" name="Google Shape;92;g8c02618498_0_104"/>
          <p:cNvSpPr txBox="1">
            <a:spLocks noGrp="1"/>
          </p:cNvSpPr>
          <p:nvPr>
            <p:ph type="sldNum" idx="12"/>
          </p:nvPr>
        </p:nvSpPr>
        <p:spPr>
          <a:xfrm>
            <a:off x="8610600" y="6356349"/>
            <a:ext cx="2743200" cy="366000"/>
          </a:xfrm>
          <a:prstGeom prst="rect">
            <a:avLst/>
          </a:prstGeom>
          <a:noFill/>
          <a:ln>
            <a:noFill/>
          </a:ln>
        </p:spPr>
        <p:txBody>
          <a:bodyPr spcFirstLastPara="1" wrap="square" lIns="121900" tIns="60925" rIns="121900" bIns="60925"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011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4"/>
        <p:cNvGrpSpPr/>
        <p:nvPr/>
      </p:nvGrpSpPr>
      <p:grpSpPr>
        <a:xfrm>
          <a:off x="0" y="0"/>
          <a:ext cx="0" cy="0"/>
          <a:chOff x="0" y="0"/>
          <a:chExt cx="0" cy="0"/>
        </a:xfrm>
      </p:grpSpPr>
      <p:sp>
        <p:nvSpPr>
          <p:cNvPr id="85" name="Google Shape;85;g8c02d2b9b6_0_101"/>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SzPts val="1900"/>
              <a:buNone/>
              <a:defRPr sz="4400" b="0" i="0" u="none" strike="noStrike" cap="none">
                <a:solidFill>
                  <a:schemeClr val="lt1"/>
                </a:solidFill>
                <a:latin typeface="Calibri"/>
                <a:ea typeface="Calibri"/>
                <a:cs typeface="Calibri"/>
                <a:sym typeface="Calibri"/>
              </a:defRPr>
            </a:lvl9pPr>
          </a:lstStyle>
          <a:p>
            <a:endParaRPr/>
          </a:p>
        </p:txBody>
      </p:sp>
      <p:sp>
        <p:nvSpPr>
          <p:cNvPr id="86" name="Google Shape;86;g8c02d2b9b6_0_101"/>
          <p:cNvSpPr txBox="1">
            <a:spLocks noGrp="1"/>
          </p:cNvSpPr>
          <p:nvPr>
            <p:ph type="body" idx="1"/>
          </p:nvPr>
        </p:nvSpPr>
        <p:spPr>
          <a:xfrm>
            <a:off x="609600" y="1828800"/>
            <a:ext cx="10972800" cy="47244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6720513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7"/>
        <p:cNvGrpSpPr/>
        <p:nvPr/>
      </p:nvGrpSpPr>
      <p:grpSpPr>
        <a:xfrm>
          <a:off x="0" y="0"/>
          <a:ext cx="0" cy="0"/>
          <a:chOff x="0" y="0"/>
          <a:chExt cx="0" cy="0"/>
        </a:xfrm>
      </p:grpSpPr>
      <p:sp>
        <p:nvSpPr>
          <p:cNvPr id="88" name="Google Shape;88;g8c02d2b9b6_0_104"/>
          <p:cNvSpPr txBox="1">
            <a:spLocks noGrp="1"/>
          </p:cNvSpPr>
          <p:nvPr>
            <p:ph type="ctrTitle"/>
          </p:nvPr>
        </p:nvSpPr>
        <p:spPr>
          <a:xfrm>
            <a:off x="1524000" y="1122363"/>
            <a:ext cx="9144000" cy="2387700"/>
          </a:xfrm>
          <a:prstGeom prst="rect">
            <a:avLst/>
          </a:prstGeom>
          <a:noFill/>
          <a:ln>
            <a:noFill/>
          </a:ln>
        </p:spPr>
        <p:txBody>
          <a:bodyPr spcFirstLastPara="1" wrap="square" lIns="121900" tIns="60925" rIns="121900" bIns="60925" anchor="b" anchorCtr="0">
            <a:noAutofit/>
          </a:bodyPr>
          <a:lstStyle>
            <a:lvl1pPr marR="0" lvl="0" algn="ctr" rtl="0">
              <a:lnSpc>
                <a:spcPct val="90000"/>
              </a:lnSpc>
              <a:spcBef>
                <a:spcPts val="0"/>
              </a:spcBef>
              <a:spcAft>
                <a:spcPts val="0"/>
              </a:spcAft>
              <a:buSzPts val="1900"/>
              <a:buNone/>
              <a:defRPr sz="60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900"/>
              <a:buNone/>
              <a:defRPr sz="4400" b="0" i="0" u="none" strike="noStrike" cap="none">
                <a:solidFill>
                  <a:schemeClr val="dk1"/>
                </a:solidFill>
                <a:latin typeface="Calibri"/>
                <a:ea typeface="Calibri"/>
                <a:cs typeface="Calibri"/>
                <a:sym typeface="Calibri"/>
              </a:defRPr>
            </a:lvl9pPr>
          </a:lstStyle>
          <a:p>
            <a:endParaRPr/>
          </a:p>
        </p:txBody>
      </p:sp>
      <p:sp>
        <p:nvSpPr>
          <p:cNvPr id="89" name="Google Shape;89;g8c02d2b9b6_0_104"/>
          <p:cNvSpPr txBox="1">
            <a:spLocks noGrp="1"/>
          </p:cNvSpPr>
          <p:nvPr>
            <p:ph type="subTitle" idx="1"/>
          </p:nvPr>
        </p:nvSpPr>
        <p:spPr>
          <a:xfrm>
            <a:off x="1524000" y="3602037"/>
            <a:ext cx="9144000" cy="1655700"/>
          </a:xfrm>
          <a:prstGeom prst="rect">
            <a:avLst/>
          </a:prstGeom>
          <a:noFill/>
          <a:ln>
            <a:noFill/>
          </a:ln>
        </p:spPr>
        <p:txBody>
          <a:bodyPr spcFirstLastPara="1" wrap="square" lIns="121900" tIns="60925" rIns="121900" bIns="609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90" name="Google Shape;90;g8c02d2b9b6_0_104"/>
          <p:cNvSpPr txBox="1">
            <a:spLocks noGrp="1"/>
          </p:cNvSpPr>
          <p:nvPr>
            <p:ph type="dt" idx="10"/>
          </p:nvPr>
        </p:nvSpPr>
        <p:spPr>
          <a:xfrm>
            <a:off x="838200" y="6356349"/>
            <a:ext cx="27432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1" name="Google Shape;91;g8c02d2b9b6_0_104"/>
          <p:cNvSpPr txBox="1">
            <a:spLocks noGrp="1"/>
          </p:cNvSpPr>
          <p:nvPr>
            <p:ph type="ftr" idx="11"/>
          </p:nvPr>
        </p:nvSpPr>
        <p:spPr>
          <a:xfrm>
            <a:off x="4038600" y="6356349"/>
            <a:ext cx="4114800" cy="3660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92" name="Google Shape;92;g8c02d2b9b6_0_104"/>
          <p:cNvSpPr txBox="1">
            <a:spLocks noGrp="1"/>
          </p:cNvSpPr>
          <p:nvPr>
            <p:ph type="sldNum" idx="12"/>
          </p:nvPr>
        </p:nvSpPr>
        <p:spPr>
          <a:xfrm>
            <a:off x="8610600" y="6356349"/>
            <a:ext cx="2743200" cy="366000"/>
          </a:xfrm>
          <a:prstGeom prst="rect">
            <a:avLst/>
          </a:prstGeom>
          <a:noFill/>
          <a:ln>
            <a:noFill/>
          </a:ln>
        </p:spPr>
        <p:txBody>
          <a:bodyPr spcFirstLastPara="1" wrap="square" lIns="121900" tIns="60925" rIns="121900" bIns="60925"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9017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pic>
        <p:nvPicPr>
          <p:cNvPr id="81" name="Google Shape;81;g824a699b75_0_99" descr="ContentSlide_Heade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0" y="0"/>
            <a:ext cx="12202586" cy="1676400"/>
          </a:xfrm>
          <a:prstGeom prst="rect">
            <a:avLst/>
          </a:prstGeom>
          <a:noFill/>
          <a:ln>
            <a:noFill/>
          </a:ln>
        </p:spPr>
      </p:pic>
      <p:sp>
        <p:nvSpPr>
          <p:cNvPr id="82" name="Google Shape;82;g824a699b75_0_99"/>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endParaRPr/>
          </a:p>
        </p:txBody>
      </p:sp>
      <p:sp>
        <p:nvSpPr>
          <p:cNvPr id="83" name="Google Shape;83;g824a699b75_0_99"/>
          <p:cNvSpPr txBox="1">
            <a:spLocks noGrp="1"/>
          </p:cNvSpPr>
          <p:nvPr>
            <p:ph type="body" idx="1"/>
          </p:nvPr>
        </p:nvSpPr>
        <p:spPr>
          <a:xfrm>
            <a:off x="609600" y="1600200"/>
            <a:ext cx="10972800" cy="45255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pic>
        <p:nvPicPr>
          <p:cNvPr id="81" name="Google Shape;81;g8c02e40ff2_0_97" descr="ContentSlide_Heade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0" y="0"/>
            <a:ext cx="12202586" cy="1676400"/>
          </a:xfrm>
          <a:prstGeom prst="rect">
            <a:avLst/>
          </a:prstGeom>
          <a:noFill/>
          <a:ln>
            <a:noFill/>
          </a:ln>
        </p:spPr>
      </p:pic>
      <p:sp>
        <p:nvSpPr>
          <p:cNvPr id="82" name="Google Shape;82;g8c02e40ff2_0_97"/>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endParaRPr/>
          </a:p>
        </p:txBody>
      </p:sp>
      <p:sp>
        <p:nvSpPr>
          <p:cNvPr id="83" name="Google Shape;83;g8c02e40ff2_0_97"/>
          <p:cNvSpPr txBox="1">
            <a:spLocks noGrp="1"/>
          </p:cNvSpPr>
          <p:nvPr>
            <p:ph type="body" idx="1"/>
          </p:nvPr>
        </p:nvSpPr>
        <p:spPr>
          <a:xfrm>
            <a:off x="609600" y="1600200"/>
            <a:ext cx="10972800" cy="45255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08097736"/>
      </p:ext>
    </p:extLst>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pic>
        <p:nvPicPr>
          <p:cNvPr id="81" name="Google Shape;81;g8c02618498_0_97" descr="ContentSlide_Heade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0" y="0"/>
            <a:ext cx="12202586" cy="1676400"/>
          </a:xfrm>
          <a:prstGeom prst="rect">
            <a:avLst/>
          </a:prstGeom>
          <a:noFill/>
          <a:ln>
            <a:noFill/>
          </a:ln>
        </p:spPr>
      </p:pic>
      <p:sp>
        <p:nvSpPr>
          <p:cNvPr id="82" name="Google Shape;82;g8c02618498_0_97"/>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endParaRPr/>
          </a:p>
        </p:txBody>
      </p:sp>
      <p:sp>
        <p:nvSpPr>
          <p:cNvPr id="83" name="Google Shape;83;g8c02618498_0_97"/>
          <p:cNvSpPr txBox="1">
            <a:spLocks noGrp="1"/>
          </p:cNvSpPr>
          <p:nvPr>
            <p:ph type="body" idx="1"/>
          </p:nvPr>
        </p:nvSpPr>
        <p:spPr>
          <a:xfrm>
            <a:off x="609600" y="1600200"/>
            <a:ext cx="10972800" cy="45255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3793923"/>
      </p:ext>
    </p:extLst>
  </p:cSld>
  <p:clrMap bg1="lt1" tx1="dk1" bg2="dk2" tx2="lt2" accent1="accent1" accent2="accent2" accent3="accent3" accent4="accent4" accent5="accent5" accent6="accent6" hlink="hlink" folHlink="folHlink"/>
  <p:sldLayoutIdLst>
    <p:sldLayoutId id="2147483667" r:id="rId1"/>
    <p:sldLayoutId id="214748366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pic>
        <p:nvPicPr>
          <p:cNvPr id="81" name="Google Shape;81;g8c02d2b9b6_0_97" descr="ContentSlide_Heade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0" y="0"/>
            <a:ext cx="12202586" cy="1676400"/>
          </a:xfrm>
          <a:prstGeom prst="rect">
            <a:avLst/>
          </a:prstGeom>
          <a:noFill/>
          <a:ln>
            <a:noFill/>
          </a:ln>
        </p:spPr>
      </p:pic>
      <p:sp>
        <p:nvSpPr>
          <p:cNvPr id="82" name="Google Shape;82;g8c02d2b9b6_0_97"/>
          <p:cNvSpPr txBox="1">
            <a:spLocks noGrp="1"/>
          </p:cNvSpPr>
          <p:nvPr>
            <p:ph type="title"/>
          </p:nvPr>
        </p:nvSpPr>
        <p:spPr>
          <a:xfrm>
            <a:off x="609600" y="275167"/>
            <a:ext cx="109728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endParaRPr/>
          </a:p>
        </p:txBody>
      </p:sp>
      <p:sp>
        <p:nvSpPr>
          <p:cNvPr id="83" name="Google Shape;83;g8c02d2b9b6_0_97"/>
          <p:cNvSpPr txBox="1">
            <a:spLocks noGrp="1"/>
          </p:cNvSpPr>
          <p:nvPr>
            <p:ph type="body" idx="1"/>
          </p:nvPr>
        </p:nvSpPr>
        <p:spPr>
          <a:xfrm>
            <a:off x="609600" y="1600200"/>
            <a:ext cx="10972800" cy="4525500"/>
          </a:xfrm>
          <a:prstGeom prst="rect">
            <a:avLst/>
          </a:prstGeom>
          <a:noFill/>
          <a:ln>
            <a:noFill/>
          </a:ln>
        </p:spPr>
        <p:txBody>
          <a:bodyPr spcFirstLastPara="1" wrap="square" lIns="121900" tIns="60925" rIns="121900" bIns="60925" anchor="t" anchorCtr="0">
            <a:noAutofit/>
          </a:bodyPr>
          <a:lstStyle>
            <a:lvl1pPr marL="457200" marR="0" lvl="0"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923040262"/>
      </p:ext>
    </p:extLst>
  </p:cSld>
  <p:clrMap bg1="lt1" tx1="dk1" bg2="dk2" tx2="lt2" accent1="accent1" accent2="accent2" accent3="accent3" accent4="accent4" accent5="accent5" accent6="accent6" hlink="hlink" folHlink="folHlink"/>
  <p:sldLayoutIdLst>
    <p:sldLayoutId id="2147483670" r:id="rId1"/>
    <p:sldLayoutId id="214748367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824a699b75_0_56"/>
          <p:cNvSpPr txBox="1">
            <a:spLocks noGrp="1"/>
          </p:cNvSpPr>
          <p:nvPr>
            <p:ph type="title"/>
          </p:nvPr>
        </p:nvSpPr>
        <p:spPr>
          <a:xfrm>
            <a:off x="1689100" y="304800"/>
            <a:ext cx="86868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chemeClr val="lt1"/>
              </a:buClr>
              <a:buSzPts val="4000"/>
              <a:buFont typeface="Calibri"/>
              <a:buNone/>
            </a:pPr>
            <a:r>
              <a:rPr lang="en-US" sz="4000" b="0" i="0" u="none" strike="noStrike" cap="none">
                <a:solidFill>
                  <a:schemeClr val="lt1"/>
                </a:solidFill>
                <a:latin typeface="Calibri"/>
                <a:ea typeface="Calibri"/>
                <a:cs typeface="Calibri"/>
                <a:sym typeface="Calibri"/>
              </a:rPr>
              <a:t>ONMS Condition Report Questions</a:t>
            </a:r>
            <a:br>
              <a:rPr lang="en-US" sz="4000" b="0" i="0" u="none" strike="noStrike" cap="none">
                <a:solidFill>
                  <a:schemeClr val="lt1"/>
                </a:solidFill>
                <a:latin typeface="Calibri"/>
                <a:ea typeface="Calibri"/>
                <a:cs typeface="Calibri"/>
                <a:sym typeface="Calibri"/>
              </a:rPr>
            </a:br>
            <a:r>
              <a:rPr lang="en-US" sz="4000" b="0" i="0" u="none" strike="noStrike" cap="none">
                <a:solidFill>
                  <a:schemeClr val="lt1"/>
                </a:solidFill>
                <a:latin typeface="Calibri"/>
                <a:ea typeface="Calibri"/>
                <a:cs typeface="Calibri"/>
                <a:sym typeface="Calibri"/>
              </a:rPr>
              <a:t> </a:t>
            </a:r>
            <a:endParaRPr/>
          </a:p>
        </p:txBody>
      </p:sp>
      <p:sp>
        <p:nvSpPr>
          <p:cNvPr id="98" name="Google Shape;98;g824a699b75_0_56"/>
          <p:cNvSpPr txBox="1"/>
          <p:nvPr/>
        </p:nvSpPr>
        <p:spPr>
          <a:xfrm>
            <a:off x="504100" y="935301"/>
            <a:ext cx="11313300" cy="5538900"/>
          </a:xfrm>
          <a:prstGeom prst="rect">
            <a:avLst/>
          </a:prstGeom>
          <a:solidFill>
            <a:srgbClr val="C5D8F1"/>
          </a:solidFill>
          <a:ln w="9525" cap="flat" cmpd="sng">
            <a:solidFill>
              <a:schemeClr val="dk1"/>
            </a:solidFill>
            <a:prstDash val="solid"/>
            <a:round/>
            <a:headEnd type="none" w="sm" len="sm"/>
            <a:tailEnd type="none" w="sm" len="sm"/>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Calibri"/>
                <a:ea typeface="Calibri"/>
                <a:cs typeface="Calibri"/>
                <a:sym typeface="Calibri"/>
              </a:rPr>
              <a:t>Category: Human Dimension</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 What are the states of influential human drivers and how are they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Q2. What are the levels of human activities that may adversely influence water quality and how are they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Q3. What are the levels of human activities that may adversely influence habitats and how are they changing? </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Q4. What are the levels of human activities that may adversely influence living resources and how are they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Q5. What are the levels of human activities that may adversely affect maritime archaeological resources and how are they changing?</a:t>
            </a:r>
            <a:endParaRPr sz="16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5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Calibri"/>
                <a:ea typeface="Calibri"/>
                <a:cs typeface="Calibri"/>
                <a:sym typeface="Calibri"/>
              </a:rPr>
              <a:t>Category: Water Quality</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Q6. What is the eutrophic condition of sanctuary waters and how is it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Q7. Do sanctuary waters pose risks to human health and how are they changing?</a:t>
            </a:r>
            <a:endParaRPr sz="1900" dirty="0"/>
          </a:p>
          <a:p>
            <a:pPr marL="0" marR="0" lvl="0" indent="0" algn="l" rtl="0">
              <a:lnSpc>
                <a:spcPct val="100000"/>
              </a:lnSpc>
              <a:spcBef>
                <a:spcPts val="0"/>
              </a:spcBef>
              <a:spcAft>
                <a:spcPts val="0"/>
              </a:spcAft>
              <a:buNone/>
            </a:pPr>
            <a:r>
              <a:rPr lang="en-US" sz="1600" b="1" i="0" u="none" strike="noStrike" cap="none" dirty="0">
                <a:solidFill>
                  <a:srgbClr val="000000"/>
                </a:solidFill>
                <a:latin typeface="Calibri"/>
                <a:ea typeface="Calibri"/>
                <a:cs typeface="Calibri"/>
                <a:sym typeface="Calibri"/>
              </a:rPr>
              <a:t>Q8. Have recent, accelerated changes in climate altered water conditions and how are they changing?</a:t>
            </a:r>
            <a:endParaRPr sz="1900" b="1"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Q9. Are other stressors, individually or in combination, affecting water quality, and how are they changing?</a:t>
            </a:r>
            <a:endParaRPr sz="16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5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Calibri"/>
                <a:ea typeface="Calibri"/>
                <a:cs typeface="Calibri"/>
                <a:sym typeface="Calibri"/>
              </a:rPr>
              <a:t>Category: Habitat</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Q10. What is the integrity of major habitat types and how are they changing? </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Q11. What are contaminant concentrations in sanctuary habitats and how are they changing?</a:t>
            </a:r>
            <a:endParaRPr sz="16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5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Calibri"/>
                <a:ea typeface="Calibri"/>
                <a:cs typeface="Calibri"/>
                <a:sym typeface="Calibri"/>
              </a:rPr>
              <a:t>Category: Living Resources</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Q12. What is the status of keystone and foundation species and how is it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Q13.  What is the status of other </a:t>
            </a:r>
            <a:r>
              <a:rPr lang="en-US" sz="1600" dirty="0">
                <a:latin typeface="Calibri"/>
                <a:ea typeface="Calibri"/>
                <a:cs typeface="Calibri"/>
                <a:sym typeface="Calibri"/>
              </a:rPr>
              <a:t>focal</a:t>
            </a:r>
            <a:r>
              <a:rPr lang="en-US" sz="1600" b="0" i="0" u="none" strike="noStrike" cap="none" dirty="0">
                <a:solidFill>
                  <a:srgbClr val="000000"/>
                </a:solidFill>
                <a:latin typeface="Calibri"/>
                <a:ea typeface="Calibri"/>
                <a:cs typeface="Calibri"/>
                <a:sym typeface="Calibri"/>
              </a:rPr>
              <a:t> species and how is it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Q14. What is the status of non-indigenous species and how is it changing?</a:t>
            </a:r>
            <a:endParaRPr sz="19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Q15. What is the status of biodiversity and how is it changing?</a:t>
            </a:r>
            <a:endParaRPr sz="1600" b="1"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5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Calibri"/>
                <a:ea typeface="Calibri"/>
                <a:cs typeface="Calibri"/>
                <a:sym typeface="Calibri"/>
              </a:rPr>
              <a:t>Category: Maritime Archaeological Resources</a:t>
            </a:r>
            <a:endParaRPr sz="16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Calibri"/>
                <a:ea typeface="Calibri"/>
                <a:cs typeface="Calibri"/>
                <a:sym typeface="Calibri"/>
              </a:rPr>
              <a:t>Q16. </a:t>
            </a:r>
            <a:r>
              <a:rPr lang="en-US" sz="1600" dirty="0">
                <a:solidFill>
                  <a:schemeClr val="dk1"/>
                </a:solidFill>
                <a:latin typeface="Calibri"/>
                <a:ea typeface="Calibri"/>
                <a:cs typeface="Calibri"/>
                <a:sym typeface="Calibri"/>
              </a:rPr>
              <a:t>What is the condition of known maritime heritage resources and how is it changing?</a:t>
            </a:r>
            <a:endParaRPr sz="1900" dirty="0"/>
          </a:p>
        </p:txBody>
      </p:sp>
      <p:sp>
        <p:nvSpPr>
          <p:cNvPr id="99" name="Google Shape;99;g824a699b75_0_56"/>
          <p:cNvSpPr/>
          <p:nvPr/>
        </p:nvSpPr>
        <p:spPr>
          <a:xfrm>
            <a:off x="504101" y="3248526"/>
            <a:ext cx="8796310" cy="300790"/>
          </a:xfrm>
          <a:prstGeom prst="rect">
            <a:avLst/>
          </a:prstGeom>
          <a:noFill/>
          <a:ln w="25400" cap="flat" cmpd="sng">
            <a:solidFill>
              <a:srgbClr val="C00000"/>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endParaRPr sz="19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824a699b75_0_62"/>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graphicFrame>
        <p:nvGraphicFramePr>
          <p:cNvPr id="106" name="Google Shape;106;g824a699b75_0_62"/>
          <p:cNvGraphicFramePr/>
          <p:nvPr>
            <p:extLst>
              <p:ext uri="{D42A27DB-BD31-4B8C-83A1-F6EECF244321}">
                <p14:modId xmlns:p14="http://schemas.microsoft.com/office/powerpoint/2010/main" val="764782476"/>
              </p:ext>
            </p:extLst>
          </p:nvPr>
        </p:nvGraphicFramePr>
        <p:xfrm>
          <a:off x="146850" y="1215800"/>
          <a:ext cx="5136325" cy="1482500"/>
        </p:xfrm>
        <a:graphic>
          <a:graphicData uri="http://schemas.openxmlformats.org/drawingml/2006/table">
            <a:tbl>
              <a:tblPr>
                <a:noFill/>
                <a:tableStyleId>{E0C90DBF-FC51-4E21-B4E3-DF21BC108ACA}</a:tableStyleId>
              </a:tblPr>
              <a:tblGrid>
                <a:gridCol w="1523225">
                  <a:extLst>
                    <a:ext uri="{9D8B030D-6E8A-4147-A177-3AD203B41FA5}">
                      <a16:colId xmlns:a16="http://schemas.microsoft.com/office/drawing/2014/main" val="20000"/>
                    </a:ext>
                  </a:extLst>
                </a:gridCol>
                <a:gridCol w="3613100">
                  <a:extLst>
                    <a:ext uri="{9D8B030D-6E8A-4147-A177-3AD203B41FA5}">
                      <a16:colId xmlns:a16="http://schemas.microsoft.com/office/drawing/2014/main" val="20001"/>
                    </a:ext>
                  </a:extLst>
                </a:gridCol>
              </a:tblGrid>
              <a:tr h="415700">
                <a:tc>
                  <a:txBody>
                    <a:bodyPr/>
                    <a:lstStyle/>
                    <a:p>
                      <a:pPr marL="1270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Arial"/>
                          <a:ea typeface="Arial"/>
                          <a:cs typeface="Arial"/>
                          <a:sym typeface="Arial"/>
                        </a:rPr>
                        <a:t>Previous rating</a:t>
                      </a:r>
                      <a:endParaRPr sz="1600" u="none" strike="noStrike" cap="none">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Narrow"/>
                        <a:buNone/>
                      </a:pPr>
                      <a:r>
                        <a:rPr lang="en-US" sz="1600" b="1" i="0" u="none" strike="noStrike" cap="none">
                          <a:solidFill>
                            <a:srgbClr val="000000"/>
                          </a:solidFill>
                          <a:latin typeface="Arial"/>
                          <a:ea typeface="Arial"/>
                          <a:cs typeface="Arial"/>
                          <a:sym typeface="Arial"/>
                        </a:rPr>
                        <a:t> </a:t>
                      </a:r>
                      <a:endParaRPr sz="1600" b="0" u="none" strike="noStrike" cap="none">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r h="1066800">
                <a:tc>
                  <a:txBody>
                    <a:bodyPr/>
                    <a:lstStyle/>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Arial"/>
                          <a:ea typeface="Arial"/>
                          <a:cs typeface="Arial"/>
                          <a:sym typeface="Arial"/>
                        </a:rPr>
                        <a:t>200</a:t>
                      </a:r>
                      <a:r>
                        <a:rPr lang="en-US" sz="1600">
                          <a:solidFill>
                            <a:schemeClr val="dk1"/>
                          </a:solidFill>
                        </a:rPr>
                        <a:t>7</a:t>
                      </a:r>
                      <a:r>
                        <a:rPr lang="en-US" sz="1600" b="0" i="0" u="none" strike="noStrike" cap="none">
                          <a:solidFill>
                            <a:schemeClr val="dk1"/>
                          </a:solidFill>
                          <a:latin typeface="Arial"/>
                          <a:ea typeface="Arial"/>
                          <a:cs typeface="Arial"/>
                          <a:sym typeface="Arial"/>
                        </a:rPr>
                        <a:t> rating based on</a:t>
                      </a:r>
                      <a:endParaRPr sz="1600" u="none" strike="noStrike" cap="none">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88900" marR="0" lvl="0" indent="-889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 </a:t>
                      </a:r>
                      <a:r>
                        <a:rPr lang="en-US" sz="1600" dirty="0">
                          <a:solidFill>
                            <a:schemeClr val="dk1"/>
                          </a:solidFill>
                        </a:rPr>
                        <a:t>Increasing number of warm-water events causing coral bleaching</a:t>
                      </a:r>
                      <a:endParaRPr sz="1600" u="none" strike="noStrike" cap="none" dirty="0">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07" name="Google Shape;107;g824a699b75_0_62"/>
          <p:cNvSpPr/>
          <p:nvPr/>
        </p:nvSpPr>
        <p:spPr>
          <a:xfrm>
            <a:off x="146850" y="2694600"/>
            <a:ext cx="11987700" cy="4078775"/>
          </a:xfrm>
          <a:prstGeom prst="rect">
            <a:avLst/>
          </a:prstGeom>
          <a:noFill/>
          <a:ln w="25400" cap="flat" cmpd="sng">
            <a:solidFill>
              <a:srgbClr val="395E89"/>
            </a:solidFill>
            <a:prstDash val="solid"/>
            <a:round/>
            <a:headEnd type="none" w="sm" len="sm"/>
            <a:tailEnd type="none" w="sm" len="sm"/>
          </a:ln>
        </p:spPr>
        <p:txBody>
          <a:bodyPr spcFirstLastPara="1" wrap="square" lIns="121900" tIns="60925" rIns="121900" bIns="60925" anchor="ctr" anchorCtr="0">
            <a:noAutofit/>
          </a:bodyPr>
          <a:lstStyle/>
          <a:p>
            <a:pPr marL="0" marR="0" lvl="0" indent="0" algn="just" rtl="0">
              <a:lnSpc>
                <a:spcPct val="100000"/>
              </a:lnSpc>
              <a:spcBef>
                <a:spcPts val="0"/>
              </a:spcBef>
              <a:spcAft>
                <a:spcPts val="0"/>
              </a:spcAft>
              <a:buClr>
                <a:schemeClr val="dk1"/>
              </a:buClr>
              <a:buSzPts val="1100"/>
              <a:buFont typeface="Arial"/>
              <a:buNone/>
            </a:pPr>
            <a:r>
              <a:rPr lang="en-US" sz="1600" dirty="0">
                <a:solidFill>
                  <a:schemeClr val="dk1"/>
                </a:solidFill>
                <a:latin typeface="Calibri"/>
                <a:ea typeface="Calibri"/>
                <a:cs typeface="Calibri"/>
                <a:sym typeface="Calibri"/>
              </a:rPr>
              <a:t>The purpose of this question is to capture shifts in water quality, and associated impacts on sanctuary resources, due to climate change. Though temporal changes in climate have always occurred on Earth, evidence is strong that changes over the last century have been accelerated by human activities. Indicators of climate change in sanctuary waters include water temperature, acidity, sea level, upwelling intensity and timing, storm intensity and frequency, changes in erosion and sedimentation patterns, and freshwater delivery (e.g., rainfall patterns). Climate-related changes in one or more of these indicators can impact the condition of habitats, living resources, and maritime archaeological resources in sanctuaries.</a:t>
            </a:r>
            <a:endParaRPr sz="16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1100"/>
              <a:buFont typeface="Arial"/>
              <a:buNone/>
            </a:pPr>
            <a:endParaRPr sz="6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SzPts val="1100"/>
              <a:buNone/>
            </a:pPr>
            <a:r>
              <a:rPr lang="en-US" sz="1600" dirty="0">
                <a:solidFill>
                  <a:schemeClr val="dk1"/>
                </a:solidFill>
                <a:latin typeface="Calibri"/>
                <a:ea typeface="Calibri"/>
                <a:cs typeface="Calibri"/>
                <a:sym typeface="Calibri"/>
              </a:rPr>
              <a:t>Increasing water temperature has been linked to changing growth rates, reduced disease resistance, and disruptions in symbiotic relationships (e.g., bleaching on coral reefs), and changes in water temperature exposure may affect a species’ resistance or the capacity to adapt to disturbances. Acidification can affect the survival and growth of organisms throughout the food web, as well as the persistence of skeletal material after death (through changes in rates of dissolution and bioerosion). Recent findings also suggest acidification impacts at sensory and behavioral levels, which can alter vitality and species interactions. Sea level change alters habitats, as well as their use and persistence. Variations in the timing and intensity of upwelling is known to change water quality through factors such as oxygen content and nutrient flow, further disrupting food webs and the natural functioning of ecosystems. Changing patterns and intensities of storms alter community resistance and resilience within ecosystems that have, over long periods of time, adapted to such disturbances. Altered rates and volumes of freshwater delivery to coastal ecosystems affects salinity and turbidity regimes and can disrupt reproduction, recruitment, growth, disease incidence, phenology, and other important processes.</a:t>
            </a:r>
            <a:endParaRPr sz="2000" dirty="0">
              <a:solidFill>
                <a:schemeClr val="dk1"/>
              </a:solidFill>
            </a:endParaRPr>
          </a:p>
        </p:txBody>
      </p:sp>
      <p:sp>
        <p:nvSpPr>
          <p:cNvPr id="108" name="Google Shape;108;g824a699b75_0_62"/>
          <p:cNvSpPr/>
          <p:nvPr/>
        </p:nvSpPr>
        <p:spPr>
          <a:xfrm rot="10800000">
            <a:off x="1894774" y="1251896"/>
            <a:ext cx="383700" cy="264900"/>
          </a:xfrm>
          <a:prstGeom prst="triangle">
            <a:avLst>
              <a:gd name="adj"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109" name="Google Shape;109;g824a699b75_0_6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367126" y="1219500"/>
            <a:ext cx="6767424" cy="14751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114"/>
        <p:cNvGrpSpPr/>
        <p:nvPr/>
      </p:nvGrpSpPr>
      <p:grpSpPr>
        <a:xfrm>
          <a:off x="0" y="0"/>
          <a:ext cx="0" cy="0"/>
          <a:chOff x="0" y="0"/>
          <a:chExt cx="0" cy="0"/>
        </a:xfrm>
      </p:grpSpPr>
      <p:sp>
        <p:nvSpPr>
          <p:cNvPr id="115" name="Google Shape;115;g824a699b75_0_112"/>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16" name="Google Shape;116;g824a699b75_0_112"/>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118" name="Google Shape;118;g824a699b75_0_112"/>
          <p:cNvSpPr txBox="1"/>
          <p:nvPr/>
        </p:nvSpPr>
        <p:spPr>
          <a:xfrm>
            <a:off x="49733" y="5488667"/>
            <a:ext cx="12139200" cy="12873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Clr>
                <a:schemeClr val="dk1"/>
              </a:buClr>
              <a:buSzPts val="1500"/>
              <a:buFont typeface="Arial"/>
              <a:buNone/>
            </a:pPr>
            <a:r>
              <a:rPr lang="en-US" sz="6400" dirty="0">
                <a:solidFill>
                  <a:schemeClr val="dk1"/>
                </a:solidFill>
                <a:latin typeface="Comic Sans MS"/>
                <a:ea typeface="Comic Sans MS"/>
                <a:cs typeface="Comic Sans MS"/>
                <a:sym typeface="Comic Sans MS"/>
              </a:rPr>
              <a:t>Indicator: Water Temperature</a:t>
            </a:r>
            <a:endParaRPr sz="1900" dirty="0">
              <a:latin typeface="Calibri"/>
              <a:ea typeface="Calibri"/>
              <a:cs typeface="Calibri"/>
              <a:sym typeface="Calibri"/>
            </a:endParaRPr>
          </a:p>
        </p:txBody>
      </p:sp>
      <p:pic>
        <p:nvPicPr>
          <p:cNvPr id="119" name="Google Shape;119;g824a699b75_0_112"/>
          <p:cNvPicPr preferRelativeResize="0"/>
          <p:nvPr/>
        </p:nvPicPr>
        <p:blipFill>
          <a:blip r:embed="rId3">
            <a:alphaModFix/>
          </a:blip>
          <a:stretch>
            <a:fillRect/>
          </a:stretch>
        </p:blipFill>
        <p:spPr>
          <a:xfrm>
            <a:off x="4883933" y="1801400"/>
            <a:ext cx="7304999" cy="3713633"/>
          </a:xfrm>
          <a:prstGeom prst="rect">
            <a:avLst/>
          </a:prstGeom>
          <a:noFill/>
          <a:ln>
            <a:noFill/>
          </a:ln>
        </p:spPr>
      </p:pic>
      <p:sp>
        <p:nvSpPr>
          <p:cNvPr id="120" name="Google Shape;120;g824a699b75_0_112"/>
          <p:cNvSpPr txBox="1"/>
          <p:nvPr/>
        </p:nvSpPr>
        <p:spPr>
          <a:xfrm>
            <a:off x="10573330" y="5382300"/>
            <a:ext cx="1615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 NOAA </a:t>
            </a:r>
            <a:r>
              <a:rPr lang="en-US" sz="1200">
                <a:solidFill>
                  <a:schemeClr val="dk1"/>
                </a:solidFill>
                <a:latin typeface="Calibri"/>
                <a:ea typeface="Calibri"/>
                <a:cs typeface="Calibri"/>
                <a:sym typeface="Calibri"/>
              </a:rPr>
              <a:t> </a:t>
            </a:r>
            <a:endParaRPr sz="1900"/>
          </a:p>
        </p:txBody>
      </p:sp>
      <p:sp>
        <p:nvSpPr>
          <p:cNvPr id="9" name="TextBox 8">
            <a:extLst>
              <a:ext uri="{FF2B5EF4-FFF2-40B4-BE49-F238E27FC236}">
                <a16:creationId xmlns:a16="http://schemas.microsoft.com/office/drawing/2014/main" id="{8F2DF447-2D06-4A03-8975-5EC9082EFC03}"/>
              </a:ext>
            </a:extLst>
          </p:cNvPr>
          <p:cNvSpPr txBox="1"/>
          <p:nvPr/>
        </p:nvSpPr>
        <p:spPr>
          <a:xfrm>
            <a:off x="266074" y="1801400"/>
            <a:ext cx="4401518" cy="3754874"/>
          </a:xfrm>
          <a:prstGeom prst="rect">
            <a:avLst/>
          </a:prstGeom>
          <a:noFill/>
        </p:spPr>
        <p:txBody>
          <a:bodyPr wrap="square">
            <a:spAutoFit/>
          </a:bodyPr>
          <a:lstStyle/>
          <a:p>
            <a:pPr marL="0" lvl="0" indent="0" algn="ctr" rtl="0">
              <a:spcBef>
                <a:spcPts val="0"/>
              </a:spcBef>
              <a:spcAft>
                <a:spcPts val="0"/>
              </a:spcAft>
              <a:buNone/>
            </a:pPr>
            <a:r>
              <a:rPr lang="en-US" sz="6000" dirty="0">
                <a:latin typeface="Comic Sans MS"/>
                <a:ea typeface="Comic Sans MS"/>
                <a:cs typeface="Comic Sans MS"/>
                <a:sym typeface="Comic Sans MS"/>
              </a:rPr>
              <a:t>Habitat:</a:t>
            </a:r>
            <a:r>
              <a:rPr lang="en-US" sz="6600" dirty="0">
                <a:latin typeface="Comic Sans MS"/>
                <a:ea typeface="Comic Sans MS"/>
                <a:cs typeface="Comic Sans MS"/>
                <a:sym typeface="Comic Sans MS"/>
              </a:rPr>
              <a:t> </a:t>
            </a:r>
          </a:p>
          <a:p>
            <a:pPr marL="0" lvl="0" indent="0" algn="ctr" rtl="0">
              <a:spcBef>
                <a:spcPts val="0"/>
              </a:spcBef>
              <a:spcAft>
                <a:spcPts val="0"/>
              </a:spcAft>
              <a:buNone/>
            </a:pPr>
            <a:r>
              <a:rPr lang="en-US" sz="3200" dirty="0">
                <a:latin typeface="Comic Sans MS"/>
                <a:ea typeface="Comic Sans MS"/>
                <a:cs typeface="Comic Sans MS"/>
                <a:sym typeface="Comic Sans MS"/>
              </a:rPr>
              <a:t>All Shallow Habitats:</a:t>
            </a:r>
          </a:p>
          <a:p>
            <a:pPr marL="0" lvl="0" indent="0" algn="ctr" rtl="0">
              <a:spcBef>
                <a:spcPts val="0"/>
              </a:spcBef>
              <a:spcAft>
                <a:spcPts val="0"/>
              </a:spcAft>
              <a:buNone/>
            </a:pPr>
            <a:r>
              <a:rPr lang="en-US" sz="2800" dirty="0">
                <a:latin typeface="Comic Sans MS"/>
                <a:ea typeface="Comic Sans MS"/>
                <a:cs typeface="Comic Sans MS"/>
                <a:sym typeface="Comic Sans MS"/>
              </a:rPr>
              <a:t>Rocky Shores, Sandy Shores and Reef Flat, Shallow Coral Reef, Mesophotic Coral Reef, Upper Pelagic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8c85f6f7a6_0_10"/>
          <p:cNvSpPr txBox="1"/>
          <p:nvPr/>
        </p:nvSpPr>
        <p:spPr>
          <a:xfrm>
            <a:off x="9259996" y="6411450"/>
            <a:ext cx="2932004" cy="740700"/>
          </a:xfrm>
          <a:prstGeom prst="rect">
            <a:avLst/>
          </a:prstGeom>
          <a:noFill/>
          <a:ln>
            <a:noFill/>
          </a:ln>
        </p:spPr>
        <p:txBody>
          <a:bodyPr spcFirstLastPara="1" wrap="square" lIns="121900" tIns="60925" rIns="121900" bIns="60925" anchor="t" anchorCtr="0">
            <a:noAutofit/>
          </a:bodyPr>
          <a:lstStyle/>
          <a:p>
            <a:pPr marL="0" marR="0" lvl="0" indent="0" algn="r"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Sources: </a:t>
            </a:r>
            <a:r>
              <a:rPr lang="en-US" sz="1200" dirty="0">
                <a:solidFill>
                  <a:schemeClr val="dk1"/>
                </a:solidFill>
                <a:latin typeface="Calibri"/>
                <a:ea typeface="Calibri"/>
                <a:cs typeface="Calibri"/>
                <a:sym typeface="Calibri"/>
              </a:rPr>
              <a:t>NOAA Coral Reef Watch</a:t>
            </a:r>
          </a:p>
          <a:p>
            <a:pPr marL="0" marR="0" lvl="0" indent="0" algn="r" rtl="0">
              <a:lnSpc>
                <a:spcPct val="100000"/>
              </a:lnSpc>
              <a:spcBef>
                <a:spcPts val="0"/>
              </a:spcBef>
              <a:spcAft>
                <a:spcPts val="0"/>
              </a:spcAft>
              <a:buNone/>
            </a:pPr>
            <a:r>
              <a:rPr lang="en-US" sz="1200" dirty="0">
                <a:solidFill>
                  <a:schemeClr val="dk1"/>
                </a:solidFill>
                <a:latin typeface="Calibri"/>
                <a:ea typeface="Calibri"/>
                <a:cs typeface="Calibri"/>
                <a:sym typeface="Calibri"/>
              </a:rPr>
              <a:t>NOAA Climate Prediction Center </a:t>
            </a:r>
            <a:endParaRPr sz="1900" dirty="0"/>
          </a:p>
        </p:txBody>
      </p:sp>
      <p:sp>
        <p:nvSpPr>
          <p:cNvPr id="127" name="Google Shape;127;g8c85f6f7a6_0_10"/>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28" name="Google Shape;128;g8c85f6f7a6_0_10"/>
          <p:cNvSpPr txBox="1"/>
          <p:nvPr/>
        </p:nvSpPr>
        <p:spPr>
          <a:xfrm>
            <a:off x="4133600" y="1263112"/>
            <a:ext cx="4064100" cy="740700"/>
          </a:xfrm>
          <a:prstGeom prst="rect">
            <a:avLst/>
          </a:prstGeom>
          <a:solidFill>
            <a:schemeClr val="l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 </a:t>
            </a:r>
            <a:endParaRPr sz="1900" b="1"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Indicator:  Sea Surface Temperature</a:t>
            </a:r>
            <a:endParaRPr sz="1900" b="1" i="0" u="none" strike="noStrike" cap="none" dirty="0">
              <a:solidFill>
                <a:srgbClr val="974806"/>
              </a:solidFill>
              <a:latin typeface="Calibri"/>
              <a:ea typeface="Calibri"/>
              <a:cs typeface="Calibri"/>
              <a:sym typeface="Calibri"/>
            </a:endParaRPr>
          </a:p>
        </p:txBody>
      </p:sp>
      <p:sp>
        <p:nvSpPr>
          <p:cNvPr id="129" name="Google Shape;129;g8c85f6f7a6_0_10"/>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graphicFrame>
        <p:nvGraphicFramePr>
          <p:cNvPr id="2" name="Chart 1">
            <a:extLst>
              <a:ext uri="{FF2B5EF4-FFF2-40B4-BE49-F238E27FC236}">
                <a16:creationId xmlns:a16="http://schemas.microsoft.com/office/drawing/2014/main" id="{F6F579D0-20C1-436F-97DC-FA00AE6B9595}"/>
              </a:ext>
            </a:extLst>
          </p:cNvPr>
          <p:cNvGraphicFramePr>
            <a:graphicFrameLocks/>
          </p:cNvGraphicFramePr>
          <p:nvPr>
            <p:extLst>
              <p:ext uri="{D42A27DB-BD31-4B8C-83A1-F6EECF244321}">
                <p14:modId xmlns:p14="http://schemas.microsoft.com/office/powerpoint/2010/main" val="1225395078"/>
              </p:ext>
            </p:extLst>
          </p:nvPr>
        </p:nvGraphicFramePr>
        <p:xfrm>
          <a:off x="197251" y="2003812"/>
          <a:ext cx="11797497" cy="443717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8c85f6f7a6_0_19"/>
          <p:cNvSpPr txBox="1"/>
          <p:nvPr/>
        </p:nvSpPr>
        <p:spPr>
          <a:xfrm>
            <a:off x="10206897" y="6607900"/>
            <a:ext cx="19536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a:t>
            </a:r>
            <a:r>
              <a:rPr lang="en-US" sz="1200" dirty="0">
                <a:solidFill>
                  <a:schemeClr val="dk1"/>
                </a:solidFill>
                <a:latin typeface="Calibri"/>
                <a:ea typeface="Calibri"/>
                <a:cs typeface="Calibri"/>
                <a:sym typeface="Calibri"/>
              </a:rPr>
              <a:t> ESD Report 2019</a:t>
            </a:r>
            <a:endParaRPr sz="1900" dirty="0"/>
          </a:p>
        </p:txBody>
      </p:sp>
      <p:sp>
        <p:nvSpPr>
          <p:cNvPr id="137" name="Google Shape;137;g8c85f6f7a6_0_19"/>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38" name="Google Shape;138;g8c85f6f7a6_0_19"/>
          <p:cNvSpPr txBox="1"/>
          <p:nvPr/>
        </p:nvSpPr>
        <p:spPr>
          <a:xfrm>
            <a:off x="6965327" y="1641600"/>
            <a:ext cx="3526379" cy="7263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a:t>
            </a:r>
            <a:r>
              <a:rPr lang="en-US" sz="1900" b="1" i="0" u="none" strike="noStrike" cap="none" dirty="0">
                <a:solidFill>
                  <a:srgbClr val="974806"/>
                </a:solidFill>
                <a:latin typeface="Calibri"/>
                <a:ea typeface="Calibri"/>
                <a:cs typeface="Calibri"/>
                <a:sym typeface="Calibri"/>
              </a:rPr>
              <a:t>     </a:t>
            </a:r>
            <a:endParaRPr sz="1900" b="1" i="0" u="none" strike="noStrike" cap="none"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i="0" u="none" strike="noStrike" cap="none" dirty="0">
                <a:solidFill>
                  <a:srgbClr val="974806"/>
                </a:solidFill>
                <a:latin typeface="Calibri"/>
                <a:ea typeface="Calibri"/>
                <a:cs typeface="Calibri"/>
                <a:sym typeface="Calibri"/>
              </a:rPr>
              <a:t>Indicator: Water Temperature</a:t>
            </a:r>
            <a:endParaRPr sz="1900" b="1" i="0" u="none" strike="noStrike" cap="none" dirty="0">
              <a:solidFill>
                <a:srgbClr val="974806"/>
              </a:solidFill>
              <a:latin typeface="Calibri"/>
              <a:ea typeface="Calibri"/>
              <a:cs typeface="Calibri"/>
              <a:sym typeface="Calibri"/>
            </a:endParaRPr>
          </a:p>
        </p:txBody>
      </p:sp>
      <p:sp>
        <p:nvSpPr>
          <p:cNvPr id="139" name="Google Shape;139;g8c85f6f7a6_0_19"/>
          <p:cNvSpPr txBox="1">
            <a:spLocks noGrp="1"/>
          </p:cNvSpPr>
          <p:nvPr>
            <p:ph type="title"/>
          </p:nvPr>
        </p:nvSpPr>
        <p:spPr>
          <a:xfrm>
            <a:off x="5296567" y="76200"/>
            <a:ext cx="6864000" cy="14892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140" name="Google Shape;140;g8c85f6f7a6_0_19"/>
          <p:cNvSpPr txBox="1"/>
          <p:nvPr/>
        </p:nvSpPr>
        <p:spPr>
          <a:xfrm>
            <a:off x="5836967" y="2629786"/>
            <a:ext cx="5783100" cy="37008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Clr>
                <a:schemeClr val="dk1"/>
              </a:buClr>
              <a:buSzPts val="1500"/>
              <a:buFont typeface="Arial"/>
              <a:buNone/>
            </a:pPr>
            <a:r>
              <a:rPr lang="en-US" sz="1900" dirty="0">
                <a:latin typeface="Calibri"/>
                <a:ea typeface="Calibri"/>
                <a:cs typeface="Calibri"/>
                <a:sym typeface="Calibri"/>
              </a:rPr>
              <a:t>Spatial distribution and depth of subsurface temperature loggers maintained in American Samoa.</a:t>
            </a:r>
            <a:endParaRPr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endParaRPr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en-US" sz="1900" dirty="0">
                <a:latin typeface="Calibri"/>
                <a:ea typeface="Calibri"/>
                <a:cs typeface="Calibri"/>
                <a:sym typeface="Calibri"/>
              </a:rPr>
              <a:t>Temperature data were collected using high-accuracy temperature loggers (Sea-Bird Scientific®, models: SBE39 and SBE56). For reporting, temperature sensor deployments were grouped by site, and temperature data from successive deployments at each site were concatenated. Raw data were averaged hourly, and gaps of longer than one hour in the time-series (due to instrument failure or battery death) were padded with null values. </a:t>
            </a:r>
            <a:endParaRPr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endParaRPr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endParaRPr sz="1900" dirty="0">
              <a:latin typeface="Calibri"/>
              <a:ea typeface="Calibri"/>
              <a:cs typeface="Calibri"/>
              <a:sym typeface="Calibri"/>
            </a:endParaRPr>
          </a:p>
        </p:txBody>
      </p:sp>
      <p:pic>
        <p:nvPicPr>
          <p:cNvPr id="141" name="Google Shape;141;g8c85f6f7a6_0_19" descr="Spatial distribution and depth of subsurface temperature loggers maintained in American Samoa." title="Figure 2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0" y="0"/>
            <a:ext cx="5296566"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8c85f6f7a6_0_29"/>
          <p:cNvSpPr txBox="1"/>
          <p:nvPr/>
        </p:nvSpPr>
        <p:spPr>
          <a:xfrm>
            <a:off x="10206897" y="6607900"/>
            <a:ext cx="19536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a:t>
            </a:r>
            <a:r>
              <a:rPr lang="en-US" sz="1200">
                <a:solidFill>
                  <a:schemeClr val="dk1"/>
                </a:solidFill>
                <a:latin typeface="Calibri"/>
                <a:ea typeface="Calibri"/>
                <a:cs typeface="Calibri"/>
                <a:sym typeface="Calibri"/>
              </a:rPr>
              <a:t> ESD Report 2019</a:t>
            </a:r>
            <a:endParaRPr sz="1900"/>
          </a:p>
        </p:txBody>
      </p:sp>
      <p:sp>
        <p:nvSpPr>
          <p:cNvPr id="148" name="Google Shape;148;g8c85f6f7a6_0_29"/>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49" name="Google Shape;149;g8c85f6f7a6_0_29"/>
          <p:cNvSpPr txBox="1"/>
          <p:nvPr/>
        </p:nvSpPr>
        <p:spPr>
          <a:xfrm>
            <a:off x="7952813" y="1299300"/>
            <a:ext cx="3484285" cy="7263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a:t>
            </a:r>
            <a:r>
              <a:rPr lang="en-US" sz="1900" b="1" i="0" u="none" strike="noStrike" cap="none" dirty="0">
                <a:solidFill>
                  <a:srgbClr val="974806"/>
                </a:solidFill>
                <a:latin typeface="Calibri"/>
                <a:ea typeface="Calibri"/>
                <a:cs typeface="Calibri"/>
                <a:sym typeface="Calibri"/>
              </a:rPr>
              <a:t>     </a:t>
            </a:r>
            <a:endParaRPr sz="1900" b="1" i="0" u="none" strike="noStrike" cap="none"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i="0" u="none" strike="noStrike" cap="none" dirty="0">
                <a:solidFill>
                  <a:srgbClr val="974806"/>
                </a:solidFill>
                <a:latin typeface="Calibri"/>
                <a:ea typeface="Calibri"/>
                <a:cs typeface="Calibri"/>
                <a:sym typeface="Calibri"/>
              </a:rPr>
              <a:t>Indicator: Water Temperature</a:t>
            </a:r>
            <a:endParaRPr sz="1900" b="1" i="0" u="none" strike="noStrike" cap="none" dirty="0">
              <a:solidFill>
                <a:srgbClr val="974806"/>
              </a:solidFill>
              <a:latin typeface="Calibri"/>
              <a:ea typeface="Calibri"/>
              <a:cs typeface="Calibri"/>
              <a:sym typeface="Calibri"/>
            </a:endParaRPr>
          </a:p>
        </p:txBody>
      </p:sp>
      <p:sp>
        <p:nvSpPr>
          <p:cNvPr id="150" name="Google Shape;150;g8c85f6f7a6_0_29"/>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151" name="Google Shape;151;g8c85f6f7a6_0_29"/>
          <p:cNvSpPr txBox="1"/>
          <p:nvPr/>
        </p:nvSpPr>
        <p:spPr>
          <a:xfrm>
            <a:off x="7678833" y="2105400"/>
            <a:ext cx="3998400" cy="3164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Clr>
                <a:schemeClr val="dk1"/>
              </a:buClr>
              <a:buSzPts val="1500"/>
              <a:buFont typeface="Arial"/>
              <a:buNone/>
            </a:pPr>
            <a:r>
              <a:rPr lang="en-US" sz="1900" dirty="0">
                <a:latin typeface="Calibri"/>
                <a:ea typeface="Calibri"/>
                <a:cs typeface="Calibri"/>
                <a:sym typeface="Calibri"/>
              </a:rPr>
              <a:t>Water temperature at 15 m depth between 2010 and 2018. </a:t>
            </a:r>
          </a:p>
          <a:p>
            <a:pPr marL="0" lvl="0" indent="0" algn="l" rtl="0">
              <a:spcBef>
                <a:spcPts val="0"/>
              </a:spcBef>
              <a:spcAft>
                <a:spcPts val="0"/>
              </a:spcAft>
              <a:buClr>
                <a:schemeClr val="dk1"/>
              </a:buClr>
              <a:buSzPts val="1500"/>
              <a:buFont typeface="Arial"/>
              <a:buNone/>
            </a:pPr>
            <a:endParaRPr lang="en-US"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en-US" sz="1900" dirty="0">
                <a:latin typeface="Calibri"/>
                <a:ea typeface="Calibri"/>
                <a:cs typeface="Calibri"/>
                <a:sym typeface="Calibri"/>
              </a:rPr>
              <a:t>CRAG dataloggers captured temperatures exceeding 34C during the 2105- 2016 thermal stress event.</a:t>
            </a:r>
          </a:p>
          <a:p>
            <a:pPr marL="0" lvl="0" indent="0" algn="l" rtl="0">
              <a:spcBef>
                <a:spcPts val="0"/>
              </a:spcBef>
              <a:spcAft>
                <a:spcPts val="0"/>
              </a:spcAft>
              <a:buClr>
                <a:schemeClr val="dk1"/>
              </a:buClr>
              <a:buSzPts val="1500"/>
              <a:buFont typeface="Arial"/>
              <a:buNone/>
            </a:pPr>
            <a:endParaRPr lang="en-US"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r>
              <a:rPr lang="en-US" sz="1600" dirty="0">
                <a:latin typeface="Calibri"/>
                <a:ea typeface="Calibri"/>
                <a:cs typeface="Calibri"/>
                <a:sym typeface="Calibri"/>
              </a:rPr>
              <a:t>Red lines: In-situ adjusted maximum monthly mean temperature (dashed); and in-situ adjusted bleaching threshold (solid); </a:t>
            </a:r>
          </a:p>
          <a:p>
            <a:pPr marL="0" lvl="0" indent="0" algn="l" rtl="0">
              <a:spcBef>
                <a:spcPts val="0"/>
              </a:spcBef>
              <a:spcAft>
                <a:spcPts val="0"/>
              </a:spcAft>
              <a:buClr>
                <a:schemeClr val="dk1"/>
              </a:buClr>
              <a:buSzPts val="1500"/>
              <a:buFont typeface="Arial"/>
              <a:buNone/>
            </a:pPr>
            <a:r>
              <a:rPr lang="en-US" sz="1600" dirty="0">
                <a:latin typeface="Calibri"/>
                <a:ea typeface="Calibri"/>
                <a:cs typeface="Calibri"/>
                <a:sym typeface="Calibri"/>
              </a:rPr>
              <a:t>bleaching threshold is defined as 1°C above the maximum monthly mean.</a:t>
            </a:r>
          </a:p>
          <a:p>
            <a:pPr>
              <a:buClr>
                <a:schemeClr val="dk1"/>
              </a:buClr>
              <a:buSzPts val="1500"/>
            </a:pPr>
            <a:r>
              <a:rPr lang="en-US" sz="1600" dirty="0">
                <a:latin typeface="Calibri"/>
                <a:ea typeface="Calibri"/>
                <a:cs typeface="Calibri"/>
                <a:sym typeface="Calibri"/>
              </a:rPr>
              <a:t>Red box: years where summer temperature was above bleaching threshold (2015 - 2017) </a:t>
            </a:r>
          </a:p>
          <a:p>
            <a:pPr marL="0" lvl="0" indent="0" algn="l" rtl="0">
              <a:spcBef>
                <a:spcPts val="0"/>
              </a:spcBef>
              <a:spcAft>
                <a:spcPts val="0"/>
              </a:spcAft>
              <a:buClr>
                <a:schemeClr val="dk1"/>
              </a:buClr>
              <a:buSzPts val="1500"/>
              <a:buFont typeface="Arial"/>
              <a:buNone/>
            </a:pPr>
            <a:endParaRPr sz="1900" dirty="0">
              <a:latin typeface="Calibri"/>
              <a:ea typeface="Calibri"/>
              <a:cs typeface="Calibri"/>
              <a:sym typeface="Calibri"/>
            </a:endParaRPr>
          </a:p>
          <a:p>
            <a:pPr marL="0" lvl="0" indent="0" algn="l" rtl="0">
              <a:spcBef>
                <a:spcPts val="0"/>
              </a:spcBef>
              <a:spcAft>
                <a:spcPts val="0"/>
              </a:spcAft>
              <a:buClr>
                <a:schemeClr val="dk1"/>
              </a:buClr>
              <a:buSzPts val="1500"/>
              <a:buFont typeface="Arial"/>
              <a:buNone/>
            </a:pPr>
            <a:endParaRPr sz="1900" dirty="0">
              <a:latin typeface="Calibri"/>
              <a:ea typeface="Calibri"/>
              <a:cs typeface="Calibri"/>
              <a:sym typeface="Calibri"/>
            </a:endParaRPr>
          </a:p>
          <a:p>
            <a:pPr marL="0" lvl="0" indent="0" algn="l" rtl="0">
              <a:spcBef>
                <a:spcPts val="0"/>
              </a:spcBef>
              <a:spcAft>
                <a:spcPts val="0"/>
              </a:spcAft>
              <a:buNone/>
            </a:pPr>
            <a:endParaRPr sz="1900" dirty="0">
              <a:latin typeface="Calibri"/>
              <a:ea typeface="Calibri"/>
              <a:cs typeface="Calibri"/>
              <a:sym typeface="Calibri"/>
            </a:endParaRPr>
          </a:p>
        </p:txBody>
      </p:sp>
      <p:pic>
        <p:nvPicPr>
          <p:cNvPr id="152" name="Google Shape;152;g8c85f6f7a6_0_2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0" y="1114833"/>
            <a:ext cx="7432365" cy="5743165"/>
          </a:xfrm>
          <a:prstGeom prst="rect">
            <a:avLst/>
          </a:prstGeom>
          <a:noFill/>
          <a:ln>
            <a:noFill/>
          </a:ln>
        </p:spPr>
      </p:pic>
      <p:sp>
        <p:nvSpPr>
          <p:cNvPr id="153" name="Google Shape;153;g8c85f6f7a6_0_29"/>
          <p:cNvSpPr/>
          <p:nvPr/>
        </p:nvSpPr>
        <p:spPr>
          <a:xfrm>
            <a:off x="4004733" y="1629400"/>
            <a:ext cx="1953600" cy="51345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4" name="Google Shape;154;g8c85f6f7a6_0_29"/>
          <p:cNvSpPr txBox="1"/>
          <p:nvPr/>
        </p:nvSpPr>
        <p:spPr>
          <a:xfrm>
            <a:off x="0" y="554833"/>
            <a:ext cx="1477500" cy="458400"/>
          </a:xfrm>
          <a:prstGeom prst="rect">
            <a:avLst/>
          </a:prstGeom>
          <a:solidFill>
            <a:srgbClr val="FFFFFF"/>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up to 2018</a:t>
            </a:r>
            <a:endParaRPr sz="1900" b="1">
              <a:solidFill>
                <a:srgbClr val="97480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90c137ff13_0_0"/>
          <p:cNvSpPr txBox="1"/>
          <p:nvPr/>
        </p:nvSpPr>
        <p:spPr>
          <a:xfrm>
            <a:off x="2755227" y="1245630"/>
            <a:ext cx="6681546" cy="41982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Shallow Habitats      </a:t>
            </a:r>
            <a:r>
              <a:rPr lang="en-US" sz="1900" b="1" i="0" u="none" strike="noStrike" cap="none" dirty="0">
                <a:solidFill>
                  <a:srgbClr val="974806"/>
                </a:solidFill>
                <a:latin typeface="Calibri"/>
                <a:ea typeface="Calibri"/>
                <a:cs typeface="Calibri"/>
                <a:sym typeface="Calibri"/>
              </a:rPr>
              <a:t>Indicator: Temperature</a:t>
            </a:r>
            <a:endParaRPr sz="1900" b="1" i="0" u="none" strike="noStrike" cap="none" dirty="0">
              <a:solidFill>
                <a:srgbClr val="974806"/>
              </a:solidFill>
              <a:latin typeface="Calibri"/>
              <a:ea typeface="Calibri"/>
              <a:cs typeface="Calibri"/>
              <a:sym typeface="Calibri"/>
            </a:endParaRPr>
          </a:p>
        </p:txBody>
      </p:sp>
      <p:sp>
        <p:nvSpPr>
          <p:cNvPr id="160" name="Google Shape;160;g90c137ff13_0_0"/>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161" name="Google Shape;161;g90c137ff13_0_0"/>
          <p:cNvPicPr preferRelativeResize="0"/>
          <p:nvPr/>
        </p:nvPicPr>
        <p:blipFill>
          <a:blip r:embed="rId3">
            <a:alphaModFix/>
          </a:blip>
          <a:stretch>
            <a:fillRect/>
          </a:stretch>
        </p:blipFill>
        <p:spPr>
          <a:xfrm>
            <a:off x="1861649" y="1828800"/>
            <a:ext cx="8429226" cy="4953000"/>
          </a:xfrm>
          <a:prstGeom prst="rect">
            <a:avLst/>
          </a:prstGeom>
          <a:noFill/>
          <a:ln>
            <a:noFill/>
          </a:ln>
        </p:spPr>
      </p:pic>
      <p:sp>
        <p:nvSpPr>
          <p:cNvPr id="162" name="Google Shape;162;g90c137ff13_0_0"/>
          <p:cNvSpPr txBox="1"/>
          <p:nvPr/>
        </p:nvSpPr>
        <p:spPr>
          <a:xfrm>
            <a:off x="10726524" y="6318025"/>
            <a:ext cx="25971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rgbClr val="000000"/>
                </a:solidFill>
                <a:latin typeface="Calibri"/>
                <a:ea typeface="Calibri"/>
                <a:cs typeface="Calibri"/>
                <a:sym typeface="Calibri"/>
              </a:rPr>
              <a:t>Source: </a:t>
            </a:r>
            <a:r>
              <a:rPr lang="en-US" sz="1200" dirty="0">
                <a:latin typeface="Calibri"/>
                <a:ea typeface="Calibri"/>
                <a:cs typeface="Calibri"/>
                <a:sym typeface="Calibri"/>
              </a:rPr>
              <a:t>CDIP </a:t>
            </a:r>
          </a:p>
          <a:p>
            <a:pPr marL="0" marR="0" lvl="0" indent="0" algn="l" rtl="0">
              <a:lnSpc>
                <a:spcPct val="100000"/>
              </a:lnSpc>
              <a:spcBef>
                <a:spcPts val="0"/>
              </a:spcBef>
              <a:spcAft>
                <a:spcPts val="0"/>
              </a:spcAft>
              <a:buNone/>
            </a:pPr>
            <a:r>
              <a:rPr lang="en-US" sz="1200" dirty="0">
                <a:latin typeface="Calibri"/>
                <a:ea typeface="Calibri"/>
                <a:cs typeface="Calibri"/>
                <a:sym typeface="Calibri"/>
              </a:rPr>
              <a:t>www.cdip.ucsd.edu</a:t>
            </a:r>
            <a:endParaRPr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9022edeff2_0_24"/>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69" name="Google Shape;169;g9022edeff2_0_24"/>
          <p:cNvSpPr txBox="1"/>
          <p:nvPr/>
        </p:nvSpPr>
        <p:spPr>
          <a:xfrm>
            <a:off x="8506400" y="1223000"/>
            <a:ext cx="3113700" cy="7263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Shallow Habitats</a:t>
            </a:r>
            <a:endParaRPr sz="1900" b="1" i="0" u="none" strike="noStrike" cap="none"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i="0" u="none" strike="noStrike" cap="none" dirty="0">
                <a:solidFill>
                  <a:srgbClr val="974806"/>
                </a:solidFill>
                <a:latin typeface="Calibri"/>
                <a:ea typeface="Calibri"/>
                <a:cs typeface="Calibri"/>
                <a:sym typeface="Calibri"/>
              </a:rPr>
              <a:t>Indicator: Temperature</a:t>
            </a:r>
            <a:endParaRPr sz="1900" b="1" i="0" u="none" strike="noStrike" cap="none" dirty="0">
              <a:solidFill>
                <a:srgbClr val="974806"/>
              </a:solidFill>
              <a:latin typeface="Calibri"/>
              <a:ea typeface="Calibri"/>
              <a:cs typeface="Calibri"/>
              <a:sym typeface="Calibri"/>
            </a:endParaRPr>
          </a:p>
        </p:txBody>
      </p:sp>
      <p:sp>
        <p:nvSpPr>
          <p:cNvPr id="170" name="Google Shape;170;g9022edeff2_0_24"/>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171" name="Google Shape;171;g9022edeff2_0_24"/>
          <p:cNvPicPr preferRelativeResize="0"/>
          <p:nvPr/>
        </p:nvPicPr>
        <p:blipFill>
          <a:blip r:embed="rId3">
            <a:alphaModFix/>
          </a:blip>
          <a:stretch>
            <a:fillRect/>
          </a:stretch>
        </p:blipFill>
        <p:spPr>
          <a:xfrm>
            <a:off x="866775" y="2015975"/>
            <a:ext cx="10178000" cy="4580100"/>
          </a:xfrm>
          <a:prstGeom prst="rect">
            <a:avLst/>
          </a:prstGeom>
          <a:noFill/>
          <a:ln>
            <a:noFill/>
          </a:ln>
        </p:spPr>
      </p:pic>
      <p:sp>
        <p:nvSpPr>
          <p:cNvPr id="172" name="Google Shape;172;g9022edeff2_0_24"/>
          <p:cNvSpPr txBox="1"/>
          <p:nvPr/>
        </p:nvSpPr>
        <p:spPr>
          <a:xfrm>
            <a:off x="8352052" y="6607900"/>
            <a:ext cx="38400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Calibri"/>
                <a:ea typeface="Calibri"/>
                <a:cs typeface="Calibri"/>
                <a:sym typeface="Calibri"/>
              </a:rPr>
              <a:t>Source: </a:t>
            </a:r>
            <a:r>
              <a:rPr lang="en-US" sz="1200">
                <a:latin typeface="Calibri"/>
                <a:ea typeface="Calibri"/>
                <a:cs typeface="Calibri"/>
                <a:sym typeface="Calibri"/>
              </a:rPr>
              <a:t>NOAA Pacific Marine Environmental Laboratory</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8c85f6f7a6_0_54"/>
          <p:cNvSpPr txBox="1"/>
          <p:nvPr/>
        </p:nvSpPr>
        <p:spPr>
          <a:xfrm>
            <a:off x="0" y="6550500"/>
            <a:ext cx="19536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a:t>
            </a:r>
            <a:r>
              <a:rPr lang="en-US" sz="1200">
                <a:solidFill>
                  <a:schemeClr val="dk1"/>
                </a:solidFill>
                <a:latin typeface="Calibri"/>
                <a:ea typeface="Calibri"/>
                <a:cs typeface="Calibri"/>
                <a:sym typeface="Calibri"/>
              </a:rPr>
              <a:t> NOAA</a:t>
            </a:r>
            <a:endParaRPr sz="1900"/>
          </a:p>
        </p:txBody>
      </p:sp>
      <p:sp>
        <p:nvSpPr>
          <p:cNvPr id="179" name="Google Shape;179;g8c85f6f7a6_0_54"/>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80" name="Google Shape;180;g8c85f6f7a6_0_54"/>
          <p:cNvSpPr txBox="1"/>
          <p:nvPr/>
        </p:nvSpPr>
        <p:spPr>
          <a:xfrm>
            <a:off x="8131790" y="1299200"/>
            <a:ext cx="3488310" cy="7263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a:t>
            </a:r>
            <a:r>
              <a:rPr lang="en-US" sz="1900" b="1" i="0" u="none" strike="noStrike" cap="none" dirty="0">
                <a:solidFill>
                  <a:srgbClr val="974806"/>
                </a:solidFill>
                <a:latin typeface="Calibri"/>
                <a:ea typeface="Calibri"/>
                <a:cs typeface="Calibri"/>
                <a:sym typeface="Calibri"/>
              </a:rPr>
              <a:t>     </a:t>
            </a:r>
            <a:endParaRPr sz="1900" b="1" i="0" u="none" strike="noStrike" cap="none"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i="0" u="none" strike="noStrike" cap="none" dirty="0">
                <a:solidFill>
                  <a:srgbClr val="974806"/>
                </a:solidFill>
                <a:latin typeface="Calibri"/>
                <a:ea typeface="Calibri"/>
                <a:cs typeface="Calibri"/>
                <a:sym typeface="Calibri"/>
              </a:rPr>
              <a:t>Indicator: Water Temperature</a:t>
            </a:r>
            <a:endParaRPr sz="1900" b="1" i="0" u="none" strike="noStrike" cap="none" dirty="0">
              <a:solidFill>
                <a:srgbClr val="974806"/>
              </a:solidFill>
              <a:latin typeface="Calibri"/>
              <a:ea typeface="Calibri"/>
              <a:cs typeface="Calibri"/>
              <a:sym typeface="Calibri"/>
            </a:endParaRPr>
          </a:p>
        </p:txBody>
      </p:sp>
      <p:sp>
        <p:nvSpPr>
          <p:cNvPr id="181" name="Google Shape;181;g8c85f6f7a6_0_54"/>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182" name="Google Shape;182;g8c85f6f7a6_0_54"/>
          <p:cNvSpPr txBox="1"/>
          <p:nvPr/>
        </p:nvSpPr>
        <p:spPr>
          <a:xfrm>
            <a:off x="112000" y="4680300"/>
            <a:ext cx="4060500" cy="21015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900" b="1" dirty="0">
                <a:latin typeface="Calibri"/>
                <a:ea typeface="Calibri"/>
                <a:cs typeface="Calibri"/>
                <a:sym typeface="Calibri"/>
              </a:rPr>
              <a:t>2015:  </a:t>
            </a:r>
            <a:r>
              <a:rPr lang="en-US" sz="1900" dirty="0">
                <a:latin typeface="Calibri"/>
                <a:ea typeface="Calibri"/>
                <a:cs typeface="Calibri"/>
                <a:sym typeface="Calibri"/>
              </a:rPr>
              <a:t>NOAA recorded increased bleaching in February at the </a:t>
            </a:r>
            <a:r>
              <a:rPr lang="en-US" sz="1900" b="1" dirty="0">
                <a:latin typeface="Calibri"/>
                <a:ea typeface="Calibri"/>
                <a:cs typeface="Calibri"/>
                <a:sym typeface="Calibri"/>
              </a:rPr>
              <a:t>beginning </a:t>
            </a:r>
            <a:r>
              <a:rPr lang="en-US" sz="1900" dirty="0">
                <a:latin typeface="Calibri"/>
                <a:ea typeface="Calibri"/>
                <a:cs typeface="Calibri"/>
                <a:sym typeface="Calibri"/>
              </a:rPr>
              <a:t>of the bleaching season:</a:t>
            </a:r>
            <a:endParaRPr sz="1900" dirty="0">
              <a:latin typeface="Calibri"/>
              <a:ea typeface="Calibri"/>
              <a:cs typeface="Calibri"/>
              <a:sym typeface="Calibri"/>
            </a:endParaRPr>
          </a:p>
          <a:p>
            <a:pPr marL="0" lvl="0" indent="0" algn="l" rtl="0">
              <a:spcBef>
                <a:spcPts val="0"/>
              </a:spcBef>
              <a:spcAft>
                <a:spcPts val="0"/>
              </a:spcAft>
              <a:buNone/>
            </a:pPr>
            <a:r>
              <a:rPr lang="en-US" sz="1900" b="1" dirty="0">
                <a:latin typeface="Calibri"/>
                <a:ea typeface="Calibri"/>
                <a:cs typeface="Calibri"/>
                <a:sym typeface="Calibri"/>
              </a:rPr>
              <a:t>   Fagatele: 25%</a:t>
            </a:r>
            <a:endParaRPr sz="1900" b="1" dirty="0">
              <a:latin typeface="Calibri"/>
              <a:ea typeface="Calibri"/>
              <a:cs typeface="Calibri"/>
              <a:sym typeface="Calibri"/>
            </a:endParaRPr>
          </a:p>
          <a:p>
            <a:pPr marL="0" lvl="0" indent="0" algn="l" rtl="0">
              <a:spcBef>
                <a:spcPts val="0"/>
              </a:spcBef>
              <a:spcAft>
                <a:spcPts val="0"/>
              </a:spcAft>
              <a:buNone/>
            </a:pPr>
            <a:r>
              <a:rPr lang="en-US" sz="1900" b="1" dirty="0">
                <a:latin typeface="Calibri"/>
                <a:ea typeface="Calibri"/>
                <a:cs typeface="Calibri"/>
                <a:sym typeface="Calibri"/>
              </a:rPr>
              <a:t>   Rose: 2.3%</a:t>
            </a:r>
            <a:endParaRPr sz="1900" b="1" dirty="0">
              <a:latin typeface="Calibri"/>
              <a:ea typeface="Calibri"/>
              <a:cs typeface="Calibri"/>
              <a:sym typeface="Calibri"/>
            </a:endParaRPr>
          </a:p>
          <a:p>
            <a:pPr marL="0" lvl="0" indent="0" algn="l" rtl="0">
              <a:spcBef>
                <a:spcPts val="0"/>
              </a:spcBef>
              <a:spcAft>
                <a:spcPts val="0"/>
              </a:spcAft>
              <a:buNone/>
            </a:pPr>
            <a:r>
              <a:rPr lang="en-US" sz="1900" b="1" dirty="0">
                <a:latin typeface="Calibri"/>
                <a:ea typeface="Calibri"/>
                <a:cs typeface="Calibri"/>
                <a:sym typeface="Calibri"/>
              </a:rPr>
              <a:t>   Swains: 5.9%</a:t>
            </a:r>
            <a:endParaRPr sz="1900" b="1" dirty="0">
              <a:latin typeface="Calibri"/>
              <a:ea typeface="Calibri"/>
              <a:cs typeface="Calibri"/>
              <a:sym typeface="Calibri"/>
            </a:endParaRPr>
          </a:p>
        </p:txBody>
      </p:sp>
      <p:grpSp>
        <p:nvGrpSpPr>
          <p:cNvPr id="183" name="Google Shape;183;g8c85f6f7a6_0_54"/>
          <p:cNvGrpSpPr/>
          <p:nvPr/>
        </p:nvGrpSpPr>
        <p:grpSpPr>
          <a:xfrm>
            <a:off x="161409" y="1718940"/>
            <a:ext cx="3898803" cy="2993335"/>
            <a:chOff x="241775" y="1464892"/>
            <a:chExt cx="2924175" cy="2245058"/>
          </a:xfrm>
        </p:grpSpPr>
        <p:pic>
          <p:nvPicPr>
            <p:cNvPr id="184" name="Google Shape;184;g8c85f6f7a6_0_54"/>
            <p:cNvPicPr preferRelativeResize="0"/>
            <p:nvPr/>
          </p:nvPicPr>
          <p:blipFill>
            <a:blip r:embed="rId3">
              <a:alphaModFix/>
            </a:blip>
            <a:stretch>
              <a:fillRect/>
            </a:stretch>
          </p:blipFill>
          <p:spPr>
            <a:xfrm>
              <a:off x="241775" y="1519200"/>
              <a:ext cx="2924175" cy="2190750"/>
            </a:xfrm>
            <a:prstGeom prst="rect">
              <a:avLst/>
            </a:prstGeom>
            <a:noFill/>
            <a:ln>
              <a:noFill/>
            </a:ln>
          </p:spPr>
        </p:pic>
        <p:sp>
          <p:nvSpPr>
            <p:cNvPr id="185" name="Google Shape;185;g8c85f6f7a6_0_54"/>
            <p:cNvSpPr txBox="1"/>
            <p:nvPr/>
          </p:nvSpPr>
          <p:spPr>
            <a:xfrm>
              <a:off x="241812" y="1464892"/>
              <a:ext cx="2924100" cy="2307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300" dirty="0">
                  <a:solidFill>
                    <a:srgbClr val="FFFFFF"/>
                  </a:solidFill>
                  <a:latin typeface="Calibri"/>
                  <a:ea typeface="Calibri"/>
                  <a:cs typeface="Calibri"/>
                  <a:sym typeface="Calibri"/>
                </a:rPr>
                <a:t>Photo credit NOAA (ASRAMP cruise 2015)</a:t>
              </a:r>
              <a:endParaRPr sz="1300" dirty="0">
                <a:solidFill>
                  <a:srgbClr val="FFFFFF"/>
                </a:solidFill>
                <a:latin typeface="Calibri"/>
                <a:ea typeface="Calibri"/>
                <a:cs typeface="Calibri"/>
                <a:sym typeface="Calibri"/>
              </a:endParaRPr>
            </a:p>
          </p:txBody>
        </p:sp>
      </p:grpSp>
      <p:sp>
        <p:nvSpPr>
          <p:cNvPr id="186" name="Google Shape;186;g8c85f6f7a6_0_54"/>
          <p:cNvSpPr txBox="1"/>
          <p:nvPr/>
        </p:nvSpPr>
        <p:spPr>
          <a:xfrm>
            <a:off x="4624700" y="5860300"/>
            <a:ext cx="7455300" cy="8520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900">
                <a:latin typeface="Calibri"/>
                <a:ea typeface="Calibri"/>
                <a:cs typeface="Calibri"/>
                <a:sym typeface="Calibri"/>
              </a:rPr>
              <a:t> CRAG carried out some subjective bleaching assessments in 2017 and documented ~10% of bleaching in AS.</a:t>
            </a:r>
            <a:endParaRPr sz="1900">
              <a:latin typeface="Calibri"/>
              <a:ea typeface="Calibri"/>
              <a:cs typeface="Calibri"/>
              <a:sym typeface="Calibri"/>
            </a:endParaRPr>
          </a:p>
        </p:txBody>
      </p:sp>
      <p:grpSp>
        <p:nvGrpSpPr>
          <p:cNvPr id="187" name="Google Shape;187;g8c85f6f7a6_0_54"/>
          <p:cNvGrpSpPr/>
          <p:nvPr/>
        </p:nvGrpSpPr>
        <p:grpSpPr>
          <a:xfrm>
            <a:off x="4624581" y="2105347"/>
            <a:ext cx="7455121" cy="3594705"/>
            <a:chOff x="3468523" y="1579050"/>
            <a:chExt cx="5591481" cy="2696096"/>
          </a:xfrm>
        </p:grpSpPr>
        <p:pic>
          <p:nvPicPr>
            <p:cNvPr id="188" name="Google Shape;188;g8c85f6f7a6_0_5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3468525" y="1579050"/>
              <a:ext cx="5591479" cy="2696096"/>
            </a:xfrm>
            <a:prstGeom prst="rect">
              <a:avLst/>
            </a:prstGeom>
            <a:noFill/>
            <a:ln>
              <a:noFill/>
            </a:ln>
          </p:spPr>
        </p:pic>
        <p:sp>
          <p:nvSpPr>
            <p:cNvPr id="189" name="Google Shape;189;g8c85f6f7a6_0_54"/>
            <p:cNvSpPr txBox="1"/>
            <p:nvPr/>
          </p:nvSpPr>
          <p:spPr>
            <a:xfrm>
              <a:off x="3468523" y="1579050"/>
              <a:ext cx="1465200" cy="2307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a:t>
              </a:r>
              <a:r>
                <a:rPr lang="en-US" sz="1200">
                  <a:solidFill>
                    <a:schemeClr val="dk1"/>
                  </a:solidFill>
                  <a:latin typeface="Calibri"/>
                  <a:ea typeface="Calibri"/>
                  <a:cs typeface="Calibri"/>
                  <a:sym typeface="Calibri"/>
                </a:rPr>
                <a:t> Catlin Seaview</a:t>
              </a:r>
              <a:endParaRPr sz="19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8c85f6f7a6_0_70"/>
          <p:cNvSpPr txBox="1"/>
          <p:nvPr/>
        </p:nvSpPr>
        <p:spPr>
          <a:xfrm>
            <a:off x="0" y="6467967"/>
            <a:ext cx="23913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a:t>
            </a:r>
            <a:r>
              <a:rPr lang="en-US" sz="1200">
                <a:solidFill>
                  <a:schemeClr val="dk1"/>
                </a:solidFill>
                <a:latin typeface="Calibri"/>
                <a:ea typeface="Calibri"/>
                <a:cs typeface="Calibri"/>
                <a:sym typeface="Calibri"/>
              </a:rPr>
              <a:t> NOAA (left) DMWR (right) </a:t>
            </a:r>
            <a:endParaRPr sz="1900"/>
          </a:p>
        </p:txBody>
      </p:sp>
      <p:sp>
        <p:nvSpPr>
          <p:cNvPr id="196" name="Google Shape;196;g8c85f6f7a6_0_70"/>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197" name="Google Shape;197;g8c85f6f7a6_0_70"/>
          <p:cNvSpPr txBox="1"/>
          <p:nvPr/>
        </p:nvSpPr>
        <p:spPr>
          <a:xfrm>
            <a:off x="3090283" y="1286724"/>
            <a:ext cx="6588000" cy="5184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a:t>
            </a:r>
            <a:r>
              <a:rPr lang="en-US" sz="1900" b="1" i="0" u="none" strike="noStrike" cap="none" dirty="0">
                <a:solidFill>
                  <a:srgbClr val="974806"/>
                </a:solidFill>
                <a:latin typeface="Calibri"/>
                <a:ea typeface="Calibri"/>
                <a:cs typeface="Calibri"/>
                <a:sym typeface="Calibri"/>
              </a:rPr>
              <a:t>     Indicator: Water Temperature</a:t>
            </a:r>
            <a:endParaRPr sz="1900" b="1" i="0" u="none" strike="noStrike" cap="none" dirty="0">
              <a:solidFill>
                <a:srgbClr val="974806"/>
              </a:solidFill>
              <a:latin typeface="Calibri"/>
              <a:ea typeface="Calibri"/>
              <a:cs typeface="Calibri"/>
              <a:sym typeface="Calibri"/>
            </a:endParaRPr>
          </a:p>
        </p:txBody>
      </p:sp>
      <p:sp>
        <p:nvSpPr>
          <p:cNvPr id="198" name="Google Shape;198;g8c85f6f7a6_0_70"/>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200" name="Google Shape;200;g8c85f6f7a6_0_70"/>
          <p:cNvPicPr preferRelativeResize="0"/>
          <p:nvPr/>
        </p:nvPicPr>
        <p:blipFill>
          <a:blip r:embed="rId3">
            <a:alphaModFix/>
          </a:blip>
          <a:stretch>
            <a:fillRect/>
          </a:stretch>
        </p:blipFill>
        <p:spPr>
          <a:xfrm>
            <a:off x="20361" y="3142341"/>
            <a:ext cx="4114799" cy="3195609"/>
          </a:xfrm>
          <a:prstGeom prst="rect">
            <a:avLst/>
          </a:prstGeom>
          <a:noFill/>
          <a:ln>
            <a:noFill/>
          </a:ln>
        </p:spPr>
      </p:pic>
      <p:pic>
        <p:nvPicPr>
          <p:cNvPr id="203" name="Google Shape;203;g8c85f6f7a6_0_70"/>
          <p:cNvPicPr preferRelativeResize="0"/>
          <p:nvPr/>
        </p:nvPicPr>
        <p:blipFill rotWithShape="1">
          <a:blip r:embed="rId4" cstate="screen">
            <a:alphaModFix/>
            <a:extLst>
              <a:ext uri="{28A0092B-C50C-407E-A947-70E740481C1C}">
                <a14:useLocalDpi xmlns:a14="http://schemas.microsoft.com/office/drawing/2010/main"/>
              </a:ext>
            </a:extLst>
          </a:blip>
          <a:srcRect t="-1370"/>
          <a:stretch/>
        </p:blipFill>
        <p:spPr>
          <a:xfrm>
            <a:off x="8128328" y="3137550"/>
            <a:ext cx="4166156" cy="3200400"/>
          </a:xfrm>
          <a:prstGeom prst="rect">
            <a:avLst/>
          </a:prstGeom>
          <a:noFill/>
          <a:ln>
            <a:noFill/>
          </a:ln>
        </p:spPr>
      </p:pic>
      <p:sp>
        <p:nvSpPr>
          <p:cNvPr id="204" name="Google Shape;204;g8c85f6f7a6_0_70"/>
          <p:cNvSpPr txBox="1"/>
          <p:nvPr/>
        </p:nvSpPr>
        <p:spPr>
          <a:xfrm>
            <a:off x="9653487" y="3223428"/>
            <a:ext cx="1323942" cy="627238"/>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3200" b="1" dirty="0">
                <a:solidFill>
                  <a:srgbClr val="FFFFFF"/>
                </a:solidFill>
                <a:latin typeface="Calibri"/>
                <a:ea typeface="Calibri"/>
                <a:cs typeface="Calibri"/>
                <a:sym typeface="Calibri"/>
              </a:rPr>
              <a:t>2017</a:t>
            </a:r>
            <a:endParaRPr sz="3200" b="1" dirty="0">
              <a:solidFill>
                <a:srgbClr val="FFFFFF"/>
              </a:solidFill>
              <a:latin typeface="Calibri"/>
              <a:ea typeface="Calibri"/>
              <a:cs typeface="Calibri"/>
              <a:sym typeface="Calibri"/>
            </a:endParaRPr>
          </a:p>
        </p:txBody>
      </p:sp>
      <p:pic>
        <p:nvPicPr>
          <p:cNvPr id="205" name="Google Shape;205;g8c85f6f7a6_0_70"/>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8403899" y="7645059"/>
            <a:ext cx="3788101" cy="2527400"/>
          </a:xfrm>
          <a:prstGeom prst="rect">
            <a:avLst/>
          </a:prstGeom>
          <a:noFill/>
          <a:ln>
            <a:noFill/>
          </a:ln>
        </p:spPr>
      </p:pic>
      <p:sp>
        <p:nvSpPr>
          <p:cNvPr id="206" name="Google Shape;206;g8c85f6f7a6_0_70"/>
          <p:cNvSpPr txBox="1"/>
          <p:nvPr/>
        </p:nvSpPr>
        <p:spPr>
          <a:xfrm>
            <a:off x="2391300" y="1805124"/>
            <a:ext cx="7558612" cy="14937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2400" b="1" dirty="0">
                <a:latin typeface="Calibri"/>
                <a:ea typeface="Calibri"/>
                <a:cs typeface="Calibri"/>
                <a:sym typeface="Calibri"/>
              </a:rPr>
              <a:t>Swains Island</a:t>
            </a:r>
            <a:endParaRPr sz="2400" b="1" dirty="0">
              <a:latin typeface="Calibri"/>
              <a:ea typeface="Calibri"/>
              <a:cs typeface="Calibri"/>
              <a:sym typeface="Calibri"/>
            </a:endParaRPr>
          </a:p>
          <a:p>
            <a:pPr marL="0" lvl="0" indent="0" algn="ctr" rtl="0">
              <a:spcBef>
                <a:spcPts val="0"/>
              </a:spcBef>
              <a:spcAft>
                <a:spcPts val="0"/>
              </a:spcAft>
              <a:buNone/>
            </a:pPr>
            <a:r>
              <a:rPr lang="en-US" sz="2400" dirty="0">
                <a:latin typeface="Calibri"/>
                <a:ea typeface="Calibri"/>
                <a:cs typeface="Calibri"/>
                <a:sym typeface="Calibri"/>
              </a:rPr>
              <a:t> &gt;60% loss of </a:t>
            </a:r>
            <a:r>
              <a:rPr lang="en-US" sz="2400" i="1" dirty="0" err="1">
                <a:latin typeface="Calibri"/>
                <a:ea typeface="Calibri"/>
                <a:cs typeface="Calibri"/>
                <a:sym typeface="Calibri"/>
              </a:rPr>
              <a:t>Pocillopora</a:t>
            </a:r>
            <a:r>
              <a:rPr lang="en-US" sz="2400" dirty="0">
                <a:latin typeface="Calibri"/>
                <a:ea typeface="Calibri"/>
                <a:cs typeface="Calibri"/>
                <a:sym typeface="Calibri"/>
              </a:rPr>
              <a:t> colonies from 2015-2018</a:t>
            </a:r>
          </a:p>
          <a:p>
            <a:pPr marL="0" lvl="0" indent="0" algn="ctr" rtl="0">
              <a:spcBef>
                <a:spcPts val="0"/>
              </a:spcBef>
              <a:spcAft>
                <a:spcPts val="0"/>
              </a:spcAft>
              <a:buNone/>
            </a:pPr>
            <a:r>
              <a:rPr lang="en-US" dirty="0">
                <a:latin typeface="Calibri"/>
                <a:ea typeface="Calibri"/>
                <a:cs typeface="Calibri"/>
                <a:sym typeface="Calibri"/>
              </a:rPr>
              <a:t>Source: ESD 2019 </a:t>
            </a:r>
            <a:endParaRPr dirty="0">
              <a:latin typeface="Calibri"/>
              <a:ea typeface="Calibri"/>
              <a:cs typeface="Calibri"/>
              <a:sym typeface="Calibri"/>
            </a:endParaRPr>
          </a:p>
        </p:txBody>
      </p:sp>
      <p:grpSp>
        <p:nvGrpSpPr>
          <p:cNvPr id="207" name="Google Shape;207;g8c85f6f7a6_0_70"/>
          <p:cNvGrpSpPr>
            <a:grpSpLocks noChangeAspect="1"/>
          </p:cNvGrpSpPr>
          <p:nvPr/>
        </p:nvGrpSpPr>
        <p:grpSpPr>
          <a:xfrm>
            <a:off x="4302944" y="3183181"/>
            <a:ext cx="3794388" cy="2932419"/>
            <a:chOff x="5053175" y="1882725"/>
            <a:chExt cx="3260802" cy="2520048"/>
          </a:xfrm>
        </p:grpSpPr>
        <p:pic>
          <p:nvPicPr>
            <p:cNvPr id="208" name="Google Shape;208;g8c85f6f7a6_0_70"/>
            <p:cNvPicPr preferRelativeResize="0"/>
            <p:nvPr/>
          </p:nvPicPr>
          <p:blipFill>
            <a:blip r:embed="rId6">
              <a:alphaModFix/>
            </a:blip>
            <a:stretch>
              <a:fillRect/>
            </a:stretch>
          </p:blipFill>
          <p:spPr>
            <a:xfrm>
              <a:off x="5053175" y="1882725"/>
              <a:ext cx="3143250" cy="2105025"/>
            </a:xfrm>
            <a:prstGeom prst="rect">
              <a:avLst/>
            </a:prstGeom>
            <a:noFill/>
            <a:ln>
              <a:noFill/>
            </a:ln>
          </p:spPr>
        </p:pic>
        <p:sp>
          <p:nvSpPr>
            <p:cNvPr id="209" name="Google Shape;209;g8c85f6f7a6_0_70"/>
            <p:cNvSpPr txBox="1"/>
            <p:nvPr/>
          </p:nvSpPr>
          <p:spPr>
            <a:xfrm>
              <a:off x="5170877" y="3964173"/>
              <a:ext cx="3143100" cy="4386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300" dirty="0">
                  <a:solidFill>
                    <a:schemeClr val="tx1"/>
                  </a:solidFill>
                  <a:latin typeface="Calibri"/>
                  <a:ea typeface="Calibri"/>
                  <a:cs typeface="Calibri"/>
                  <a:sym typeface="Calibri"/>
                </a:rPr>
                <a:t>Bleached coral colonies on the reef slope at Swains island during February 2015. </a:t>
              </a:r>
            </a:p>
            <a:p>
              <a:pPr marL="0" lvl="0" indent="0" algn="l" rtl="0">
                <a:spcBef>
                  <a:spcPts val="0"/>
                </a:spcBef>
                <a:spcAft>
                  <a:spcPts val="0"/>
                </a:spcAft>
                <a:buNone/>
              </a:pPr>
              <a:r>
                <a:rPr lang="en-US" sz="1300" dirty="0">
                  <a:solidFill>
                    <a:schemeClr val="tx1"/>
                  </a:solidFill>
                  <a:latin typeface="Calibri"/>
                  <a:ea typeface="Calibri"/>
                  <a:cs typeface="Calibri"/>
                  <a:sym typeface="Calibri"/>
                </a:rPr>
                <a:t>Photo credit NOAA. </a:t>
              </a:r>
              <a:endParaRPr sz="1300" dirty="0">
                <a:solidFill>
                  <a:schemeClr val="tx1"/>
                </a:solidFill>
                <a:latin typeface="Calibri"/>
                <a:ea typeface="Calibri"/>
                <a:cs typeface="Calibri"/>
                <a:sym typeface="Calibri"/>
              </a:endParaRPr>
            </a:p>
          </p:txBody>
        </p:sp>
      </p:grpSp>
      <p:sp>
        <p:nvSpPr>
          <p:cNvPr id="210" name="Google Shape;210;g8c85f6f7a6_0_70"/>
          <p:cNvSpPr txBox="1"/>
          <p:nvPr/>
        </p:nvSpPr>
        <p:spPr>
          <a:xfrm>
            <a:off x="5545483" y="3621600"/>
            <a:ext cx="838800" cy="3075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900">
                <a:latin typeface="Calibri"/>
                <a:ea typeface="Calibri"/>
                <a:cs typeface="Calibri"/>
                <a:sym typeface="Calibri"/>
              </a:rPr>
              <a:t>2015</a:t>
            </a:r>
            <a:endParaRPr sz="1900">
              <a:latin typeface="Calibri"/>
              <a:ea typeface="Calibri"/>
              <a:cs typeface="Calibri"/>
              <a:sym typeface="Calibri"/>
            </a:endParaRPr>
          </a:p>
        </p:txBody>
      </p:sp>
      <p:sp>
        <p:nvSpPr>
          <p:cNvPr id="2" name="Google Shape;204;g8c85f6f7a6_0_70">
            <a:extLst>
              <a:ext uri="{FF2B5EF4-FFF2-40B4-BE49-F238E27FC236}">
                <a16:creationId xmlns:a16="http://schemas.microsoft.com/office/drawing/2014/main" id="{9B39A0C4-952C-42DB-BD85-492452442F11}"/>
              </a:ext>
            </a:extLst>
          </p:cNvPr>
          <p:cNvSpPr txBox="1"/>
          <p:nvPr/>
        </p:nvSpPr>
        <p:spPr>
          <a:xfrm>
            <a:off x="5469772" y="3229711"/>
            <a:ext cx="1323942" cy="627238"/>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3200" b="1" dirty="0">
                <a:solidFill>
                  <a:srgbClr val="FFFFFF"/>
                </a:solidFill>
                <a:latin typeface="Calibri"/>
                <a:ea typeface="Calibri"/>
                <a:cs typeface="Calibri"/>
                <a:sym typeface="Calibri"/>
              </a:rPr>
              <a:t>2015</a:t>
            </a:r>
            <a:endParaRPr sz="3200" b="1" dirty="0">
              <a:solidFill>
                <a:srgbClr val="FFFFFF"/>
              </a:solidFill>
              <a:latin typeface="Calibri"/>
              <a:ea typeface="Calibri"/>
              <a:cs typeface="Calibri"/>
              <a:sym typeface="Calibri"/>
            </a:endParaRPr>
          </a:p>
        </p:txBody>
      </p:sp>
      <p:sp>
        <p:nvSpPr>
          <p:cNvPr id="3" name="Google Shape;204;g8c85f6f7a6_0_70">
            <a:extLst>
              <a:ext uri="{FF2B5EF4-FFF2-40B4-BE49-F238E27FC236}">
                <a16:creationId xmlns:a16="http://schemas.microsoft.com/office/drawing/2014/main" id="{C4140D3D-CEDB-4E82-B282-FFFCC52804EF}"/>
              </a:ext>
            </a:extLst>
          </p:cNvPr>
          <p:cNvSpPr txBox="1"/>
          <p:nvPr/>
        </p:nvSpPr>
        <p:spPr>
          <a:xfrm>
            <a:off x="1460507" y="3223428"/>
            <a:ext cx="1323942" cy="627238"/>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3200" b="1" dirty="0">
                <a:solidFill>
                  <a:srgbClr val="FFFFFF"/>
                </a:solidFill>
                <a:latin typeface="Calibri"/>
                <a:ea typeface="Calibri"/>
                <a:cs typeface="Calibri"/>
                <a:sym typeface="Calibri"/>
              </a:rPr>
              <a:t>2010</a:t>
            </a:r>
            <a:endParaRPr sz="3200" b="1" dirty="0">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215"/>
        <p:cNvGrpSpPr/>
        <p:nvPr/>
      </p:nvGrpSpPr>
      <p:grpSpPr>
        <a:xfrm>
          <a:off x="0" y="0"/>
          <a:ext cx="0" cy="0"/>
          <a:chOff x="0" y="0"/>
          <a:chExt cx="0" cy="0"/>
        </a:xfrm>
      </p:grpSpPr>
      <p:sp>
        <p:nvSpPr>
          <p:cNvPr id="216" name="Google Shape;216;g824a699b75_0_135"/>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17" name="Google Shape;217;g824a699b75_0_135"/>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218" name="Google Shape;218;g824a699b75_0_135"/>
          <p:cNvSpPr txBox="1"/>
          <p:nvPr/>
        </p:nvSpPr>
        <p:spPr>
          <a:xfrm>
            <a:off x="18433" y="1744367"/>
            <a:ext cx="6231900" cy="32223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6400" dirty="0">
                <a:latin typeface="Comic Sans MS"/>
                <a:ea typeface="Comic Sans MS"/>
                <a:cs typeface="Comic Sans MS"/>
                <a:sym typeface="Comic Sans MS"/>
              </a:rPr>
              <a:t>Habitat: </a:t>
            </a:r>
            <a:endParaRPr sz="6400" dirty="0">
              <a:latin typeface="Comic Sans MS"/>
              <a:ea typeface="Comic Sans MS"/>
              <a:cs typeface="Comic Sans MS"/>
              <a:sym typeface="Comic Sans MS"/>
            </a:endParaRPr>
          </a:p>
          <a:p>
            <a:pPr marL="0" lvl="0" indent="0" algn="ctr" rtl="0">
              <a:spcBef>
                <a:spcPts val="0"/>
              </a:spcBef>
              <a:spcAft>
                <a:spcPts val="0"/>
              </a:spcAft>
              <a:buNone/>
            </a:pPr>
            <a:r>
              <a:rPr lang="en-US" sz="3600" dirty="0">
                <a:latin typeface="Comic Sans MS"/>
                <a:ea typeface="Comic Sans MS"/>
                <a:cs typeface="Comic Sans MS"/>
                <a:sym typeface="Comic Sans MS"/>
              </a:rPr>
              <a:t>All Shallow Habitats:</a:t>
            </a:r>
          </a:p>
          <a:p>
            <a:pPr marL="0" lvl="0" indent="0" algn="ctr" rtl="0">
              <a:spcBef>
                <a:spcPts val="0"/>
              </a:spcBef>
              <a:spcAft>
                <a:spcPts val="0"/>
              </a:spcAft>
              <a:buNone/>
            </a:pPr>
            <a:r>
              <a:rPr lang="en-US" sz="3200" dirty="0">
                <a:latin typeface="Comic Sans MS"/>
                <a:ea typeface="Comic Sans MS"/>
                <a:cs typeface="Comic Sans MS"/>
                <a:sym typeface="Comic Sans MS"/>
              </a:rPr>
              <a:t>Rocky Shores, Sandy Shores and Reef Flat, Shallow Coral Reef, Mesophotic Coral Reef, Upper Pelagic</a:t>
            </a:r>
          </a:p>
        </p:txBody>
      </p:sp>
      <p:pic>
        <p:nvPicPr>
          <p:cNvPr id="219" name="Google Shape;219;g824a699b75_0_135"/>
          <p:cNvPicPr preferRelativeResize="0"/>
          <p:nvPr/>
        </p:nvPicPr>
        <p:blipFill>
          <a:blip r:embed="rId3">
            <a:alphaModFix/>
          </a:blip>
          <a:stretch>
            <a:fillRect/>
          </a:stretch>
        </p:blipFill>
        <p:spPr>
          <a:xfrm>
            <a:off x="6250325" y="1747575"/>
            <a:ext cx="5941674" cy="3698125"/>
          </a:xfrm>
          <a:prstGeom prst="rect">
            <a:avLst/>
          </a:prstGeom>
          <a:noFill/>
          <a:ln>
            <a:noFill/>
          </a:ln>
        </p:spPr>
      </p:pic>
      <p:sp>
        <p:nvSpPr>
          <p:cNvPr id="220" name="Google Shape;220;g824a699b75_0_135"/>
          <p:cNvSpPr txBox="1"/>
          <p:nvPr/>
        </p:nvSpPr>
        <p:spPr>
          <a:xfrm>
            <a:off x="232474" y="5618807"/>
            <a:ext cx="11747716" cy="13317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Clr>
                <a:schemeClr val="dk1"/>
              </a:buClr>
              <a:buSzPts val="1500"/>
              <a:buFont typeface="Arial"/>
              <a:buNone/>
            </a:pPr>
            <a:r>
              <a:rPr lang="en-US" sz="6000" dirty="0">
                <a:solidFill>
                  <a:schemeClr val="dk1"/>
                </a:solidFill>
                <a:latin typeface="Comic Sans MS"/>
                <a:ea typeface="Comic Sans MS"/>
                <a:cs typeface="Comic Sans MS"/>
                <a:sym typeface="Comic Sans MS"/>
              </a:rPr>
              <a:t>Indicator: Ocean Acidification</a:t>
            </a:r>
            <a:endParaRPr sz="6000" dirty="0">
              <a:solidFill>
                <a:schemeClr val="dk1"/>
              </a:solidFill>
              <a:latin typeface="Comic Sans MS"/>
              <a:ea typeface="Comic Sans MS"/>
              <a:cs typeface="Comic Sans MS"/>
              <a:sym typeface="Comic Sans MS"/>
            </a:endParaRPr>
          </a:p>
          <a:p>
            <a:pPr marL="0" lvl="0" indent="0" algn="l" rtl="0">
              <a:spcBef>
                <a:spcPts val="0"/>
              </a:spcBef>
              <a:spcAft>
                <a:spcPts val="0"/>
              </a:spcAft>
              <a:buNone/>
            </a:pPr>
            <a:endParaRPr sz="1900" dirty="0">
              <a:latin typeface="Calibri"/>
              <a:ea typeface="Calibri"/>
              <a:cs typeface="Calibri"/>
              <a:sym typeface="Calibri"/>
            </a:endParaRPr>
          </a:p>
        </p:txBody>
      </p:sp>
      <p:sp>
        <p:nvSpPr>
          <p:cNvPr id="221" name="Google Shape;221;g824a699b75_0_135"/>
          <p:cNvSpPr txBox="1"/>
          <p:nvPr/>
        </p:nvSpPr>
        <p:spPr>
          <a:xfrm>
            <a:off x="11058796" y="5413367"/>
            <a:ext cx="11331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a:t>
            </a:r>
            <a:r>
              <a:rPr lang="en-US" sz="1200">
                <a:solidFill>
                  <a:schemeClr val="dk1"/>
                </a:solidFill>
                <a:latin typeface="Calibri"/>
                <a:ea typeface="Calibri"/>
                <a:cs typeface="Calibri"/>
                <a:sym typeface="Calibri"/>
              </a:rPr>
              <a:t> NOAA</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g8c85f6f7a6_0_135"/>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29" name="Google Shape;229;g8c85f6f7a6_0_135"/>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231" name="Google Shape;231;g8c85f6f7a6_0_135"/>
          <p:cNvSpPr txBox="1"/>
          <p:nvPr/>
        </p:nvSpPr>
        <p:spPr>
          <a:xfrm>
            <a:off x="2984484" y="1313929"/>
            <a:ext cx="6223032" cy="329342"/>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Shallow Habitats    Indicator: Atmospheric CO2</a:t>
            </a:r>
            <a:r>
              <a:rPr lang="en-US" sz="1900" b="1" i="0" u="none" strike="noStrike" cap="none" dirty="0">
                <a:solidFill>
                  <a:srgbClr val="974806"/>
                </a:solidFill>
                <a:latin typeface="Calibri"/>
                <a:ea typeface="Calibri"/>
                <a:cs typeface="Calibri"/>
                <a:sym typeface="Calibri"/>
              </a:rPr>
              <a:t>  </a:t>
            </a:r>
            <a:endParaRPr sz="1900" b="1" i="0" u="none" strike="noStrike" cap="none" dirty="0">
              <a:solidFill>
                <a:srgbClr val="974806"/>
              </a:solidFill>
              <a:latin typeface="Calibri"/>
              <a:ea typeface="Calibri"/>
              <a:cs typeface="Calibri"/>
              <a:sym typeface="Calibri"/>
            </a:endParaRPr>
          </a:p>
        </p:txBody>
      </p:sp>
      <p:pic>
        <p:nvPicPr>
          <p:cNvPr id="3" name="Picture 2" descr="A close up of a map&#10;&#10;Description automatically generated">
            <a:extLst>
              <a:ext uri="{FF2B5EF4-FFF2-40B4-BE49-F238E27FC236}">
                <a16:creationId xmlns:a16="http://schemas.microsoft.com/office/drawing/2014/main" id="{35399E28-76D0-488D-8DB8-7EEECB3ACD1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871"/>
          <a:stretch/>
        </p:blipFill>
        <p:spPr>
          <a:xfrm>
            <a:off x="2621280" y="1795532"/>
            <a:ext cx="6949440" cy="5062468"/>
          </a:xfrm>
          <a:prstGeom prst="rect">
            <a:avLst/>
          </a:prstGeom>
        </p:spPr>
      </p:pic>
      <p:sp>
        <p:nvSpPr>
          <p:cNvPr id="4" name="Google Shape;227;g8c85f6f7a6_0_135">
            <a:extLst>
              <a:ext uri="{FF2B5EF4-FFF2-40B4-BE49-F238E27FC236}">
                <a16:creationId xmlns:a16="http://schemas.microsoft.com/office/drawing/2014/main" id="{3518C5E9-367D-49D3-B1F2-EF42EF80FE8D}"/>
              </a:ext>
            </a:extLst>
          </p:cNvPr>
          <p:cNvSpPr txBox="1"/>
          <p:nvPr/>
        </p:nvSpPr>
        <p:spPr>
          <a:xfrm>
            <a:off x="9277166" y="6550500"/>
            <a:ext cx="46320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 </a:t>
            </a:r>
            <a:r>
              <a:rPr lang="en-US" sz="1200" dirty="0">
                <a:solidFill>
                  <a:schemeClr val="dk1"/>
                </a:solidFill>
                <a:latin typeface="Calibri"/>
                <a:ea typeface="Calibri"/>
                <a:cs typeface="Calibri"/>
                <a:sym typeface="Calibri"/>
              </a:rPr>
              <a:t>NOAA Global Monitoring Laboratory</a:t>
            </a:r>
            <a:endParaRPr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8c85f6f7a6_0_135"/>
          <p:cNvSpPr txBox="1"/>
          <p:nvPr/>
        </p:nvSpPr>
        <p:spPr>
          <a:xfrm>
            <a:off x="4389661" y="6607890"/>
            <a:ext cx="46320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 </a:t>
            </a:r>
            <a:r>
              <a:rPr lang="en-US" sz="1200" dirty="0">
                <a:solidFill>
                  <a:schemeClr val="dk1"/>
                </a:solidFill>
                <a:latin typeface="Calibri"/>
                <a:ea typeface="Calibri"/>
                <a:cs typeface="Calibri"/>
                <a:sym typeface="Calibri"/>
              </a:rPr>
              <a:t>https://www.pmel.noaa.gov/co2/story/Fagatele+Bay</a:t>
            </a:r>
            <a:endParaRPr sz="1900" dirty="0"/>
          </a:p>
        </p:txBody>
      </p:sp>
      <p:sp>
        <p:nvSpPr>
          <p:cNvPr id="228" name="Google Shape;228;g8c85f6f7a6_0_135"/>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29" name="Google Shape;229;g8c85f6f7a6_0_135"/>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230" name="Google Shape;230;g8c85f6f7a6_0_135"/>
          <p:cNvPicPr preferRelativeResize="0"/>
          <p:nvPr/>
        </p:nvPicPr>
        <p:blipFill>
          <a:blip r:embed="rId3">
            <a:alphaModFix/>
          </a:blip>
          <a:stretch>
            <a:fillRect/>
          </a:stretch>
        </p:blipFill>
        <p:spPr>
          <a:xfrm>
            <a:off x="1447800" y="1781900"/>
            <a:ext cx="8958799" cy="4747500"/>
          </a:xfrm>
          <a:prstGeom prst="rect">
            <a:avLst/>
          </a:prstGeom>
          <a:noFill/>
          <a:ln>
            <a:noFill/>
          </a:ln>
        </p:spPr>
      </p:pic>
      <p:sp>
        <p:nvSpPr>
          <p:cNvPr id="231" name="Google Shape;231;g8c85f6f7a6_0_135"/>
          <p:cNvSpPr txBox="1"/>
          <p:nvPr/>
        </p:nvSpPr>
        <p:spPr>
          <a:xfrm>
            <a:off x="8728676" y="1228837"/>
            <a:ext cx="3355845" cy="7185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      </a:t>
            </a:r>
            <a:endParaRPr sz="1900" b="1"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Indicator: CO2 Air &amp; Seawater</a:t>
            </a:r>
            <a:r>
              <a:rPr lang="en-US" sz="1900" b="1" i="0" u="none" strike="noStrike" cap="none" dirty="0">
                <a:solidFill>
                  <a:srgbClr val="974806"/>
                </a:solidFill>
                <a:latin typeface="Calibri"/>
                <a:ea typeface="Calibri"/>
                <a:cs typeface="Calibri"/>
                <a:sym typeface="Calibri"/>
              </a:rPr>
              <a:t>  </a:t>
            </a:r>
            <a:endParaRPr sz="1900" b="1" i="0" u="none" strike="noStrike" cap="none" dirty="0">
              <a:solidFill>
                <a:srgbClr val="974806"/>
              </a:solidFill>
              <a:latin typeface="Calibri"/>
              <a:ea typeface="Calibri"/>
              <a:cs typeface="Calibri"/>
              <a:sym typeface="Calibri"/>
            </a:endParaRPr>
          </a:p>
        </p:txBody>
      </p:sp>
    </p:spTree>
    <p:extLst>
      <p:ext uri="{BB962C8B-B14F-4D97-AF65-F5344CB8AC3E}">
        <p14:creationId xmlns:p14="http://schemas.microsoft.com/office/powerpoint/2010/main" val="431259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9022edeff2_0_2"/>
          <p:cNvPicPr preferRelativeResize="0"/>
          <p:nvPr/>
        </p:nvPicPr>
        <p:blipFill>
          <a:blip r:embed="rId3">
            <a:alphaModFix/>
          </a:blip>
          <a:stretch>
            <a:fillRect/>
          </a:stretch>
        </p:blipFill>
        <p:spPr>
          <a:xfrm>
            <a:off x="1708800" y="1937838"/>
            <a:ext cx="8368676" cy="4361726"/>
          </a:xfrm>
          <a:prstGeom prst="rect">
            <a:avLst/>
          </a:prstGeom>
          <a:noFill/>
          <a:ln>
            <a:noFill/>
          </a:ln>
        </p:spPr>
      </p:pic>
      <p:sp>
        <p:nvSpPr>
          <p:cNvPr id="238" name="Google Shape;238;g9022edeff2_0_2"/>
          <p:cNvSpPr txBox="1"/>
          <p:nvPr/>
        </p:nvSpPr>
        <p:spPr>
          <a:xfrm>
            <a:off x="4389661" y="6607890"/>
            <a:ext cx="46320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 </a:t>
            </a:r>
            <a:r>
              <a:rPr lang="en-US" sz="1200">
                <a:solidFill>
                  <a:schemeClr val="dk1"/>
                </a:solidFill>
                <a:latin typeface="Calibri"/>
                <a:ea typeface="Calibri"/>
                <a:cs typeface="Calibri"/>
                <a:sym typeface="Calibri"/>
              </a:rPr>
              <a:t>https://www.pmel.noaa.gov/co2/story/Fagatele+Bay</a:t>
            </a:r>
            <a:endParaRPr sz="1900"/>
          </a:p>
        </p:txBody>
      </p:sp>
      <p:sp>
        <p:nvSpPr>
          <p:cNvPr id="239" name="Google Shape;239;g9022edeff2_0_2"/>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40" name="Google Shape;240;g9022edeff2_0_2"/>
          <p:cNvSpPr txBox="1"/>
          <p:nvPr/>
        </p:nvSpPr>
        <p:spPr>
          <a:xfrm>
            <a:off x="9717437" y="1270262"/>
            <a:ext cx="2325084" cy="7185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Habitat: Coral Reefs      </a:t>
            </a:r>
            <a:endParaRPr sz="1900" b="1">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Indicator: pH</a:t>
            </a:r>
            <a:r>
              <a:rPr lang="en-US" sz="1900" b="1" i="0" u="none" strike="noStrike" cap="none">
                <a:solidFill>
                  <a:srgbClr val="974806"/>
                </a:solidFill>
                <a:latin typeface="Calibri"/>
                <a:ea typeface="Calibri"/>
                <a:cs typeface="Calibri"/>
                <a:sym typeface="Calibri"/>
              </a:rPr>
              <a:t>  </a:t>
            </a:r>
            <a:endParaRPr sz="1900" b="1" i="0" u="none" strike="noStrike" cap="none">
              <a:solidFill>
                <a:srgbClr val="974806"/>
              </a:solidFill>
              <a:latin typeface="Calibri"/>
              <a:ea typeface="Calibri"/>
              <a:cs typeface="Calibri"/>
              <a:sym typeface="Calibri"/>
            </a:endParaRPr>
          </a:p>
        </p:txBody>
      </p:sp>
      <p:sp>
        <p:nvSpPr>
          <p:cNvPr id="241" name="Google Shape;241;g9022edeff2_0_2"/>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g8c85f6f7a6_0_135"/>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29" name="Google Shape;229;g8c85f6f7a6_0_135"/>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231" name="Google Shape;231;g8c85f6f7a6_0_135"/>
          <p:cNvSpPr txBox="1"/>
          <p:nvPr/>
        </p:nvSpPr>
        <p:spPr>
          <a:xfrm>
            <a:off x="2984484" y="1313929"/>
            <a:ext cx="6223032" cy="329342"/>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Shallow Habitats    Indicator: Atmospheric CO2</a:t>
            </a:r>
            <a:r>
              <a:rPr lang="en-US" sz="1900" b="1" i="0" u="none" strike="noStrike" cap="none" dirty="0">
                <a:solidFill>
                  <a:srgbClr val="974806"/>
                </a:solidFill>
                <a:latin typeface="Calibri"/>
                <a:ea typeface="Calibri"/>
                <a:cs typeface="Calibri"/>
                <a:sym typeface="Calibri"/>
              </a:rPr>
              <a:t>  </a:t>
            </a:r>
            <a:endParaRPr sz="1900" b="1" i="0" u="none" strike="noStrike" cap="none" dirty="0">
              <a:solidFill>
                <a:srgbClr val="974806"/>
              </a:solidFill>
              <a:latin typeface="Calibri"/>
              <a:ea typeface="Calibri"/>
              <a:cs typeface="Calibri"/>
              <a:sym typeface="Calibri"/>
            </a:endParaRPr>
          </a:p>
        </p:txBody>
      </p:sp>
      <p:pic>
        <p:nvPicPr>
          <p:cNvPr id="5" name="Picture 4" descr="A close up of a map&#10;&#10;Description automatically generated">
            <a:extLst>
              <a:ext uri="{FF2B5EF4-FFF2-40B4-BE49-F238E27FC236}">
                <a16:creationId xmlns:a16="http://schemas.microsoft.com/office/drawing/2014/main" id="{99A97DCB-FA41-4D32-8988-55C476C6E4B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5054" y="1737700"/>
            <a:ext cx="6713717" cy="5066028"/>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8C5EE657-3564-4192-A79E-0982A85939D7}"/>
              </a:ext>
            </a:extLst>
          </p:cNvPr>
          <p:cNvPicPr>
            <a:picLocks noChangeAspect="1"/>
          </p:cNvPicPr>
          <p:nvPr/>
        </p:nvPicPr>
        <p:blipFill>
          <a:blip r:embed="rId4"/>
          <a:stretch>
            <a:fillRect/>
          </a:stretch>
        </p:blipFill>
        <p:spPr>
          <a:xfrm>
            <a:off x="6520988" y="1964447"/>
            <a:ext cx="5387445" cy="4606265"/>
          </a:xfrm>
          <a:prstGeom prst="rect">
            <a:avLst/>
          </a:prstGeom>
        </p:spPr>
      </p:pic>
      <p:sp>
        <p:nvSpPr>
          <p:cNvPr id="10" name="TextBox 9">
            <a:extLst>
              <a:ext uri="{FF2B5EF4-FFF2-40B4-BE49-F238E27FC236}">
                <a16:creationId xmlns:a16="http://schemas.microsoft.com/office/drawing/2014/main" id="{05BEB39A-125B-4B73-BED4-C8A578067C59}"/>
              </a:ext>
            </a:extLst>
          </p:cNvPr>
          <p:cNvSpPr txBox="1"/>
          <p:nvPr/>
        </p:nvSpPr>
        <p:spPr>
          <a:xfrm>
            <a:off x="7835153" y="1737700"/>
            <a:ext cx="3784947" cy="307777"/>
          </a:xfrm>
          <a:prstGeom prst="rect">
            <a:avLst/>
          </a:prstGeom>
          <a:noFill/>
        </p:spPr>
        <p:txBody>
          <a:bodyPr wrap="square" rtlCol="0">
            <a:spAutoFit/>
          </a:bodyPr>
          <a:lstStyle/>
          <a:p>
            <a:r>
              <a:rPr lang="en-US" dirty="0" err="1"/>
              <a:t>Deseasonalized</a:t>
            </a:r>
            <a:r>
              <a:rPr lang="en-US" dirty="0"/>
              <a:t> Surface Ocean pH Trends</a:t>
            </a:r>
          </a:p>
        </p:txBody>
      </p:sp>
      <p:sp>
        <p:nvSpPr>
          <p:cNvPr id="4" name="Google Shape;227;g8c85f6f7a6_0_135">
            <a:extLst>
              <a:ext uri="{FF2B5EF4-FFF2-40B4-BE49-F238E27FC236}">
                <a16:creationId xmlns:a16="http://schemas.microsoft.com/office/drawing/2014/main" id="{3518C5E9-367D-49D3-B1F2-EF42EF80FE8D}"/>
              </a:ext>
            </a:extLst>
          </p:cNvPr>
          <p:cNvSpPr txBox="1"/>
          <p:nvPr/>
        </p:nvSpPr>
        <p:spPr>
          <a:xfrm>
            <a:off x="10388789" y="6431755"/>
            <a:ext cx="4632000" cy="600635"/>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 </a:t>
            </a:r>
            <a:r>
              <a:rPr lang="en-US" sz="1200" dirty="0">
                <a:solidFill>
                  <a:schemeClr val="dk1"/>
                </a:solidFill>
                <a:latin typeface="Calibri"/>
                <a:ea typeface="Calibri"/>
                <a:cs typeface="Calibri"/>
                <a:sym typeface="Calibri"/>
              </a:rPr>
              <a:t>NOAA PMEL (left)</a:t>
            </a:r>
          </a:p>
          <a:p>
            <a:pPr marL="0" marR="0" lvl="0" indent="0" algn="l" rtl="0">
              <a:lnSpc>
                <a:spcPct val="100000"/>
              </a:lnSpc>
              <a:spcBef>
                <a:spcPts val="0"/>
              </a:spcBef>
              <a:spcAft>
                <a:spcPts val="0"/>
              </a:spcAft>
              <a:buNone/>
            </a:pPr>
            <a:r>
              <a:rPr lang="en-US" sz="1200" dirty="0">
                <a:solidFill>
                  <a:schemeClr val="dk1"/>
                </a:solidFill>
                <a:latin typeface="Calibri"/>
                <a:cs typeface="Calibri"/>
                <a:sym typeface="Calibri"/>
              </a:rPr>
              <a:t>WMO (right)</a:t>
            </a:r>
            <a:endParaRPr sz="1900" dirty="0"/>
          </a:p>
        </p:txBody>
      </p:sp>
    </p:spTree>
    <p:extLst>
      <p:ext uri="{BB962C8B-B14F-4D97-AF65-F5344CB8AC3E}">
        <p14:creationId xmlns:p14="http://schemas.microsoft.com/office/powerpoint/2010/main" val="1594297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8c85f6f7a6_0_115"/>
          <p:cNvSpPr txBox="1"/>
          <p:nvPr/>
        </p:nvSpPr>
        <p:spPr>
          <a:xfrm>
            <a:off x="10587263" y="6607900"/>
            <a:ext cx="1606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 </a:t>
            </a:r>
            <a:r>
              <a:rPr lang="en-US" sz="1200">
                <a:solidFill>
                  <a:schemeClr val="dk1"/>
                </a:solidFill>
                <a:latin typeface="Calibri"/>
                <a:ea typeface="Calibri"/>
                <a:cs typeface="Calibri"/>
                <a:sym typeface="Calibri"/>
              </a:rPr>
              <a:t>NOAA ESD</a:t>
            </a:r>
            <a:r>
              <a:rPr lang="en-US" sz="1200" b="0" i="0" u="none" strike="noStrike" cap="none">
                <a:solidFill>
                  <a:schemeClr val="dk1"/>
                </a:solidFill>
                <a:latin typeface="Calibri"/>
                <a:ea typeface="Calibri"/>
                <a:cs typeface="Calibri"/>
                <a:sym typeface="Calibri"/>
              </a:rPr>
              <a:t> </a:t>
            </a:r>
            <a:endParaRPr sz="1900"/>
          </a:p>
        </p:txBody>
      </p:sp>
      <p:sp>
        <p:nvSpPr>
          <p:cNvPr id="248" name="Google Shape;248;g8c85f6f7a6_0_115"/>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49" name="Google Shape;249;g8c85f6f7a6_0_115"/>
          <p:cNvSpPr txBox="1"/>
          <p:nvPr/>
        </p:nvSpPr>
        <p:spPr>
          <a:xfrm>
            <a:off x="8384600" y="1312200"/>
            <a:ext cx="2675100" cy="7863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Habitat: Coral Reefs      Indicator: pH</a:t>
            </a:r>
            <a:r>
              <a:rPr lang="en-US" sz="1900" b="1" i="0" u="none" strike="noStrike" cap="none">
                <a:solidFill>
                  <a:srgbClr val="974806"/>
                </a:solidFill>
                <a:latin typeface="Calibri"/>
                <a:ea typeface="Calibri"/>
                <a:cs typeface="Calibri"/>
                <a:sym typeface="Calibri"/>
              </a:rPr>
              <a:t>  </a:t>
            </a:r>
            <a:endParaRPr sz="1900" b="1" i="0" u="none" strike="noStrike" cap="none">
              <a:solidFill>
                <a:srgbClr val="974806"/>
              </a:solidFill>
              <a:latin typeface="Calibri"/>
              <a:ea typeface="Calibri"/>
              <a:cs typeface="Calibri"/>
              <a:sym typeface="Calibri"/>
            </a:endParaRPr>
          </a:p>
        </p:txBody>
      </p:sp>
      <p:sp>
        <p:nvSpPr>
          <p:cNvPr id="250" name="Google Shape;250;g8c85f6f7a6_0_115"/>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251" name="Google Shape;251;g8c85f6f7a6_0_115"/>
          <p:cNvSpPr txBox="1"/>
          <p:nvPr/>
        </p:nvSpPr>
        <p:spPr>
          <a:xfrm>
            <a:off x="6734300" y="3273933"/>
            <a:ext cx="5241900" cy="21507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900">
                <a:latin typeface="Calibri"/>
                <a:ea typeface="Calibri"/>
                <a:cs typeface="Calibri"/>
                <a:sym typeface="Calibri"/>
              </a:rPr>
              <a:t>The data at this point is not robust enough to detect temporal trends since 2010. However, there are some spatial differences. Notably, pH tends to be lower and more variable in Fagatele because the residence time of water is longer in the bay (Hannah Barkley, ESD).</a:t>
            </a:r>
            <a:endParaRPr sz="1900">
              <a:latin typeface="Calibri"/>
              <a:ea typeface="Calibri"/>
              <a:cs typeface="Calibri"/>
              <a:sym typeface="Calibri"/>
            </a:endParaRPr>
          </a:p>
        </p:txBody>
      </p:sp>
      <p:pic>
        <p:nvPicPr>
          <p:cNvPr id="252" name="Google Shape;252;g8c85f6f7a6_0_11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914400" y="1219401"/>
            <a:ext cx="5613696" cy="5613702"/>
          </a:xfrm>
          <a:prstGeom prst="rect">
            <a:avLst/>
          </a:prstGeom>
          <a:noFill/>
          <a:ln w="12700">
            <a:solidFill>
              <a:schemeClr val="tx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8c85f6f7a6_0_103"/>
          <p:cNvSpPr txBox="1"/>
          <p:nvPr/>
        </p:nvSpPr>
        <p:spPr>
          <a:xfrm>
            <a:off x="9874767" y="6550400"/>
            <a:ext cx="2311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 USEPA / WHOI 2016</a:t>
            </a:r>
            <a:endParaRPr sz="1900" dirty="0"/>
          </a:p>
        </p:txBody>
      </p:sp>
      <p:sp>
        <p:nvSpPr>
          <p:cNvPr id="259" name="Google Shape;259;g8c85f6f7a6_0_103"/>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60" name="Google Shape;260;g8c85f6f7a6_0_103"/>
          <p:cNvSpPr txBox="1"/>
          <p:nvPr/>
        </p:nvSpPr>
        <p:spPr>
          <a:xfrm>
            <a:off x="9742700" y="1291333"/>
            <a:ext cx="2363700" cy="6156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Habitat: Coral Reefs      Indicator: Aragonite</a:t>
            </a:r>
            <a:r>
              <a:rPr lang="en-US" sz="1900" b="1" i="0" u="none" strike="noStrike" cap="none">
                <a:solidFill>
                  <a:srgbClr val="974806"/>
                </a:solidFill>
                <a:latin typeface="Calibri"/>
                <a:ea typeface="Calibri"/>
                <a:cs typeface="Calibri"/>
                <a:sym typeface="Calibri"/>
              </a:rPr>
              <a:t>  </a:t>
            </a:r>
            <a:endParaRPr sz="1900" b="1" i="0" u="none" strike="noStrike" cap="none">
              <a:solidFill>
                <a:srgbClr val="974806"/>
              </a:solidFill>
              <a:latin typeface="Calibri"/>
              <a:ea typeface="Calibri"/>
              <a:cs typeface="Calibri"/>
              <a:sym typeface="Calibri"/>
            </a:endParaRPr>
          </a:p>
        </p:txBody>
      </p:sp>
      <p:sp>
        <p:nvSpPr>
          <p:cNvPr id="261" name="Google Shape;261;g8c85f6f7a6_0_103"/>
          <p:cNvSpPr txBox="1">
            <a:spLocks noGrp="1"/>
          </p:cNvSpPr>
          <p:nvPr>
            <p:ph type="title"/>
          </p:nvPr>
        </p:nvSpPr>
        <p:spPr>
          <a:xfrm>
            <a:off x="0" y="-127000"/>
            <a:ext cx="12192000" cy="12699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100" b="1" i="1" u="none" strike="noStrike" cap="none">
                <a:solidFill>
                  <a:srgbClr val="FFFFFF"/>
                </a:solidFill>
                <a:latin typeface="Calibri"/>
                <a:ea typeface="Calibri"/>
                <a:cs typeface="Calibri"/>
                <a:sym typeface="Calibri"/>
              </a:rPr>
              <a:t>Question 8: </a:t>
            </a:r>
            <a:r>
              <a:rPr lang="en-US" sz="3100" b="1" i="1">
                <a:solidFill>
                  <a:srgbClr val="FFFFFF"/>
                </a:solidFill>
              </a:rPr>
              <a:t>Have recent, accelerated changes in climate altered water conditions and how are they changing?</a:t>
            </a:r>
            <a:endParaRPr sz="3100"/>
          </a:p>
        </p:txBody>
      </p:sp>
      <p:pic>
        <p:nvPicPr>
          <p:cNvPr id="3" name="Picture 2">
            <a:extLst>
              <a:ext uri="{FF2B5EF4-FFF2-40B4-BE49-F238E27FC236}">
                <a16:creationId xmlns:a16="http://schemas.microsoft.com/office/drawing/2014/main" id="{026CD542-BCE5-4F95-86C6-A09864FDE053}"/>
              </a:ext>
            </a:extLst>
          </p:cNvPr>
          <p:cNvPicPr>
            <a:picLocks noChangeAspect="1"/>
          </p:cNvPicPr>
          <p:nvPr/>
        </p:nvPicPr>
        <p:blipFill>
          <a:blip r:embed="rId3"/>
          <a:stretch>
            <a:fillRect/>
          </a:stretch>
        </p:blipFill>
        <p:spPr>
          <a:xfrm>
            <a:off x="3141893" y="1711776"/>
            <a:ext cx="5908214" cy="4838624"/>
          </a:xfrm>
          <a:prstGeom prst="rect">
            <a:avLst/>
          </a:prstGeom>
        </p:spPr>
      </p:pic>
    </p:spTree>
    <p:extLst>
      <p:ext uri="{BB962C8B-B14F-4D97-AF65-F5344CB8AC3E}">
        <p14:creationId xmlns:p14="http://schemas.microsoft.com/office/powerpoint/2010/main" val="426559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8c85f6f7a6_0_103"/>
          <p:cNvSpPr txBox="1"/>
          <p:nvPr/>
        </p:nvSpPr>
        <p:spPr>
          <a:xfrm>
            <a:off x="9874767" y="6550400"/>
            <a:ext cx="2311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 ESD </a:t>
            </a:r>
            <a:r>
              <a:rPr lang="en-US" sz="1200">
                <a:solidFill>
                  <a:schemeClr val="dk1"/>
                </a:solidFill>
                <a:latin typeface="Calibri"/>
                <a:ea typeface="Calibri"/>
                <a:cs typeface="Calibri"/>
                <a:sym typeface="Calibri"/>
              </a:rPr>
              <a:t>report 2016 &amp; 2019</a:t>
            </a:r>
            <a:r>
              <a:rPr lang="en-US" sz="1200" b="0" i="0" u="none" strike="noStrike" cap="none">
                <a:solidFill>
                  <a:schemeClr val="dk1"/>
                </a:solidFill>
                <a:latin typeface="Calibri"/>
                <a:ea typeface="Calibri"/>
                <a:cs typeface="Calibri"/>
                <a:sym typeface="Calibri"/>
              </a:rPr>
              <a:t> </a:t>
            </a:r>
            <a:endParaRPr sz="1900"/>
          </a:p>
        </p:txBody>
      </p:sp>
      <p:sp>
        <p:nvSpPr>
          <p:cNvPr id="259" name="Google Shape;259;g8c85f6f7a6_0_103"/>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60" name="Google Shape;260;g8c85f6f7a6_0_103"/>
          <p:cNvSpPr txBox="1"/>
          <p:nvPr/>
        </p:nvSpPr>
        <p:spPr>
          <a:xfrm>
            <a:off x="9742700" y="1291333"/>
            <a:ext cx="2363700" cy="6156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Habitat: Coral Reefs      Indicator: Aragonite</a:t>
            </a:r>
            <a:r>
              <a:rPr lang="en-US" sz="1900" b="1" i="0" u="none" strike="noStrike" cap="none">
                <a:solidFill>
                  <a:srgbClr val="974806"/>
                </a:solidFill>
                <a:latin typeface="Calibri"/>
                <a:ea typeface="Calibri"/>
                <a:cs typeface="Calibri"/>
                <a:sym typeface="Calibri"/>
              </a:rPr>
              <a:t>  </a:t>
            </a:r>
            <a:endParaRPr sz="1900" b="1" i="0" u="none" strike="noStrike" cap="none">
              <a:solidFill>
                <a:srgbClr val="974806"/>
              </a:solidFill>
              <a:latin typeface="Calibri"/>
              <a:ea typeface="Calibri"/>
              <a:cs typeface="Calibri"/>
              <a:sym typeface="Calibri"/>
            </a:endParaRPr>
          </a:p>
        </p:txBody>
      </p:sp>
      <p:sp>
        <p:nvSpPr>
          <p:cNvPr id="261" name="Google Shape;261;g8c85f6f7a6_0_103"/>
          <p:cNvSpPr txBox="1">
            <a:spLocks noGrp="1"/>
          </p:cNvSpPr>
          <p:nvPr>
            <p:ph type="title"/>
          </p:nvPr>
        </p:nvSpPr>
        <p:spPr>
          <a:xfrm>
            <a:off x="0" y="-127000"/>
            <a:ext cx="12192000" cy="12699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100" b="1" i="1" u="none" strike="noStrike" cap="none">
                <a:solidFill>
                  <a:srgbClr val="FFFFFF"/>
                </a:solidFill>
                <a:latin typeface="Calibri"/>
                <a:ea typeface="Calibri"/>
                <a:cs typeface="Calibri"/>
                <a:sym typeface="Calibri"/>
              </a:rPr>
              <a:t>Question 8: </a:t>
            </a:r>
            <a:r>
              <a:rPr lang="en-US" sz="3100" b="1" i="1">
                <a:solidFill>
                  <a:srgbClr val="FFFFFF"/>
                </a:solidFill>
              </a:rPr>
              <a:t>Have recent, accelerated changes in climate altered water conditions and how are they changing?</a:t>
            </a:r>
            <a:endParaRPr sz="3100"/>
          </a:p>
        </p:txBody>
      </p:sp>
      <p:pic>
        <p:nvPicPr>
          <p:cNvPr id="262" name="Google Shape;262;g8c85f6f7a6_0_10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159900" y="1143000"/>
            <a:ext cx="4452246" cy="5761734"/>
          </a:xfrm>
          <a:prstGeom prst="rect">
            <a:avLst/>
          </a:prstGeom>
          <a:noFill/>
          <a:ln>
            <a:noFill/>
          </a:ln>
        </p:spPr>
      </p:pic>
      <p:sp>
        <p:nvSpPr>
          <p:cNvPr id="263" name="Google Shape;263;g8c85f6f7a6_0_103"/>
          <p:cNvSpPr txBox="1"/>
          <p:nvPr/>
        </p:nvSpPr>
        <p:spPr>
          <a:xfrm>
            <a:off x="9573133" y="3056167"/>
            <a:ext cx="2643600" cy="20448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1900">
                <a:solidFill>
                  <a:schemeClr val="dk1"/>
                </a:solidFill>
                <a:latin typeface="Times New Roman"/>
                <a:ea typeface="Times New Roman"/>
                <a:cs typeface="Times New Roman"/>
                <a:sym typeface="Times New Roman"/>
              </a:rPr>
              <a:t>Coral formation occurs optimally at saturation states above 4.0, declining to extremely marginal production at levels at and below 3.0</a:t>
            </a:r>
            <a:endParaRPr sz="1900">
              <a:solidFill>
                <a:srgbClr val="FF0000"/>
              </a:solidFill>
              <a:latin typeface="Times New Roman"/>
              <a:ea typeface="Times New Roman"/>
              <a:cs typeface="Times New Roman"/>
              <a:sym typeface="Times New Roman"/>
            </a:endParaRPr>
          </a:p>
        </p:txBody>
      </p:sp>
      <p:pic>
        <p:nvPicPr>
          <p:cNvPr id="264" name="Google Shape;264;g8c85f6f7a6_0_103"/>
          <p:cNvPicPr preferRelativeResize="0"/>
          <p:nvPr/>
        </p:nvPicPr>
        <p:blipFill>
          <a:blip r:embed="rId4">
            <a:alphaModFix/>
          </a:blip>
          <a:stretch>
            <a:fillRect/>
          </a:stretch>
        </p:blipFill>
        <p:spPr>
          <a:xfrm>
            <a:off x="0" y="1143000"/>
            <a:ext cx="5165933" cy="5715000"/>
          </a:xfrm>
          <a:prstGeom prst="rect">
            <a:avLst/>
          </a:prstGeom>
          <a:noFill/>
          <a:ln>
            <a:noFill/>
          </a:ln>
        </p:spPr>
      </p:pic>
      <p:sp>
        <p:nvSpPr>
          <p:cNvPr id="265" name="Google Shape;265;g8c85f6f7a6_0_103"/>
          <p:cNvSpPr txBox="1"/>
          <p:nvPr/>
        </p:nvSpPr>
        <p:spPr>
          <a:xfrm>
            <a:off x="8335367" y="1030167"/>
            <a:ext cx="955500" cy="3075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900" b="1">
                <a:latin typeface="Calibri"/>
                <a:ea typeface="Calibri"/>
                <a:cs typeface="Calibri"/>
                <a:sym typeface="Calibri"/>
              </a:rPr>
              <a:t>2018</a:t>
            </a:r>
            <a:endParaRPr sz="1900" b="1">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8c85f6f7a6_0_146"/>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pic>
        <p:nvPicPr>
          <p:cNvPr id="272" name="Google Shape;272;g8c85f6f7a6_0_146" descr="Spatial distribution and locations of Calcification Accretion Units recovered around American Samoa. " title="Figure 2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0" y="0"/>
            <a:ext cx="5296571" cy="6858000"/>
          </a:xfrm>
          <a:prstGeom prst="rect">
            <a:avLst/>
          </a:prstGeom>
          <a:noFill/>
          <a:ln>
            <a:noFill/>
          </a:ln>
        </p:spPr>
      </p:pic>
      <p:sp>
        <p:nvSpPr>
          <p:cNvPr id="273" name="Google Shape;273;g8c85f6f7a6_0_146"/>
          <p:cNvSpPr txBox="1"/>
          <p:nvPr/>
        </p:nvSpPr>
        <p:spPr>
          <a:xfrm>
            <a:off x="5548500" y="1565400"/>
            <a:ext cx="3113700" cy="7263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a:solidFill>
                  <a:srgbClr val="974806"/>
                </a:solidFill>
                <a:latin typeface="Calibri"/>
                <a:ea typeface="Calibri"/>
                <a:cs typeface="Calibri"/>
                <a:sym typeface="Calibri"/>
              </a:rPr>
              <a:t>Habitat: Coral Reefs</a:t>
            </a:r>
            <a:r>
              <a:rPr lang="en-US" sz="1900" b="1" i="0" u="none" strike="noStrike" cap="none">
                <a:solidFill>
                  <a:srgbClr val="974806"/>
                </a:solidFill>
                <a:latin typeface="Calibri"/>
                <a:ea typeface="Calibri"/>
                <a:cs typeface="Calibri"/>
                <a:sym typeface="Calibri"/>
              </a:rPr>
              <a:t>     </a:t>
            </a:r>
            <a:endParaRPr sz="1900" b="1" i="0" u="none" strike="noStrike" cap="none">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i="0" u="none" strike="noStrike" cap="none">
                <a:solidFill>
                  <a:srgbClr val="974806"/>
                </a:solidFill>
                <a:latin typeface="Calibri"/>
                <a:ea typeface="Calibri"/>
                <a:cs typeface="Calibri"/>
                <a:sym typeface="Calibri"/>
              </a:rPr>
              <a:t>Indicator: </a:t>
            </a:r>
            <a:r>
              <a:rPr lang="en-US" sz="1900" b="1">
                <a:solidFill>
                  <a:srgbClr val="974806"/>
                </a:solidFill>
                <a:latin typeface="Calibri"/>
                <a:ea typeface="Calibri"/>
                <a:cs typeface="Calibri"/>
                <a:sym typeface="Calibri"/>
              </a:rPr>
              <a:t>Calcification</a:t>
            </a:r>
            <a:endParaRPr sz="1900" b="1" i="0" u="none" strike="noStrike" cap="none">
              <a:solidFill>
                <a:srgbClr val="974806"/>
              </a:solidFill>
              <a:latin typeface="Calibri"/>
              <a:ea typeface="Calibri"/>
              <a:cs typeface="Calibri"/>
              <a:sym typeface="Calibri"/>
            </a:endParaRPr>
          </a:p>
        </p:txBody>
      </p:sp>
      <p:sp>
        <p:nvSpPr>
          <p:cNvPr id="274" name="Google Shape;274;g8c85f6f7a6_0_146"/>
          <p:cNvSpPr txBox="1">
            <a:spLocks noGrp="1"/>
          </p:cNvSpPr>
          <p:nvPr>
            <p:ph type="title"/>
          </p:nvPr>
        </p:nvSpPr>
        <p:spPr>
          <a:xfrm>
            <a:off x="5296567" y="76200"/>
            <a:ext cx="6864000" cy="14892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275" name="Google Shape;275;g8c85f6f7a6_0_146"/>
          <p:cNvSpPr txBox="1"/>
          <p:nvPr/>
        </p:nvSpPr>
        <p:spPr>
          <a:xfrm>
            <a:off x="5809300" y="2881200"/>
            <a:ext cx="5947200" cy="32133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900">
                <a:latin typeface="Calibri"/>
                <a:ea typeface="Calibri"/>
                <a:cs typeface="Calibri"/>
                <a:sym typeface="Calibri"/>
              </a:rPr>
              <a:t>Spatial distribution and locations of Calcification Accretion Units (CAUs) recovered around American Samoa. </a:t>
            </a: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0" lvl="0" indent="0" algn="l" rtl="0">
              <a:spcBef>
                <a:spcPts val="0"/>
              </a:spcBef>
              <a:spcAft>
                <a:spcPts val="0"/>
              </a:spcAft>
              <a:buNone/>
            </a:pPr>
            <a:r>
              <a:rPr lang="en-US" sz="1900" i="1">
                <a:latin typeface="Calibri"/>
                <a:ea typeface="Calibri"/>
                <a:cs typeface="Calibri"/>
                <a:sym typeface="Calibri"/>
              </a:rPr>
              <a:t>Data not yet fully analyzed and not yet available</a:t>
            </a:r>
            <a:endParaRPr sz="1900" i="1">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280"/>
        <p:cNvGrpSpPr/>
        <p:nvPr/>
      </p:nvGrpSpPr>
      <p:grpSpPr>
        <a:xfrm>
          <a:off x="0" y="0"/>
          <a:ext cx="0" cy="0"/>
          <a:chOff x="0" y="0"/>
          <a:chExt cx="0" cy="0"/>
        </a:xfrm>
      </p:grpSpPr>
      <p:sp>
        <p:nvSpPr>
          <p:cNvPr id="281" name="Google Shape;281;g824a699b75_0_180"/>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82" name="Google Shape;282;g824a699b75_0_180"/>
          <p:cNvSpPr txBox="1"/>
          <p:nvPr/>
        </p:nvSpPr>
        <p:spPr>
          <a:xfrm>
            <a:off x="6264056" y="1668300"/>
            <a:ext cx="5773200" cy="5113500"/>
          </a:xfrm>
          <a:prstGeom prst="rect">
            <a:avLst/>
          </a:prstGeom>
          <a:no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Habitat:</a:t>
            </a:r>
            <a:r>
              <a:rPr kumimoji="0" lang="en-US" sz="66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Nearshore Shallow Habitats: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Rocky Shores, Sandy Shores and Reef Flat, Shallow Coral Reef</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800" dirty="0">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 </a:t>
            </a:r>
            <a:r>
              <a:rPr lang="en-US" sz="5400" dirty="0">
                <a:latin typeface="Comic Sans MS"/>
                <a:ea typeface="Comic Sans MS"/>
                <a:cs typeface="Comic Sans MS"/>
                <a:sym typeface="Comic Sans MS"/>
              </a:rPr>
              <a:t>Indicator:</a:t>
            </a:r>
            <a:endParaRPr sz="5400" dirty="0">
              <a:latin typeface="Comic Sans MS"/>
              <a:ea typeface="Comic Sans MS"/>
              <a:cs typeface="Comic Sans MS"/>
              <a:sym typeface="Comic Sans MS"/>
            </a:endParaRPr>
          </a:p>
          <a:p>
            <a:pPr marL="0" lvl="0" indent="0" algn="ctr" rtl="0">
              <a:spcBef>
                <a:spcPts val="0"/>
              </a:spcBef>
              <a:spcAft>
                <a:spcPts val="0"/>
              </a:spcAft>
              <a:buNone/>
            </a:pPr>
            <a:r>
              <a:rPr lang="en-US" sz="5400" dirty="0">
                <a:latin typeface="Comic Sans MS"/>
                <a:ea typeface="Comic Sans MS"/>
                <a:cs typeface="Comic Sans MS"/>
                <a:sym typeface="Comic Sans MS"/>
              </a:rPr>
              <a:t>Sea level rise</a:t>
            </a:r>
            <a:endParaRPr sz="5400" dirty="0">
              <a:latin typeface="Comic Sans MS"/>
              <a:ea typeface="Comic Sans MS"/>
              <a:cs typeface="Comic Sans MS"/>
              <a:sym typeface="Comic Sans MS"/>
            </a:endParaRPr>
          </a:p>
          <a:p>
            <a:pPr marL="0" lvl="0" indent="0" algn="ctr" rtl="0">
              <a:spcBef>
                <a:spcPts val="0"/>
              </a:spcBef>
              <a:spcAft>
                <a:spcPts val="0"/>
              </a:spcAft>
              <a:buNone/>
            </a:pPr>
            <a:endParaRPr sz="6400" u="sng" dirty="0">
              <a:latin typeface="Comic Sans MS"/>
              <a:ea typeface="Comic Sans MS"/>
              <a:cs typeface="Comic Sans MS"/>
              <a:sym typeface="Comic Sans MS"/>
            </a:endParaRPr>
          </a:p>
        </p:txBody>
      </p:sp>
      <p:pic>
        <p:nvPicPr>
          <p:cNvPr id="283" name="Google Shape;283;g824a699b75_0_180"/>
          <p:cNvPicPr preferRelativeResize="0"/>
          <p:nvPr/>
        </p:nvPicPr>
        <p:blipFill>
          <a:blip r:embed="rId3">
            <a:alphaModFix/>
          </a:blip>
          <a:stretch>
            <a:fillRect/>
          </a:stretch>
        </p:blipFill>
        <p:spPr>
          <a:xfrm>
            <a:off x="305233" y="2039333"/>
            <a:ext cx="5790767" cy="4108249"/>
          </a:xfrm>
          <a:prstGeom prst="rect">
            <a:avLst/>
          </a:prstGeom>
          <a:noFill/>
          <a:ln>
            <a:noFill/>
          </a:ln>
        </p:spPr>
      </p:pic>
      <p:sp>
        <p:nvSpPr>
          <p:cNvPr id="284" name="Google Shape;284;g824a699b75_0_180"/>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dirty="0">
                <a:solidFill>
                  <a:srgbClr val="FFFFFF"/>
                </a:solidFill>
                <a:latin typeface="Calibri"/>
                <a:ea typeface="Calibri"/>
                <a:cs typeface="Calibri"/>
                <a:sym typeface="Calibri"/>
              </a:rPr>
              <a:t>Question 8: </a:t>
            </a:r>
            <a:r>
              <a:rPr lang="en-US" sz="3200" b="1" i="1" dirty="0">
                <a:solidFill>
                  <a:srgbClr val="FFFFFF"/>
                </a:solidFill>
              </a:rPr>
              <a:t>Have recent, accelerated changes in climate altered water conditions and how are they changing?</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8c85f6f7a6_0_192"/>
          <p:cNvSpPr txBox="1"/>
          <p:nvPr/>
        </p:nvSpPr>
        <p:spPr>
          <a:xfrm>
            <a:off x="6921850" y="6607900"/>
            <a:ext cx="7802333" cy="2501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100" b="0" i="0" u="none" strike="noStrike" cap="none" dirty="0">
                <a:solidFill>
                  <a:schemeClr val="dk1"/>
                </a:solidFill>
                <a:latin typeface="Calibri"/>
                <a:ea typeface="Calibri"/>
                <a:cs typeface="Calibri"/>
                <a:sym typeface="Calibri"/>
              </a:rPr>
              <a:t>Source: </a:t>
            </a:r>
            <a:r>
              <a:rPr lang="en-US" sz="1050" dirty="0"/>
              <a:t>https://tidesandcurrents.noaa.gov/sltrends/sltrends_station.shtml?id=1770000</a:t>
            </a:r>
            <a:endParaRPr sz="1600" dirty="0"/>
          </a:p>
        </p:txBody>
      </p:sp>
      <p:sp>
        <p:nvSpPr>
          <p:cNvPr id="291" name="Google Shape;291;g8c85f6f7a6_0_192"/>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292" name="Google Shape;292;g8c85f6f7a6_0_192"/>
          <p:cNvSpPr txBox="1"/>
          <p:nvPr/>
        </p:nvSpPr>
        <p:spPr>
          <a:xfrm>
            <a:off x="2905666" y="1369941"/>
            <a:ext cx="6656363" cy="368687"/>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Nearshore Shallow Habitats      Indicator: sea level rise</a:t>
            </a:r>
            <a:endParaRPr sz="1900" b="1" i="0" u="none" strike="noStrike" cap="none" dirty="0">
              <a:solidFill>
                <a:srgbClr val="974806"/>
              </a:solidFill>
              <a:latin typeface="Calibri"/>
              <a:ea typeface="Calibri"/>
              <a:cs typeface="Calibri"/>
              <a:sym typeface="Calibri"/>
            </a:endParaRPr>
          </a:p>
        </p:txBody>
      </p:sp>
      <p:pic>
        <p:nvPicPr>
          <p:cNvPr id="3" name="Picture 2" descr="A screenshot of a social media post&#10;&#10;Description automatically generated">
            <a:extLst>
              <a:ext uri="{FF2B5EF4-FFF2-40B4-BE49-F238E27FC236}">
                <a16:creationId xmlns:a16="http://schemas.microsoft.com/office/drawing/2014/main" id="{2122E52F-A8FB-4C85-9029-54F40CDBFF4E}"/>
              </a:ext>
            </a:extLst>
          </p:cNvPr>
          <p:cNvPicPr>
            <a:picLocks noChangeAspect="1"/>
          </p:cNvPicPr>
          <p:nvPr/>
        </p:nvPicPr>
        <p:blipFill>
          <a:blip r:embed="rId3"/>
          <a:stretch>
            <a:fillRect/>
          </a:stretch>
        </p:blipFill>
        <p:spPr>
          <a:xfrm>
            <a:off x="430441" y="1937039"/>
            <a:ext cx="11606814" cy="4642725"/>
          </a:xfrm>
          <a:prstGeom prst="rect">
            <a:avLst/>
          </a:prstGeom>
        </p:spPr>
      </p:pic>
      <p:sp>
        <p:nvSpPr>
          <p:cNvPr id="9" name="Google Shape;284;g824a699b75_0_180">
            <a:extLst>
              <a:ext uri="{FF2B5EF4-FFF2-40B4-BE49-F238E27FC236}">
                <a16:creationId xmlns:a16="http://schemas.microsoft.com/office/drawing/2014/main" id="{989DD29E-CD40-4A60-9B47-557570EDAE32}"/>
              </a:ext>
            </a:extLst>
          </p:cNvPr>
          <p:cNvSpPr txBox="1">
            <a:spLocks/>
          </p:cNvSpPr>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pPr>
              <a:buClr>
                <a:srgbClr val="FFFFFF"/>
              </a:buClr>
              <a:buSzPts val="3200"/>
              <a:buFont typeface="Calibri"/>
              <a:buNone/>
            </a:pPr>
            <a:r>
              <a:rPr lang="en-US" sz="3200" b="1" i="1">
                <a:solidFill>
                  <a:srgbClr val="FFFFFF"/>
                </a:solidFill>
              </a:rPr>
              <a:t>Question 8: Have recent, accelerated changes in climate altered water conditions and how are they changing?</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8c85f6f7a6_0_212"/>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303" name="Google Shape;303;g8c85f6f7a6_0_212"/>
          <p:cNvSpPr txBox="1"/>
          <p:nvPr/>
        </p:nvSpPr>
        <p:spPr>
          <a:xfrm>
            <a:off x="-1" y="6550400"/>
            <a:ext cx="2740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 Han et al 2019</a:t>
            </a:r>
            <a:r>
              <a:rPr lang="en-US"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500"/>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p:txBody>
      </p:sp>
      <p:pic>
        <p:nvPicPr>
          <p:cNvPr id="305" name="Google Shape;305;g8c85f6f7a6_0_212"/>
          <p:cNvPicPr preferRelativeResize="0"/>
          <p:nvPr/>
        </p:nvPicPr>
        <p:blipFill>
          <a:blip r:embed="rId3">
            <a:alphaModFix/>
          </a:blip>
          <a:stretch>
            <a:fillRect/>
          </a:stretch>
        </p:blipFill>
        <p:spPr>
          <a:xfrm>
            <a:off x="7713734" y="1933400"/>
            <a:ext cx="4256519" cy="4924600"/>
          </a:xfrm>
          <a:prstGeom prst="rect">
            <a:avLst/>
          </a:prstGeom>
          <a:noFill/>
          <a:ln>
            <a:noFill/>
          </a:ln>
        </p:spPr>
      </p:pic>
      <p:pic>
        <p:nvPicPr>
          <p:cNvPr id="3" name="Picture 2">
            <a:extLst>
              <a:ext uri="{FF2B5EF4-FFF2-40B4-BE49-F238E27FC236}">
                <a16:creationId xmlns:a16="http://schemas.microsoft.com/office/drawing/2014/main" id="{07B964A2-3E3D-4FDE-BBCF-66BBE1F1784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21747" y="1827437"/>
            <a:ext cx="6769896" cy="4517457"/>
          </a:xfrm>
          <a:prstGeom prst="rect">
            <a:avLst/>
          </a:prstGeom>
        </p:spPr>
      </p:pic>
      <p:sp>
        <p:nvSpPr>
          <p:cNvPr id="4" name="Google Shape;292;g8c85f6f7a6_0_192">
            <a:extLst>
              <a:ext uri="{FF2B5EF4-FFF2-40B4-BE49-F238E27FC236}">
                <a16:creationId xmlns:a16="http://schemas.microsoft.com/office/drawing/2014/main" id="{328C0501-94A3-4B02-A34D-CA3FF58837F8}"/>
              </a:ext>
            </a:extLst>
          </p:cNvPr>
          <p:cNvSpPr txBox="1"/>
          <p:nvPr/>
        </p:nvSpPr>
        <p:spPr>
          <a:xfrm>
            <a:off x="2905666" y="1369941"/>
            <a:ext cx="6656363" cy="368687"/>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Nearshore Shallow Habitats      Indicator: sea level rise</a:t>
            </a:r>
            <a:endParaRPr sz="1900" b="1" i="0" u="none" strike="noStrike" cap="none" dirty="0">
              <a:solidFill>
                <a:srgbClr val="974806"/>
              </a:solidFill>
              <a:latin typeface="Calibri"/>
              <a:ea typeface="Calibri"/>
              <a:cs typeface="Calibri"/>
              <a:sym typeface="Calibri"/>
            </a:endParaRPr>
          </a:p>
        </p:txBody>
      </p:sp>
      <p:sp>
        <p:nvSpPr>
          <p:cNvPr id="10" name="Google Shape;284;g824a699b75_0_180">
            <a:extLst>
              <a:ext uri="{FF2B5EF4-FFF2-40B4-BE49-F238E27FC236}">
                <a16:creationId xmlns:a16="http://schemas.microsoft.com/office/drawing/2014/main" id="{21D36652-74D2-4ADE-B5E2-97C96342158D}"/>
              </a:ext>
            </a:extLst>
          </p:cNvPr>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dirty="0">
                <a:solidFill>
                  <a:srgbClr val="FFFFFF"/>
                </a:solidFill>
                <a:latin typeface="Calibri"/>
                <a:ea typeface="Calibri"/>
                <a:cs typeface="Calibri"/>
                <a:sym typeface="Calibri"/>
              </a:rPr>
              <a:t>Question 8: </a:t>
            </a:r>
            <a:r>
              <a:rPr lang="en-US" sz="3200" b="1" i="1" dirty="0">
                <a:solidFill>
                  <a:srgbClr val="FFFFFF"/>
                </a:solidFill>
              </a:rPr>
              <a:t>Have recent, accelerated changes in climate altered water conditions and how are they changing?</a:t>
            </a:r>
            <a:endParaRPr dirty="0"/>
          </a:p>
        </p:txBody>
      </p:sp>
    </p:spTree>
    <p:extLst>
      <p:ext uri="{BB962C8B-B14F-4D97-AF65-F5344CB8AC3E}">
        <p14:creationId xmlns:p14="http://schemas.microsoft.com/office/powerpoint/2010/main" val="417619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310"/>
        <p:cNvGrpSpPr/>
        <p:nvPr/>
      </p:nvGrpSpPr>
      <p:grpSpPr>
        <a:xfrm>
          <a:off x="0" y="0"/>
          <a:ext cx="0" cy="0"/>
          <a:chOff x="0" y="0"/>
          <a:chExt cx="0" cy="0"/>
        </a:xfrm>
      </p:grpSpPr>
      <p:sp>
        <p:nvSpPr>
          <p:cNvPr id="311" name="Google Shape;311;g824a699b75_0_158"/>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9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2" name="Google Shape;312;g824a699b75_0_158"/>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dirty="0">
                <a:solidFill>
                  <a:srgbClr val="FFFFFF"/>
                </a:solidFill>
                <a:latin typeface="Calibri"/>
                <a:ea typeface="Calibri"/>
                <a:cs typeface="Calibri"/>
                <a:sym typeface="Calibri"/>
              </a:rPr>
              <a:t>Question 8: </a:t>
            </a:r>
            <a:r>
              <a:rPr lang="en-US" sz="3200" b="1" i="1" dirty="0">
                <a:solidFill>
                  <a:srgbClr val="FFFFFF"/>
                </a:solidFill>
              </a:rPr>
              <a:t>Have recent, accelerated changes in climate altered water conditions and how are they changing?</a:t>
            </a:r>
            <a:endParaRPr dirty="0"/>
          </a:p>
        </p:txBody>
      </p:sp>
      <p:sp>
        <p:nvSpPr>
          <p:cNvPr id="313" name="Google Shape;313;g824a699b75_0_158"/>
          <p:cNvSpPr txBox="1"/>
          <p:nvPr/>
        </p:nvSpPr>
        <p:spPr>
          <a:xfrm>
            <a:off x="328773" y="1744500"/>
            <a:ext cx="5847757" cy="5113500"/>
          </a:xfrm>
          <a:prstGeom prst="rect">
            <a:avLst/>
          </a:prstGeom>
          <a:no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Habitat:</a:t>
            </a:r>
            <a:r>
              <a:rPr kumimoji="0" lang="en-US" sz="66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Nearshore Shallow Habitats: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Rocky Shores, Sandy Shores and Reef Flat, Shallow Coral Reef</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8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Indicator:</a:t>
            </a:r>
            <a:endParaRPr kumimoji="0"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Tropical Cyclones</a:t>
            </a:r>
            <a:endParaRPr kumimoji="0"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6400" b="0" i="0" u="sng"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p:txBody>
      </p:sp>
      <p:pic>
        <p:nvPicPr>
          <p:cNvPr id="3" name="Picture 2" descr="A picture containing outdoor, nature, wave, riding&#10;&#10;Description automatically generated">
            <a:extLst>
              <a:ext uri="{FF2B5EF4-FFF2-40B4-BE49-F238E27FC236}">
                <a16:creationId xmlns:a16="http://schemas.microsoft.com/office/drawing/2014/main" id="{066ECDAA-DEAA-441E-A54F-BBEE38DC1F5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421348" y="1588086"/>
            <a:ext cx="5770652" cy="6519623"/>
          </a:xfrm>
          <a:prstGeom prst="rect">
            <a:avLst/>
          </a:prstGeom>
        </p:spPr>
      </p:pic>
    </p:spTree>
    <p:extLst>
      <p:ext uri="{BB962C8B-B14F-4D97-AF65-F5344CB8AC3E}">
        <p14:creationId xmlns:p14="http://schemas.microsoft.com/office/powerpoint/2010/main" val="175161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8d051550c7_2_221"/>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9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548" name="Google Shape;548;g8d051550c7_2_221"/>
          <p:cNvSpPr txBox="1"/>
          <p:nvPr/>
        </p:nvSpPr>
        <p:spPr>
          <a:xfrm>
            <a:off x="9006831" y="1189508"/>
            <a:ext cx="3185169" cy="700587"/>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974806"/>
                </a:solidFill>
                <a:effectLst/>
                <a:uLnTx/>
                <a:uFillTx/>
                <a:latin typeface="Calibri"/>
                <a:ea typeface="Calibri"/>
                <a:cs typeface="Calibri"/>
                <a:sym typeface="Calibri"/>
              </a:rPr>
              <a:t>Habitat: Shallow Habitats</a:t>
            </a:r>
            <a:endParaRPr kumimoji="0" sz="1900" b="1" i="0" u="none" strike="noStrike" kern="0" cap="none" spc="0" normalizeH="0" baseline="0" noProof="0" dirty="0">
              <a:ln>
                <a:noFill/>
              </a:ln>
              <a:solidFill>
                <a:srgbClr val="974806"/>
              </a:solidFill>
              <a:effectLst/>
              <a:uLnTx/>
              <a:uFillTx/>
              <a:latin typeface="Calibri"/>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974806"/>
                </a:solidFill>
                <a:effectLst/>
                <a:uLnTx/>
                <a:uFillTx/>
                <a:latin typeface="Calibri"/>
                <a:ea typeface="Calibri"/>
                <a:cs typeface="Calibri"/>
                <a:sym typeface="Calibri"/>
              </a:rPr>
              <a:t>Indicator: Cyclones</a:t>
            </a:r>
            <a:endParaRPr kumimoji="0" sz="1900" b="1" i="0" u="none" strike="noStrike" kern="0" cap="none" spc="0" normalizeH="0" baseline="0" noProof="0" dirty="0">
              <a:ln>
                <a:noFill/>
              </a:ln>
              <a:solidFill>
                <a:srgbClr val="974806"/>
              </a:solidFill>
              <a:effectLst/>
              <a:uLnTx/>
              <a:uFillTx/>
              <a:latin typeface="Calibri"/>
              <a:ea typeface="Calibri"/>
              <a:cs typeface="Calibri"/>
              <a:sym typeface="Calibri"/>
            </a:endParaRPr>
          </a:p>
        </p:txBody>
      </p:sp>
      <p:sp>
        <p:nvSpPr>
          <p:cNvPr id="550" name="Google Shape;550;g8d051550c7_2_221"/>
          <p:cNvSpPr txBox="1"/>
          <p:nvPr/>
        </p:nvSpPr>
        <p:spPr>
          <a:xfrm>
            <a:off x="0" y="6386014"/>
            <a:ext cx="1972639" cy="3075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alibri"/>
                <a:ea typeface="Calibri"/>
                <a:cs typeface="Calibri"/>
                <a:sym typeface="Calibri"/>
              </a:rPr>
              <a:t>Source:  https://coast.noaa.gov/</a:t>
            </a: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7" name="Google Shape;312;g824a699b75_0_158">
            <a:extLst>
              <a:ext uri="{FF2B5EF4-FFF2-40B4-BE49-F238E27FC236}">
                <a16:creationId xmlns:a16="http://schemas.microsoft.com/office/drawing/2014/main" id="{BB07B785-B2FD-49D5-8F62-3017462C4127}"/>
              </a:ext>
            </a:extLst>
          </p:cNvPr>
          <p:cNvSpPr txBox="1">
            <a:spLocks/>
          </p:cNvSpPr>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pPr>
              <a:buClr>
                <a:srgbClr val="FFFFFF"/>
              </a:buClr>
              <a:buSzPts val="3200"/>
              <a:buFont typeface="Calibri"/>
              <a:buNone/>
            </a:pPr>
            <a:r>
              <a:rPr lang="en-US" sz="3200" b="1" i="1" dirty="0">
                <a:solidFill>
                  <a:srgbClr val="FFFFFF"/>
                </a:solidFill>
              </a:rPr>
              <a:t>Question 8: Have recent, accelerated changes in climate altered water conditions and how are they changing?</a:t>
            </a:r>
            <a:endParaRPr lang="en-US" dirty="0"/>
          </a:p>
        </p:txBody>
      </p:sp>
      <p:sp>
        <p:nvSpPr>
          <p:cNvPr id="10" name="TextBox 9">
            <a:extLst>
              <a:ext uri="{FF2B5EF4-FFF2-40B4-BE49-F238E27FC236}">
                <a16:creationId xmlns:a16="http://schemas.microsoft.com/office/drawing/2014/main" id="{A839E031-95F1-47E9-BAAD-4765B3A44AAF}"/>
              </a:ext>
            </a:extLst>
          </p:cNvPr>
          <p:cNvSpPr txBox="1"/>
          <p:nvPr/>
        </p:nvSpPr>
        <p:spPr>
          <a:xfrm>
            <a:off x="2943351" y="1774395"/>
            <a:ext cx="6444598" cy="338554"/>
          </a:xfrm>
          <a:prstGeom prst="rect">
            <a:avLst/>
          </a:prstGeom>
          <a:noFill/>
        </p:spPr>
        <p:txBody>
          <a:bodyPr wrap="square" rtlCol="0">
            <a:spAutoFit/>
          </a:bodyPr>
          <a:lstStyle/>
          <a:p>
            <a:pPr algn="ctr"/>
            <a:r>
              <a:rPr lang="en-US" sz="1600" b="1" dirty="0"/>
              <a:t>Tropical Cyclones from 1959-2020</a:t>
            </a:r>
          </a:p>
        </p:txBody>
      </p:sp>
      <p:pic>
        <p:nvPicPr>
          <p:cNvPr id="16" name="Picture 15">
            <a:extLst>
              <a:ext uri="{FF2B5EF4-FFF2-40B4-BE49-F238E27FC236}">
                <a16:creationId xmlns:a16="http://schemas.microsoft.com/office/drawing/2014/main" id="{FDD9E187-4679-4CB7-8BF3-6EF190AA301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904830" y="2034283"/>
            <a:ext cx="8382340" cy="474751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8d051550c7_2_221"/>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9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548" name="Google Shape;548;g8d051550c7_2_221"/>
          <p:cNvSpPr txBox="1"/>
          <p:nvPr/>
        </p:nvSpPr>
        <p:spPr>
          <a:xfrm>
            <a:off x="9006831" y="1189508"/>
            <a:ext cx="3185169" cy="700587"/>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974806"/>
                </a:solidFill>
                <a:effectLst/>
                <a:uLnTx/>
                <a:uFillTx/>
                <a:latin typeface="Calibri"/>
                <a:ea typeface="Calibri"/>
                <a:cs typeface="Calibri"/>
                <a:sym typeface="Calibri"/>
              </a:rPr>
              <a:t>Habitat: Shallow Habitats</a:t>
            </a:r>
            <a:endParaRPr kumimoji="0" sz="1900" b="1" i="0" u="none" strike="noStrike" kern="0" cap="none" spc="0" normalizeH="0" baseline="0" noProof="0" dirty="0">
              <a:ln>
                <a:noFill/>
              </a:ln>
              <a:solidFill>
                <a:srgbClr val="974806"/>
              </a:solidFill>
              <a:effectLst/>
              <a:uLnTx/>
              <a:uFillTx/>
              <a:latin typeface="Calibri"/>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974806"/>
                </a:solidFill>
                <a:effectLst/>
                <a:uLnTx/>
                <a:uFillTx/>
                <a:latin typeface="Calibri"/>
                <a:ea typeface="Calibri"/>
                <a:cs typeface="Calibri"/>
                <a:sym typeface="Calibri"/>
              </a:rPr>
              <a:t>Indicator: Cyclones</a:t>
            </a:r>
            <a:endParaRPr kumimoji="0" sz="1900" b="1" i="0" u="none" strike="noStrike" kern="0" cap="none" spc="0" normalizeH="0" baseline="0" noProof="0" dirty="0">
              <a:ln>
                <a:noFill/>
              </a:ln>
              <a:solidFill>
                <a:srgbClr val="974806"/>
              </a:solidFill>
              <a:effectLst/>
              <a:uLnTx/>
              <a:uFillTx/>
              <a:latin typeface="Calibri"/>
              <a:ea typeface="Calibri"/>
              <a:cs typeface="Calibri"/>
              <a:sym typeface="Calibri"/>
            </a:endParaRPr>
          </a:p>
        </p:txBody>
      </p:sp>
      <p:sp>
        <p:nvSpPr>
          <p:cNvPr id="550" name="Google Shape;550;g8d051550c7_2_221"/>
          <p:cNvSpPr txBox="1"/>
          <p:nvPr/>
        </p:nvSpPr>
        <p:spPr>
          <a:xfrm>
            <a:off x="0" y="6386014"/>
            <a:ext cx="1972639" cy="3075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alibri"/>
                <a:ea typeface="Calibri"/>
                <a:cs typeface="Calibri"/>
                <a:sym typeface="Calibri"/>
              </a:rPr>
              <a:t>Source:  https://coast.noaa.gov/</a:t>
            </a: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7" name="Google Shape;312;g824a699b75_0_158">
            <a:extLst>
              <a:ext uri="{FF2B5EF4-FFF2-40B4-BE49-F238E27FC236}">
                <a16:creationId xmlns:a16="http://schemas.microsoft.com/office/drawing/2014/main" id="{BB07B785-B2FD-49D5-8F62-3017462C4127}"/>
              </a:ext>
            </a:extLst>
          </p:cNvPr>
          <p:cNvSpPr txBox="1">
            <a:spLocks/>
          </p:cNvSpPr>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pPr>
              <a:buClr>
                <a:srgbClr val="FFFFFF"/>
              </a:buClr>
              <a:buSzPts val="3200"/>
              <a:buFont typeface="Calibri"/>
              <a:buNone/>
            </a:pPr>
            <a:r>
              <a:rPr lang="en-US" sz="3200" b="1" i="1" dirty="0">
                <a:solidFill>
                  <a:srgbClr val="FFFFFF"/>
                </a:solidFill>
              </a:rPr>
              <a:t>Question 8: Have recent, accelerated changes in climate altered water conditions and how are they changing?</a:t>
            </a:r>
            <a:endParaRPr lang="en-US" dirty="0"/>
          </a:p>
        </p:txBody>
      </p:sp>
      <p:graphicFrame>
        <p:nvGraphicFramePr>
          <p:cNvPr id="22" name="Chart 21">
            <a:extLst>
              <a:ext uri="{FF2B5EF4-FFF2-40B4-BE49-F238E27FC236}">
                <a16:creationId xmlns:a16="http://schemas.microsoft.com/office/drawing/2014/main" id="{5E13A765-E67A-4900-AAD3-56B29B93A6E1}"/>
              </a:ext>
            </a:extLst>
          </p:cNvPr>
          <p:cNvGraphicFramePr>
            <a:graphicFrameLocks/>
          </p:cNvGraphicFramePr>
          <p:nvPr>
            <p:extLst>
              <p:ext uri="{D42A27DB-BD31-4B8C-83A1-F6EECF244321}">
                <p14:modId xmlns:p14="http://schemas.microsoft.com/office/powerpoint/2010/main" val="2971995019"/>
              </p:ext>
            </p:extLst>
          </p:nvPr>
        </p:nvGraphicFramePr>
        <p:xfrm>
          <a:off x="711201" y="1879470"/>
          <a:ext cx="10109200" cy="46754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44559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310"/>
        <p:cNvGrpSpPr/>
        <p:nvPr/>
      </p:nvGrpSpPr>
      <p:grpSpPr>
        <a:xfrm>
          <a:off x="0" y="0"/>
          <a:ext cx="0" cy="0"/>
          <a:chOff x="0" y="0"/>
          <a:chExt cx="0" cy="0"/>
        </a:xfrm>
      </p:grpSpPr>
      <p:sp>
        <p:nvSpPr>
          <p:cNvPr id="311" name="Google Shape;311;g824a699b75_0_158"/>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312" name="Google Shape;312;g824a699b75_0_158"/>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313" name="Google Shape;313;g824a699b75_0_158"/>
          <p:cNvSpPr txBox="1"/>
          <p:nvPr/>
        </p:nvSpPr>
        <p:spPr>
          <a:xfrm>
            <a:off x="0" y="1744367"/>
            <a:ext cx="5847757" cy="5113500"/>
          </a:xfrm>
          <a:prstGeom prst="rect">
            <a:avLst/>
          </a:prstGeom>
          <a:no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Habitat:</a:t>
            </a:r>
            <a:r>
              <a:rPr kumimoji="0" lang="en-US" sz="66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Nearshore Shallow Habitats: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Rocky Shores, Sandy Shores and Reef Flat, Shallow Coral Reef</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8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lvl="0" indent="0" algn="ctr" rtl="0">
              <a:spcBef>
                <a:spcPts val="0"/>
              </a:spcBef>
              <a:spcAft>
                <a:spcPts val="0"/>
              </a:spcAft>
              <a:buNone/>
            </a:pPr>
            <a:r>
              <a:rPr lang="en-US" sz="5400" dirty="0">
                <a:latin typeface="Comic Sans MS"/>
                <a:ea typeface="Comic Sans MS"/>
                <a:cs typeface="Comic Sans MS"/>
                <a:sym typeface="Comic Sans MS"/>
              </a:rPr>
              <a:t>Indicator:</a:t>
            </a:r>
            <a:endParaRPr sz="5400" dirty="0">
              <a:latin typeface="Comic Sans MS"/>
              <a:ea typeface="Comic Sans MS"/>
              <a:cs typeface="Comic Sans MS"/>
              <a:sym typeface="Comic Sans MS"/>
            </a:endParaRPr>
          </a:p>
          <a:p>
            <a:pPr marL="0" lvl="0" indent="0" algn="ctr" rtl="0">
              <a:spcBef>
                <a:spcPts val="0"/>
              </a:spcBef>
              <a:spcAft>
                <a:spcPts val="0"/>
              </a:spcAft>
              <a:buNone/>
            </a:pPr>
            <a:r>
              <a:rPr lang="en-US" sz="5400" dirty="0">
                <a:latin typeface="Comic Sans MS"/>
                <a:ea typeface="Comic Sans MS"/>
                <a:cs typeface="Comic Sans MS"/>
                <a:sym typeface="Comic Sans MS"/>
              </a:rPr>
              <a:t>Rainfall</a:t>
            </a:r>
            <a:endParaRPr sz="5400" dirty="0">
              <a:latin typeface="Comic Sans MS"/>
              <a:ea typeface="Comic Sans MS"/>
              <a:cs typeface="Comic Sans MS"/>
              <a:sym typeface="Comic Sans MS"/>
            </a:endParaRPr>
          </a:p>
          <a:p>
            <a:pPr marL="0" lvl="0" indent="0" algn="ctr" rtl="0">
              <a:spcBef>
                <a:spcPts val="0"/>
              </a:spcBef>
              <a:spcAft>
                <a:spcPts val="0"/>
              </a:spcAft>
              <a:buNone/>
            </a:pPr>
            <a:endParaRPr sz="6400" u="sng" dirty="0">
              <a:latin typeface="Comic Sans MS"/>
              <a:ea typeface="Comic Sans MS"/>
              <a:cs typeface="Comic Sans MS"/>
              <a:sym typeface="Comic Sans MS"/>
            </a:endParaRPr>
          </a:p>
        </p:txBody>
      </p:sp>
      <p:pic>
        <p:nvPicPr>
          <p:cNvPr id="314" name="Google Shape;314;g824a699b75_0_158"/>
          <p:cNvPicPr preferRelativeResize="0"/>
          <p:nvPr/>
        </p:nvPicPr>
        <p:blipFill>
          <a:blip r:embed="rId3">
            <a:alphaModFix/>
          </a:blip>
          <a:stretch>
            <a:fillRect/>
          </a:stretch>
        </p:blipFill>
        <p:spPr>
          <a:xfrm>
            <a:off x="6194399" y="2386300"/>
            <a:ext cx="5321325" cy="3675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8c85f6f7a6_0_169"/>
          <p:cNvSpPr txBox="1"/>
          <p:nvPr/>
        </p:nvSpPr>
        <p:spPr>
          <a:xfrm>
            <a:off x="10069886" y="6550500"/>
            <a:ext cx="2461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a:t>
            </a:r>
            <a:r>
              <a:rPr lang="en-US" sz="1200" dirty="0">
                <a:solidFill>
                  <a:schemeClr val="dk1"/>
                </a:solidFill>
                <a:latin typeface="Calibri"/>
                <a:ea typeface="Calibri"/>
                <a:cs typeface="Calibri"/>
                <a:sym typeface="Calibri"/>
              </a:rPr>
              <a:t> NOAA WSO Pago Pago</a:t>
            </a:r>
            <a:endParaRPr sz="1900" dirty="0"/>
          </a:p>
        </p:txBody>
      </p:sp>
      <p:sp>
        <p:nvSpPr>
          <p:cNvPr id="321" name="Google Shape;321;g8c85f6f7a6_0_169"/>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323" name="Google Shape;323;g8c85f6f7a6_0_169"/>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
        <p:nvSpPr>
          <p:cNvPr id="2" name="Google Shape;292;g8c85f6f7a6_0_192">
            <a:extLst>
              <a:ext uri="{FF2B5EF4-FFF2-40B4-BE49-F238E27FC236}">
                <a16:creationId xmlns:a16="http://schemas.microsoft.com/office/drawing/2014/main" id="{09390C78-BCAD-4DB8-9440-2BDC1DDF6D44}"/>
              </a:ext>
            </a:extLst>
          </p:cNvPr>
          <p:cNvSpPr txBox="1"/>
          <p:nvPr/>
        </p:nvSpPr>
        <p:spPr>
          <a:xfrm>
            <a:off x="2905666" y="1369941"/>
            <a:ext cx="6656363" cy="368687"/>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Nearshore Shallow Habitats         Indicator: Rainfall</a:t>
            </a:r>
            <a:endParaRPr sz="1900" b="1" i="0" u="none" strike="noStrike" cap="none" dirty="0">
              <a:solidFill>
                <a:srgbClr val="974806"/>
              </a:solidFill>
              <a:latin typeface="Calibri"/>
              <a:ea typeface="Calibri"/>
              <a:cs typeface="Calibri"/>
              <a:sym typeface="Calibri"/>
            </a:endParaRPr>
          </a:p>
        </p:txBody>
      </p:sp>
      <p:graphicFrame>
        <p:nvGraphicFramePr>
          <p:cNvPr id="8" name="Chart 7">
            <a:extLst>
              <a:ext uri="{FF2B5EF4-FFF2-40B4-BE49-F238E27FC236}">
                <a16:creationId xmlns:a16="http://schemas.microsoft.com/office/drawing/2014/main" id="{F605910B-CA18-4B68-BE6D-EC24C1D2F150}"/>
              </a:ext>
            </a:extLst>
          </p:cNvPr>
          <p:cNvGraphicFramePr>
            <a:graphicFrameLocks/>
          </p:cNvGraphicFramePr>
          <p:nvPr>
            <p:extLst>
              <p:ext uri="{D42A27DB-BD31-4B8C-83A1-F6EECF244321}">
                <p14:modId xmlns:p14="http://schemas.microsoft.com/office/powerpoint/2010/main" val="2822210914"/>
              </p:ext>
            </p:extLst>
          </p:nvPr>
        </p:nvGraphicFramePr>
        <p:xfrm>
          <a:off x="471877" y="2057400"/>
          <a:ext cx="8418905" cy="43574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a:extLst>
              <a:ext uri="{FF2B5EF4-FFF2-40B4-BE49-F238E27FC236}">
                <a16:creationId xmlns:a16="http://schemas.microsoft.com/office/drawing/2014/main" id="{C93C906D-71AF-4E60-A7E8-10B60F3E4C3A}"/>
              </a:ext>
            </a:extLst>
          </p:cNvPr>
          <p:cNvGraphicFramePr>
            <a:graphicFrameLocks noGrp="1"/>
          </p:cNvGraphicFramePr>
          <p:nvPr>
            <p:extLst>
              <p:ext uri="{D42A27DB-BD31-4B8C-83A1-F6EECF244321}">
                <p14:modId xmlns:p14="http://schemas.microsoft.com/office/powerpoint/2010/main" val="3416559460"/>
              </p:ext>
            </p:extLst>
          </p:nvPr>
        </p:nvGraphicFramePr>
        <p:xfrm>
          <a:off x="8890782" y="3215054"/>
          <a:ext cx="3143835" cy="2042160"/>
        </p:xfrm>
        <a:graphic>
          <a:graphicData uri="http://schemas.openxmlformats.org/drawingml/2006/table">
            <a:tbl>
              <a:tblPr/>
              <a:tblGrid>
                <a:gridCol w="967333">
                  <a:extLst>
                    <a:ext uri="{9D8B030D-6E8A-4147-A177-3AD203B41FA5}">
                      <a16:colId xmlns:a16="http://schemas.microsoft.com/office/drawing/2014/main" val="1952298737"/>
                    </a:ext>
                  </a:extLst>
                </a:gridCol>
                <a:gridCol w="1088251">
                  <a:extLst>
                    <a:ext uri="{9D8B030D-6E8A-4147-A177-3AD203B41FA5}">
                      <a16:colId xmlns:a16="http://schemas.microsoft.com/office/drawing/2014/main" val="794641912"/>
                    </a:ext>
                  </a:extLst>
                </a:gridCol>
                <a:gridCol w="1088251">
                  <a:extLst>
                    <a:ext uri="{9D8B030D-6E8A-4147-A177-3AD203B41FA5}">
                      <a16:colId xmlns:a16="http://schemas.microsoft.com/office/drawing/2014/main" val="1889382356"/>
                    </a:ext>
                  </a:extLst>
                </a:gridCol>
              </a:tblGrid>
              <a:tr h="241300">
                <a:tc gridSpan="3">
                  <a:txBody>
                    <a:bodyPr/>
                    <a:lstStyle/>
                    <a:p>
                      <a:pPr algn="ctr" fontAlgn="ctr"/>
                      <a:r>
                        <a:rPr lang="en-US" sz="1400" b="1" i="0" u="none" strike="noStrike" dirty="0">
                          <a:solidFill>
                            <a:srgbClr val="ED7A08"/>
                          </a:solidFill>
                          <a:effectLst/>
                          <a:latin typeface="Inherit"/>
                        </a:rPr>
                        <a:t>Rainfall Variations During ENSO</a:t>
                      </a:r>
                    </a:p>
                  </a:txBody>
                  <a:tcPr marL="6350" marR="6350" marT="6350" marB="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C5E5F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81370940"/>
                  </a:ext>
                </a:extLst>
              </a:tr>
              <a:tr h="355600">
                <a:tc gridSpan="3">
                  <a:txBody>
                    <a:bodyPr/>
                    <a:lstStyle/>
                    <a:p>
                      <a:pPr algn="ctr" fontAlgn="ctr"/>
                      <a:r>
                        <a:rPr lang="en-US" sz="1400" b="0" i="0" u="none" strike="noStrike" dirty="0">
                          <a:solidFill>
                            <a:srgbClr val="666666"/>
                          </a:solidFill>
                          <a:effectLst/>
                          <a:latin typeface="Inherit"/>
                        </a:rPr>
                        <a:t>American Samoa Seasonal Rainfall Variations During ENSO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C5E5F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05850199"/>
                  </a:ext>
                </a:extLst>
              </a:tr>
              <a:tr h="203200">
                <a:tc gridSpan="3">
                  <a:txBody>
                    <a:bodyPr/>
                    <a:lstStyle/>
                    <a:p>
                      <a:pPr algn="ctr" fontAlgn="ctr"/>
                      <a:r>
                        <a:rPr lang="en-US" sz="1400" b="0" i="0" u="none" strike="noStrike" dirty="0">
                          <a:solidFill>
                            <a:srgbClr val="666666"/>
                          </a:solidFill>
                          <a:effectLst/>
                          <a:latin typeface="Inherit"/>
                        </a:rPr>
                        <a:t>(Values are % of normal)</a:t>
                      </a:r>
                    </a:p>
                  </a:txBody>
                  <a:tcPr marL="6350" marR="6350" marT="6350" marB="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5E5F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148346"/>
                  </a:ext>
                </a:extLst>
              </a:tr>
              <a:tr h="196850">
                <a:tc rowSpan="2">
                  <a:txBody>
                    <a:bodyPr/>
                    <a:lstStyle/>
                    <a:p>
                      <a:pPr algn="ctr" fontAlgn="base"/>
                      <a:r>
                        <a:rPr lang="en-US" sz="1800" b="1" i="0" u="none" strike="noStrike">
                          <a:solidFill>
                            <a:srgbClr val="000000"/>
                          </a:solidFill>
                          <a:effectLst/>
                          <a:latin typeface="Arial" panose="020B0604020202020204" pitchFamily="34" charset="0"/>
                        </a:rPr>
                        <a:t>El Nino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tc>
                  <a:txBody>
                    <a:bodyPr/>
                    <a:lstStyle/>
                    <a:p>
                      <a:pPr algn="ctr" fontAlgn="ctr"/>
                      <a:r>
                        <a:rPr lang="en-US" sz="1800" b="1" i="0" u="none" strike="noStrike" dirty="0">
                          <a:solidFill>
                            <a:srgbClr val="000000"/>
                          </a:solidFill>
                          <a:effectLst/>
                          <a:latin typeface="Arial" panose="020B0604020202020204" pitchFamily="34" charset="0"/>
                        </a:rPr>
                        <a:t>Year (0)</a:t>
                      </a:r>
                    </a:p>
                  </a:txBody>
                  <a:tcPr marL="6350" marR="6350" marT="6350" marB="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tc>
                  <a:txBody>
                    <a:bodyPr/>
                    <a:lstStyle/>
                    <a:p>
                      <a:pPr algn="ctr" fontAlgn="ctr"/>
                      <a:r>
                        <a:rPr lang="en-US" sz="1800" b="1" i="0" u="none" strike="noStrike" dirty="0">
                          <a:solidFill>
                            <a:srgbClr val="000000"/>
                          </a:solidFill>
                          <a:effectLst/>
                          <a:latin typeface="Arial" panose="020B0604020202020204" pitchFamily="34" charset="0"/>
                        </a:rPr>
                        <a:t>Year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extLst>
                  <a:ext uri="{0D108BD9-81ED-4DB2-BD59-A6C34878D82A}">
                    <a16:rowId xmlns:a16="http://schemas.microsoft.com/office/drawing/2014/main" val="2507107895"/>
                  </a:ext>
                </a:extLst>
              </a:tr>
              <a:tr h="196850">
                <a:tc vMerge="1">
                  <a:txBody>
                    <a:bodyPr/>
                    <a:lstStyle/>
                    <a:p>
                      <a:endParaRPr lang="en-US"/>
                    </a:p>
                  </a:txBody>
                  <a:tcPr/>
                </a:tc>
                <a:tc>
                  <a:txBody>
                    <a:bodyPr/>
                    <a:lstStyle/>
                    <a:p>
                      <a:pPr algn="ctr" fontAlgn="t"/>
                      <a:r>
                        <a:rPr lang="en-US" sz="1800" b="0" i="0" u="none" strike="noStrike">
                          <a:solidFill>
                            <a:srgbClr val="000000"/>
                          </a:solidFill>
                          <a:effectLst/>
                          <a:latin typeface="Arial" panose="020B0604020202020204" pitchFamily="34" charset="0"/>
                        </a:rPr>
                        <a:t>103-116%</a:t>
                      </a:r>
                    </a:p>
                  </a:txBody>
                  <a:tcPr marL="6350" marR="6350" marT="6350" marB="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tc>
                  <a:txBody>
                    <a:bodyPr/>
                    <a:lstStyle/>
                    <a:p>
                      <a:pPr algn="ctr" fontAlgn="t"/>
                      <a:r>
                        <a:rPr lang="en-US" sz="1800" b="0" i="0" u="none" strike="noStrike" dirty="0">
                          <a:solidFill>
                            <a:srgbClr val="000000"/>
                          </a:solidFill>
                          <a:effectLst/>
                          <a:latin typeface="Arial" panose="020B0604020202020204" pitchFamily="34" charset="0"/>
                        </a:rPr>
                        <a:t>92-109%</a:t>
                      </a:r>
                    </a:p>
                  </a:txBody>
                  <a:tcPr marL="6350" marR="6350" marT="6350" marB="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extLst>
                  <a:ext uri="{0D108BD9-81ED-4DB2-BD59-A6C34878D82A}">
                    <a16:rowId xmlns:a16="http://schemas.microsoft.com/office/drawing/2014/main" val="2603344715"/>
                  </a:ext>
                </a:extLst>
              </a:tr>
              <a:tr h="241300">
                <a:tc rowSpan="2">
                  <a:txBody>
                    <a:bodyPr/>
                    <a:lstStyle/>
                    <a:p>
                      <a:pPr algn="ctr" fontAlgn="ctr"/>
                      <a:r>
                        <a:rPr lang="en-US" sz="1800" b="1" i="0" u="none" strike="noStrike">
                          <a:solidFill>
                            <a:srgbClr val="000000"/>
                          </a:solidFill>
                          <a:effectLst/>
                          <a:latin typeface="Arial" panose="020B0604020202020204" pitchFamily="34" charset="0"/>
                        </a:rPr>
                        <a:t>La Nina</a:t>
                      </a:r>
                    </a:p>
                  </a:txBody>
                  <a:tcPr marL="6350" marR="6350" marT="6350" marB="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tc>
                  <a:txBody>
                    <a:bodyPr/>
                    <a:lstStyle/>
                    <a:p>
                      <a:pPr algn="ctr" fontAlgn="ctr"/>
                      <a:r>
                        <a:rPr lang="en-US" sz="1800" b="1" i="0" u="none" strike="noStrike">
                          <a:solidFill>
                            <a:srgbClr val="000000"/>
                          </a:solidFill>
                          <a:effectLst/>
                          <a:latin typeface="Arial" panose="020B0604020202020204" pitchFamily="34" charset="0"/>
                        </a:rPr>
                        <a:t>Year (0)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tc>
                  <a:txBody>
                    <a:bodyPr/>
                    <a:lstStyle/>
                    <a:p>
                      <a:pPr algn="ctr" fontAlgn="ctr"/>
                      <a:r>
                        <a:rPr lang="en-US" sz="1800" b="1" i="0" u="none" strike="noStrike" dirty="0">
                          <a:solidFill>
                            <a:srgbClr val="000000"/>
                          </a:solidFill>
                          <a:effectLst/>
                          <a:latin typeface="Arial" panose="020B0604020202020204" pitchFamily="34" charset="0"/>
                        </a:rPr>
                        <a:t>Year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extLst>
                  <a:ext uri="{0D108BD9-81ED-4DB2-BD59-A6C34878D82A}">
                    <a16:rowId xmlns:a16="http://schemas.microsoft.com/office/drawing/2014/main" val="605845239"/>
                  </a:ext>
                </a:extLst>
              </a:tr>
              <a:tr h="196850">
                <a:tc vMerge="1">
                  <a:txBody>
                    <a:bodyPr/>
                    <a:lstStyle/>
                    <a:p>
                      <a:endParaRPr lang="en-US"/>
                    </a:p>
                  </a:txBody>
                  <a:tcPr/>
                </a:tc>
                <a:tc>
                  <a:txBody>
                    <a:bodyPr/>
                    <a:lstStyle/>
                    <a:p>
                      <a:pPr algn="ctr" fontAlgn="t"/>
                      <a:r>
                        <a:rPr lang="en-US" sz="1800" b="0" i="0" u="none" strike="noStrike">
                          <a:solidFill>
                            <a:srgbClr val="000000"/>
                          </a:solidFill>
                          <a:effectLst/>
                          <a:latin typeface="Arial" panose="020B0604020202020204" pitchFamily="34" charset="0"/>
                        </a:rPr>
                        <a:t>87-114%</a:t>
                      </a:r>
                    </a:p>
                  </a:txBody>
                  <a:tcPr marL="6350" marR="6350" marT="6350" marB="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tc>
                  <a:txBody>
                    <a:bodyPr/>
                    <a:lstStyle/>
                    <a:p>
                      <a:pPr algn="ctr" fontAlgn="t"/>
                      <a:r>
                        <a:rPr lang="en-US" sz="1800" b="0" i="0" u="none" strike="noStrike" dirty="0">
                          <a:solidFill>
                            <a:srgbClr val="000000"/>
                          </a:solidFill>
                          <a:effectLst/>
                          <a:latin typeface="Arial" panose="020B0604020202020204" pitchFamily="34" charset="0"/>
                        </a:rPr>
                        <a:t>72-99%</a:t>
                      </a:r>
                    </a:p>
                  </a:txBody>
                  <a:tcPr marL="6350" marR="6350" marT="6350" marB="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5F5"/>
                    </a:solidFill>
                  </a:tcPr>
                </a:tc>
                <a:extLst>
                  <a:ext uri="{0D108BD9-81ED-4DB2-BD59-A6C34878D82A}">
                    <a16:rowId xmlns:a16="http://schemas.microsoft.com/office/drawing/2014/main" val="309042630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8d051550c7_2_221"/>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9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548" name="Google Shape;548;g8d051550c7_2_221"/>
          <p:cNvSpPr txBox="1"/>
          <p:nvPr/>
        </p:nvSpPr>
        <p:spPr>
          <a:xfrm>
            <a:off x="9006831" y="1189508"/>
            <a:ext cx="3185169" cy="700587"/>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974806"/>
                </a:solidFill>
                <a:effectLst/>
                <a:uLnTx/>
                <a:uFillTx/>
                <a:latin typeface="Calibri"/>
                <a:ea typeface="Calibri"/>
                <a:cs typeface="Calibri"/>
                <a:sym typeface="Calibri"/>
              </a:rPr>
              <a:t>Habitat: Shallow Habitats</a:t>
            </a:r>
            <a:endParaRPr kumimoji="0" sz="1900" b="1" i="0" u="none" strike="noStrike" kern="0" cap="none" spc="0" normalizeH="0" baseline="0" noProof="0" dirty="0">
              <a:ln>
                <a:noFill/>
              </a:ln>
              <a:solidFill>
                <a:srgbClr val="974806"/>
              </a:solidFill>
              <a:effectLst/>
              <a:uLnTx/>
              <a:uFillTx/>
              <a:latin typeface="Calibri"/>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974806"/>
                </a:solidFill>
                <a:effectLst/>
                <a:uLnTx/>
                <a:uFillTx/>
                <a:latin typeface="Calibri"/>
                <a:ea typeface="Calibri"/>
                <a:cs typeface="Calibri"/>
                <a:sym typeface="Calibri"/>
              </a:rPr>
              <a:t>Indicator: Cyclones</a:t>
            </a:r>
            <a:endParaRPr kumimoji="0" sz="1900" b="1" i="0" u="none" strike="noStrike" kern="0" cap="none" spc="0" normalizeH="0" baseline="0" noProof="0" dirty="0">
              <a:ln>
                <a:noFill/>
              </a:ln>
              <a:solidFill>
                <a:srgbClr val="974806"/>
              </a:solidFill>
              <a:effectLst/>
              <a:uLnTx/>
              <a:uFillTx/>
              <a:latin typeface="Calibri"/>
              <a:ea typeface="Calibri"/>
              <a:cs typeface="Calibri"/>
              <a:sym typeface="Calibri"/>
            </a:endParaRPr>
          </a:p>
        </p:txBody>
      </p:sp>
      <p:sp>
        <p:nvSpPr>
          <p:cNvPr id="550" name="Google Shape;550;g8d051550c7_2_221"/>
          <p:cNvSpPr txBox="1"/>
          <p:nvPr/>
        </p:nvSpPr>
        <p:spPr>
          <a:xfrm>
            <a:off x="17124" y="6201078"/>
            <a:ext cx="1972639" cy="3075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alibri"/>
                <a:ea typeface="Calibri"/>
                <a:cs typeface="Calibri"/>
                <a:sym typeface="Calibri"/>
              </a:rPr>
              <a:t>Source:  https://coast.noaa.gov/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dk1"/>
                </a:solidFill>
                <a:latin typeface="Calibri"/>
                <a:ea typeface="Calibri"/>
                <a:cs typeface="Calibri"/>
                <a:sym typeface="Calibri"/>
              </a:rPr>
              <a:t>NOAA WSO Pago Pago</a:t>
            </a: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7" name="Google Shape;312;g824a699b75_0_158">
            <a:extLst>
              <a:ext uri="{FF2B5EF4-FFF2-40B4-BE49-F238E27FC236}">
                <a16:creationId xmlns:a16="http://schemas.microsoft.com/office/drawing/2014/main" id="{BB07B785-B2FD-49D5-8F62-3017462C4127}"/>
              </a:ext>
            </a:extLst>
          </p:cNvPr>
          <p:cNvSpPr txBox="1">
            <a:spLocks/>
          </p:cNvSpPr>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900"/>
              <a:buFont typeface="Arial"/>
              <a:buNone/>
              <a:defRPr sz="4400" b="0" i="0" u="none" strike="noStrike" cap="none">
                <a:solidFill>
                  <a:schemeClr val="lt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FFFFFF"/>
              </a:buClr>
              <a:buSzPts val="3200"/>
              <a:buFont typeface="Calibri"/>
              <a:buNone/>
              <a:tabLst/>
              <a:defRPr/>
            </a:pPr>
            <a:r>
              <a:rPr kumimoji="0" lang="en-US" sz="3200" b="1" i="1" u="none" strike="noStrike" kern="0" cap="none" spc="0" normalizeH="0" baseline="0" noProof="0" dirty="0">
                <a:ln>
                  <a:noFill/>
                </a:ln>
                <a:solidFill>
                  <a:srgbClr val="FFFFFF"/>
                </a:solidFill>
                <a:effectLst/>
                <a:uLnTx/>
                <a:uFillTx/>
                <a:latin typeface="Calibri"/>
                <a:cs typeface="Calibri"/>
                <a:sym typeface="Calibri"/>
              </a:rPr>
              <a:t>Question 8: Have recent, accelerated changes in climate altered water conditions and how are they changing?</a:t>
            </a:r>
            <a:endParaRPr kumimoji="0" lang="en-US" sz="4400" b="0" i="0" u="none" strike="noStrike" kern="0" cap="none" spc="0" normalizeH="0" baseline="0" noProof="0" dirty="0">
              <a:ln>
                <a:noFill/>
              </a:ln>
              <a:solidFill>
                <a:srgbClr val="FFFFFF"/>
              </a:solidFill>
              <a:effectLst/>
              <a:uLnTx/>
              <a:uFillTx/>
              <a:latin typeface="Calibri"/>
              <a:cs typeface="Calibri"/>
              <a:sym typeface="Calibri"/>
            </a:endParaRPr>
          </a:p>
        </p:txBody>
      </p:sp>
      <p:graphicFrame>
        <p:nvGraphicFramePr>
          <p:cNvPr id="8" name="Chart 7">
            <a:extLst>
              <a:ext uri="{FF2B5EF4-FFF2-40B4-BE49-F238E27FC236}">
                <a16:creationId xmlns:a16="http://schemas.microsoft.com/office/drawing/2014/main" id="{2DCB62BD-76CD-41D1-B886-3B4115ACE1C2}"/>
              </a:ext>
            </a:extLst>
          </p:cNvPr>
          <p:cNvGraphicFramePr>
            <a:graphicFrameLocks/>
          </p:cNvGraphicFramePr>
          <p:nvPr>
            <p:extLst>
              <p:ext uri="{D42A27DB-BD31-4B8C-83A1-F6EECF244321}">
                <p14:modId xmlns:p14="http://schemas.microsoft.com/office/powerpoint/2010/main" val="4245366054"/>
              </p:ext>
            </p:extLst>
          </p:nvPr>
        </p:nvGraphicFramePr>
        <p:xfrm>
          <a:off x="1616400" y="1961664"/>
          <a:ext cx="8585837" cy="47318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03881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329"/>
        <p:cNvGrpSpPr/>
        <p:nvPr/>
      </p:nvGrpSpPr>
      <p:grpSpPr>
        <a:xfrm>
          <a:off x="0" y="0"/>
          <a:ext cx="0" cy="0"/>
          <a:chOff x="0" y="0"/>
          <a:chExt cx="0" cy="0"/>
        </a:xfrm>
      </p:grpSpPr>
      <p:sp>
        <p:nvSpPr>
          <p:cNvPr id="330" name="Google Shape;330;g824a699b75_0_210"/>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331" name="Google Shape;331;g824a699b75_0_210"/>
          <p:cNvSpPr txBox="1"/>
          <p:nvPr/>
        </p:nvSpPr>
        <p:spPr>
          <a:xfrm>
            <a:off x="-173269" y="1658212"/>
            <a:ext cx="5972100" cy="5113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6400" dirty="0">
                <a:latin typeface="Comic Sans MS"/>
                <a:ea typeface="Comic Sans MS"/>
                <a:cs typeface="Comic Sans MS"/>
                <a:sym typeface="Comic Sans MS"/>
              </a:rPr>
              <a:t>Habitat: </a:t>
            </a:r>
            <a:endParaRPr sz="6400" dirty="0">
              <a:latin typeface="Comic Sans MS"/>
              <a:ea typeface="Comic Sans MS"/>
              <a:cs typeface="Comic Sans MS"/>
              <a:sym typeface="Comic Sans MS"/>
            </a:endParaRPr>
          </a:p>
          <a:p>
            <a:pPr marL="0" lvl="0" indent="0" algn="ctr" rtl="0">
              <a:spcBef>
                <a:spcPts val="0"/>
              </a:spcBef>
              <a:spcAft>
                <a:spcPts val="0"/>
              </a:spcAft>
              <a:buNone/>
            </a:pPr>
            <a:r>
              <a:rPr lang="en-US" sz="6400" dirty="0">
                <a:latin typeface="Comic Sans MS"/>
                <a:ea typeface="Comic Sans MS"/>
                <a:cs typeface="Comic Sans MS"/>
                <a:sym typeface="Comic Sans MS"/>
              </a:rPr>
              <a:t>All Habitats</a:t>
            </a:r>
            <a:endParaRPr sz="6400" dirty="0">
              <a:latin typeface="Comic Sans MS"/>
              <a:ea typeface="Comic Sans MS"/>
              <a:cs typeface="Comic Sans MS"/>
              <a:sym typeface="Comic Sans MS"/>
            </a:endParaRPr>
          </a:p>
          <a:p>
            <a:pPr marL="0" lvl="0" indent="0" algn="ctr" rtl="0">
              <a:spcBef>
                <a:spcPts val="0"/>
              </a:spcBef>
              <a:spcAft>
                <a:spcPts val="0"/>
              </a:spcAft>
              <a:buNone/>
            </a:pPr>
            <a:endParaRPr sz="6400" dirty="0">
              <a:latin typeface="Comic Sans MS"/>
              <a:ea typeface="Comic Sans MS"/>
              <a:cs typeface="Comic Sans MS"/>
              <a:sym typeface="Comic Sans MS"/>
            </a:endParaRPr>
          </a:p>
          <a:p>
            <a:pPr marL="0" lvl="0" indent="0" algn="ctr" rtl="0">
              <a:spcBef>
                <a:spcPts val="0"/>
              </a:spcBef>
              <a:spcAft>
                <a:spcPts val="0"/>
              </a:spcAft>
              <a:buNone/>
            </a:pPr>
            <a:r>
              <a:rPr lang="en-US" sz="6400" dirty="0">
                <a:latin typeface="Comic Sans MS"/>
                <a:ea typeface="Comic Sans MS"/>
                <a:cs typeface="Comic Sans MS"/>
                <a:sym typeface="Comic Sans MS"/>
              </a:rPr>
              <a:t>Indicator:</a:t>
            </a:r>
            <a:endParaRPr sz="6400" dirty="0">
              <a:latin typeface="Comic Sans MS"/>
              <a:ea typeface="Comic Sans MS"/>
              <a:cs typeface="Comic Sans MS"/>
              <a:sym typeface="Comic Sans MS"/>
            </a:endParaRPr>
          </a:p>
          <a:p>
            <a:pPr marL="0" lvl="0" indent="0" algn="ctr" rtl="0">
              <a:spcBef>
                <a:spcPts val="0"/>
              </a:spcBef>
              <a:spcAft>
                <a:spcPts val="0"/>
              </a:spcAft>
              <a:buNone/>
            </a:pPr>
            <a:r>
              <a:rPr lang="en-US" sz="6400" dirty="0">
                <a:latin typeface="Comic Sans MS"/>
                <a:ea typeface="Comic Sans MS"/>
                <a:cs typeface="Comic Sans MS"/>
                <a:sym typeface="Comic Sans MS"/>
              </a:rPr>
              <a:t>Currents</a:t>
            </a:r>
            <a:endParaRPr sz="6400" dirty="0">
              <a:latin typeface="Comic Sans MS"/>
              <a:ea typeface="Comic Sans MS"/>
              <a:cs typeface="Comic Sans MS"/>
              <a:sym typeface="Comic Sans MS"/>
            </a:endParaRPr>
          </a:p>
          <a:p>
            <a:pPr marL="0" lvl="0" indent="0" algn="ctr" rtl="0">
              <a:spcBef>
                <a:spcPts val="0"/>
              </a:spcBef>
              <a:spcAft>
                <a:spcPts val="0"/>
              </a:spcAft>
              <a:buNone/>
            </a:pPr>
            <a:endParaRPr sz="6400" u="sng" dirty="0">
              <a:latin typeface="Comic Sans MS"/>
              <a:ea typeface="Comic Sans MS"/>
              <a:cs typeface="Comic Sans MS"/>
              <a:sym typeface="Comic Sans MS"/>
            </a:endParaRPr>
          </a:p>
        </p:txBody>
      </p:sp>
      <p:sp>
        <p:nvSpPr>
          <p:cNvPr id="332" name="Google Shape;332;g824a699b75_0_210"/>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333" name="Google Shape;333;g824a699b75_0_210"/>
          <p:cNvPicPr preferRelativeResize="0"/>
          <p:nvPr/>
        </p:nvPicPr>
        <p:blipFill>
          <a:blip r:embed="rId3">
            <a:alphaModFix/>
          </a:blip>
          <a:stretch>
            <a:fillRect/>
          </a:stretch>
        </p:blipFill>
        <p:spPr>
          <a:xfrm>
            <a:off x="5960400" y="2686350"/>
            <a:ext cx="5893450" cy="3057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8c85f6f7a6_0_235"/>
          <p:cNvSpPr txBox="1"/>
          <p:nvPr/>
        </p:nvSpPr>
        <p:spPr>
          <a:xfrm>
            <a:off x="4389661" y="6607890"/>
            <a:ext cx="46320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Source: BioGeo Assessment </a:t>
            </a:r>
            <a:r>
              <a:rPr lang="en-US" sz="1200">
                <a:solidFill>
                  <a:schemeClr val="dk1"/>
                </a:solidFill>
                <a:latin typeface="Calibri"/>
                <a:ea typeface="Calibri"/>
                <a:cs typeface="Calibri"/>
                <a:sym typeface="Calibri"/>
              </a:rPr>
              <a:t> </a:t>
            </a:r>
            <a:endParaRPr sz="1900"/>
          </a:p>
        </p:txBody>
      </p:sp>
      <p:sp>
        <p:nvSpPr>
          <p:cNvPr id="340" name="Google Shape;340;g8c85f6f7a6_0_235"/>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341" name="Google Shape;341;g8c85f6f7a6_0_235"/>
          <p:cNvSpPr txBox="1"/>
          <p:nvPr/>
        </p:nvSpPr>
        <p:spPr>
          <a:xfrm>
            <a:off x="4461000" y="1219400"/>
            <a:ext cx="3270000" cy="7407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Shallow Habitats</a:t>
            </a:r>
            <a:endParaRPr sz="1900" b="1"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Indicator: Currents</a:t>
            </a:r>
            <a:endParaRPr sz="1900" b="1" i="0" u="none" strike="noStrike" cap="none" dirty="0">
              <a:solidFill>
                <a:srgbClr val="974806"/>
              </a:solidFill>
              <a:latin typeface="Calibri"/>
              <a:ea typeface="Calibri"/>
              <a:cs typeface="Calibri"/>
              <a:sym typeface="Calibri"/>
            </a:endParaRPr>
          </a:p>
        </p:txBody>
      </p:sp>
      <p:sp>
        <p:nvSpPr>
          <p:cNvPr id="342" name="Google Shape;342;g8c85f6f7a6_0_235"/>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343" name="Google Shape;343;g8c85f6f7a6_0_23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0" y="2321127"/>
            <a:ext cx="6200733" cy="4083572"/>
          </a:xfrm>
          <a:prstGeom prst="rect">
            <a:avLst/>
          </a:prstGeom>
          <a:noFill/>
          <a:ln>
            <a:noFill/>
          </a:ln>
        </p:spPr>
      </p:pic>
      <p:pic>
        <p:nvPicPr>
          <p:cNvPr id="344" name="Google Shape;344;g8c85f6f7a6_0_235"/>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6200741" y="2311467"/>
            <a:ext cx="6053159" cy="40145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8c85f6f7a6_0_256"/>
          <p:cNvSpPr txBox="1"/>
          <p:nvPr/>
        </p:nvSpPr>
        <p:spPr>
          <a:xfrm>
            <a:off x="0" y="6525880"/>
            <a:ext cx="2083500" cy="307500"/>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Source: NCCOS 2011</a:t>
            </a:r>
            <a:endParaRPr sz="1900" dirty="0"/>
          </a:p>
        </p:txBody>
      </p:sp>
      <p:sp>
        <p:nvSpPr>
          <p:cNvPr id="362" name="Google Shape;362;g8c85f6f7a6_0_256"/>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900" b="0" i="0" u="none" strike="noStrike" cap="none">
              <a:solidFill>
                <a:srgbClr val="000000"/>
              </a:solidFill>
              <a:latin typeface="Arial"/>
              <a:ea typeface="Arial"/>
              <a:cs typeface="Arial"/>
              <a:sym typeface="Arial"/>
            </a:endParaRPr>
          </a:p>
        </p:txBody>
      </p:sp>
      <p:sp>
        <p:nvSpPr>
          <p:cNvPr id="363" name="Google Shape;363;g8c85f6f7a6_0_256"/>
          <p:cNvSpPr txBox="1"/>
          <p:nvPr/>
        </p:nvSpPr>
        <p:spPr>
          <a:xfrm>
            <a:off x="701800" y="1195954"/>
            <a:ext cx="4104662" cy="740700"/>
          </a:xfrm>
          <a:prstGeom prst="rect">
            <a:avLst/>
          </a:prstGeom>
          <a:solidFill>
            <a:schemeClr val="lt1"/>
          </a:solidFill>
          <a:ln w="9525" cap="flat" cmpd="sng">
            <a:solidFill>
              <a:srgbClr val="FF9900"/>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Habitat: Coral Reefs </a:t>
            </a:r>
            <a:endParaRPr sz="1900" b="1" dirty="0">
              <a:solidFill>
                <a:srgbClr val="974806"/>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900" b="1" dirty="0">
                <a:solidFill>
                  <a:srgbClr val="974806"/>
                </a:solidFill>
                <a:latin typeface="Calibri"/>
                <a:ea typeface="Calibri"/>
                <a:cs typeface="Calibri"/>
                <a:sym typeface="Calibri"/>
              </a:rPr>
              <a:t>Indicator: Currents - Larval Transport</a:t>
            </a:r>
            <a:endParaRPr sz="1900" b="1" i="0" u="none" strike="noStrike" cap="none" dirty="0">
              <a:solidFill>
                <a:srgbClr val="974806"/>
              </a:solidFill>
              <a:latin typeface="Calibri"/>
              <a:ea typeface="Calibri"/>
              <a:cs typeface="Calibri"/>
              <a:sym typeface="Calibri"/>
            </a:endParaRPr>
          </a:p>
        </p:txBody>
      </p:sp>
      <p:sp>
        <p:nvSpPr>
          <p:cNvPr id="364" name="Google Shape;364;g8c85f6f7a6_0_256"/>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pic>
        <p:nvPicPr>
          <p:cNvPr id="366" name="Google Shape;366;g8c85f6f7a6_0_256"/>
          <p:cNvPicPr preferRelativeResize="0"/>
          <p:nvPr/>
        </p:nvPicPr>
        <p:blipFill>
          <a:blip r:embed="rId3">
            <a:alphaModFix/>
          </a:blip>
          <a:stretch>
            <a:fillRect/>
          </a:stretch>
        </p:blipFill>
        <p:spPr>
          <a:xfrm>
            <a:off x="203202" y="1983545"/>
            <a:ext cx="5162173" cy="4546249"/>
          </a:xfrm>
          <a:prstGeom prst="rect">
            <a:avLst/>
          </a:prstGeom>
          <a:noFill/>
          <a:ln>
            <a:noFill/>
          </a:ln>
        </p:spPr>
      </p:pic>
      <p:pic>
        <p:nvPicPr>
          <p:cNvPr id="367" name="Google Shape;367;g8c85f6f7a6_0_256"/>
          <p:cNvPicPr preferRelativeResize="0"/>
          <p:nvPr/>
        </p:nvPicPr>
        <p:blipFill>
          <a:blip r:embed="rId4">
            <a:alphaModFix/>
          </a:blip>
          <a:stretch>
            <a:fillRect/>
          </a:stretch>
        </p:blipFill>
        <p:spPr>
          <a:xfrm>
            <a:off x="6424246" y="1340582"/>
            <a:ext cx="5477207" cy="544121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329"/>
        <p:cNvGrpSpPr/>
        <p:nvPr/>
      </p:nvGrpSpPr>
      <p:grpSpPr>
        <a:xfrm>
          <a:off x="0" y="0"/>
          <a:ext cx="0" cy="0"/>
          <a:chOff x="0" y="0"/>
          <a:chExt cx="0" cy="0"/>
        </a:xfrm>
      </p:grpSpPr>
      <p:sp>
        <p:nvSpPr>
          <p:cNvPr id="330" name="Google Shape;330;g824a699b75_0_210"/>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9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31" name="Google Shape;331;g824a699b75_0_210"/>
          <p:cNvSpPr txBox="1"/>
          <p:nvPr/>
        </p:nvSpPr>
        <p:spPr>
          <a:xfrm>
            <a:off x="-173269" y="1658212"/>
            <a:ext cx="5972100" cy="5113500"/>
          </a:xfrm>
          <a:prstGeom prst="rect">
            <a:avLst/>
          </a:prstGeom>
          <a:no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Habitat: </a:t>
            </a:r>
            <a:endParaRPr kumimoji="0"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400" dirty="0">
                <a:latin typeface="Comic Sans MS"/>
                <a:ea typeface="Comic Sans MS"/>
                <a:cs typeface="Comic Sans MS"/>
                <a:sym typeface="Comic Sans MS"/>
              </a:rPr>
              <a:t>Deep Habitats</a:t>
            </a:r>
            <a:endParaRPr kumimoji="0" lang="en-US" sz="4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4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Indicator:</a:t>
            </a:r>
            <a:endParaRPr kumimoji="0" sz="54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rPr>
              <a:t>Stratification and Thermohaline Circulation</a:t>
            </a:r>
            <a:endParaRPr kumimoji="0" sz="4000" b="0" i="0" u="none"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6400" b="0" i="0" u="sng" strike="noStrike" kern="0" cap="none" spc="0" normalizeH="0" baseline="0" noProof="0" dirty="0">
              <a:ln>
                <a:noFill/>
              </a:ln>
              <a:solidFill>
                <a:srgbClr val="000000"/>
              </a:solidFill>
              <a:effectLst/>
              <a:uLnTx/>
              <a:uFillTx/>
              <a:latin typeface="Comic Sans MS"/>
              <a:ea typeface="Comic Sans MS"/>
              <a:cs typeface="Comic Sans MS"/>
              <a:sym typeface="Comic Sans MS"/>
            </a:endParaRPr>
          </a:p>
        </p:txBody>
      </p:sp>
      <p:sp>
        <p:nvSpPr>
          <p:cNvPr id="332" name="Google Shape;332;g824a699b75_0_210"/>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dirty="0">
                <a:solidFill>
                  <a:srgbClr val="FFFFFF"/>
                </a:solidFill>
                <a:latin typeface="Calibri"/>
                <a:ea typeface="Calibri"/>
                <a:cs typeface="Calibri"/>
                <a:sym typeface="Calibri"/>
              </a:rPr>
              <a:t>Question 8: </a:t>
            </a:r>
            <a:r>
              <a:rPr lang="en-US" sz="3200" b="1" i="1" dirty="0">
                <a:solidFill>
                  <a:srgbClr val="FFFFFF"/>
                </a:solidFill>
              </a:rPr>
              <a:t>Have recent, accelerated changes in climate altered water conditions and how are they changing?</a:t>
            </a:r>
            <a:endParaRPr dirty="0"/>
          </a:p>
        </p:txBody>
      </p:sp>
      <p:pic>
        <p:nvPicPr>
          <p:cNvPr id="3" name="Picture 2">
            <a:extLst>
              <a:ext uri="{FF2B5EF4-FFF2-40B4-BE49-F238E27FC236}">
                <a16:creationId xmlns:a16="http://schemas.microsoft.com/office/drawing/2014/main" id="{944B9DC8-280B-478D-A93F-F33047F5DB0F}"/>
              </a:ext>
            </a:extLst>
          </p:cNvPr>
          <p:cNvPicPr>
            <a:picLocks noChangeAspect="1"/>
          </p:cNvPicPr>
          <p:nvPr/>
        </p:nvPicPr>
        <p:blipFill>
          <a:blip r:embed="rId3"/>
          <a:stretch>
            <a:fillRect/>
          </a:stretch>
        </p:blipFill>
        <p:spPr>
          <a:xfrm>
            <a:off x="5565813" y="2293839"/>
            <a:ext cx="6296387" cy="3614592"/>
          </a:xfrm>
          <a:prstGeom prst="rect">
            <a:avLst/>
          </a:prstGeom>
        </p:spPr>
      </p:pic>
    </p:spTree>
    <p:extLst>
      <p:ext uri="{BB962C8B-B14F-4D97-AF65-F5344CB8AC3E}">
        <p14:creationId xmlns:p14="http://schemas.microsoft.com/office/powerpoint/2010/main" val="3444420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8da14274d1_0_67"/>
          <p:cNvSpPr txBox="1"/>
          <p:nvPr/>
        </p:nvSpPr>
        <p:spPr>
          <a:xfrm>
            <a:off x="-5" y="6550390"/>
            <a:ext cx="4632000" cy="3075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t>Source: https://marinebio.org/oceans/deep-sea/ </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93;g8da14274d1_0_67"/>
          <p:cNvSpPr/>
          <p:nvPr/>
        </p:nvSpPr>
        <p:spPr>
          <a:xfrm>
            <a:off x="1524001" y="-292387"/>
            <a:ext cx="184800" cy="5847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9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5" name="Google Shape;195;g8da14274d1_0_67"/>
          <p:cNvPicPr preferRelativeResize="0"/>
          <p:nvPr/>
        </p:nvPicPr>
        <p:blipFill>
          <a:blip r:embed="rId3">
            <a:alphaModFix/>
          </a:blip>
          <a:stretch>
            <a:fillRect/>
          </a:stretch>
        </p:blipFill>
        <p:spPr>
          <a:xfrm>
            <a:off x="213833" y="2052083"/>
            <a:ext cx="4772837" cy="4337315"/>
          </a:xfrm>
          <a:prstGeom prst="rect">
            <a:avLst/>
          </a:prstGeom>
          <a:noFill/>
          <a:ln>
            <a:noFill/>
          </a:ln>
        </p:spPr>
      </p:pic>
      <p:sp>
        <p:nvSpPr>
          <p:cNvPr id="196" name="Google Shape;196;g8da14274d1_0_67"/>
          <p:cNvSpPr txBox="1"/>
          <p:nvPr/>
        </p:nvSpPr>
        <p:spPr>
          <a:xfrm>
            <a:off x="5216768" y="1652299"/>
            <a:ext cx="6847499" cy="4898091"/>
          </a:xfrm>
          <a:prstGeom prst="rect">
            <a:avLst/>
          </a:prstGeom>
          <a:noFill/>
          <a:ln>
            <a:noFill/>
          </a:ln>
        </p:spPr>
        <p:txBody>
          <a:bodyPr spcFirstLastPara="1" wrap="square" lIns="121900" tIns="121900" rIns="121900" bIns="121900" anchor="t" anchorCtr="0">
            <a:noAutofit/>
          </a:bodyPr>
          <a:lstStyle/>
          <a:p>
            <a:pPr algn="ctr"/>
            <a:r>
              <a:rPr kumimoji="0" lang="en-US" sz="2800" b="0" i="0" u="none" strike="noStrike" kern="0" cap="none" spc="0" normalizeH="0" baseline="0" noProof="0" dirty="0">
                <a:ln>
                  <a:noFill/>
                </a:ln>
                <a:solidFill>
                  <a:schemeClr val="tx1"/>
                </a:solidFill>
                <a:effectLst/>
                <a:uLnTx/>
                <a:uFillTx/>
                <a:latin typeface="Calibri"/>
                <a:cs typeface="Calibri"/>
                <a:sym typeface="Calibri"/>
              </a:rPr>
              <a:t>Zonation by Depth in NMSAS</a:t>
            </a:r>
            <a:endParaRPr kumimoji="0" lang="en-US" sz="4400" b="0" i="0" u="none" strike="noStrike" kern="0" cap="none" spc="0" normalizeH="0" baseline="0" noProof="0" dirty="0">
              <a:ln>
                <a:noFill/>
              </a:ln>
              <a:solidFill>
                <a:schemeClr val="tx1"/>
              </a:solidFill>
              <a:effectLst/>
              <a:uLnTx/>
              <a:uFillTx/>
              <a:latin typeface="Calibri"/>
              <a:cs typeface="Calibri"/>
              <a:sym typeface="Calibri"/>
            </a:endParaRPr>
          </a:p>
          <a:p>
            <a:pPr marL="0" marR="0" lvl="0" indent="0" algn="l" defTabSz="914400" rtl="0" eaLnBrk="1" fontAlgn="auto" latinLnBrk="0" hangingPunct="1">
              <a:lnSpc>
                <a:spcPct val="100000"/>
              </a:lnSpc>
              <a:spcBef>
                <a:spcPts val="800"/>
              </a:spcBef>
              <a:spcAft>
                <a:spcPts val="0"/>
              </a:spcAft>
              <a:buClr>
                <a:srgbClr val="000000"/>
              </a:buClr>
              <a:buSzPts val="1500"/>
              <a:buFont typeface="Arial"/>
              <a:buNone/>
              <a:tabLst/>
              <a:defRPr/>
            </a:pPr>
            <a:r>
              <a:rPr kumimoji="0" lang="en-US" sz="1900" b="0" i="0" u="sng" strike="noStrike" kern="0" cap="none" spc="0" normalizeH="0" baseline="0" noProof="0" dirty="0">
                <a:ln>
                  <a:noFill/>
                </a:ln>
                <a:solidFill>
                  <a:srgbClr val="000000"/>
                </a:solidFill>
                <a:effectLst/>
                <a:uLnTx/>
                <a:uFillTx/>
                <a:latin typeface="Arial"/>
                <a:cs typeface="Arial"/>
                <a:sym typeface="Arial"/>
              </a:rPr>
              <a:t>UPPER BATHYAL</a:t>
            </a:r>
            <a:r>
              <a:rPr kumimoji="0" lang="en-US" sz="1900" b="0" i="0" u="none" strike="noStrike" kern="0" cap="none" spc="0" normalizeH="0" baseline="0" noProof="0" dirty="0">
                <a:ln>
                  <a:noFill/>
                </a:ln>
                <a:solidFill>
                  <a:srgbClr val="000000"/>
                </a:solidFill>
                <a:effectLst/>
                <a:uLnTx/>
                <a:uFillTx/>
                <a:latin typeface="Arial"/>
                <a:cs typeface="Arial"/>
                <a:sym typeface="Arial"/>
              </a:rPr>
              <a:t>: bottom fish and precious coral habitats at depths between 250 m and 700 m. At this depth range, structuring of biological communities associated with depth was observed, likely a result of the rapid temperature changes in the main thermocline.</a:t>
            </a: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800"/>
              </a:spcBef>
              <a:spcAft>
                <a:spcPts val="0"/>
              </a:spcAft>
              <a:buClr>
                <a:srgbClr val="000000"/>
              </a:buClr>
              <a:buSzPts val="1500"/>
              <a:buFont typeface="Arial"/>
              <a:buNone/>
              <a:tabLst/>
              <a:defRPr/>
            </a:pPr>
            <a:endParaRPr kumimoji="0"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800"/>
              </a:spcBef>
              <a:spcAft>
                <a:spcPts val="0"/>
              </a:spcAft>
              <a:buClr>
                <a:srgbClr val="000000"/>
              </a:buClr>
              <a:buSzPts val="1500"/>
              <a:buFont typeface="Arial"/>
              <a:buNone/>
              <a:tabLst/>
              <a:defRPr/>
            </a:pPr>
            <a:r>
              <a:rPr kumimoji="0" lang="en-US" sz="1900" b="0" i="0" u="sng" strike="noStrike" kern="0" cap="none" spc="0" normalizeH="0" baseline="0" noProof="0" dirty="0">
                <a:ln>
                  <a:noFill/>
                </a:ln>
                <a:solidFill>
                  <a:srgbClr val="000000"/>
                </a:solidFill>
                <a:effectLst/>
                <a:uLnTx/>
                <a:uFillTx/>
                <a:latin typeface="Arial"/>
                <a:cs typeface="Arial"/>
                <a:sym typeface="Arial"/>
              </a:rPr>
              <a:t>LOWER BATHYAL</a:t>
            </a:r>
            <a:r>
              <a:rPr kumimoji="0" lang="en-US" sz="1900" b="0" i="0" u="none" strike="noStrike" kern="0" cap="none" spc="0" normalizeH="0" baseline="0" noProof="0" dirty="0">
                <a:ln>
                  <a:noFill/>
                </a:ln>
                <a:solidFill>
                  <a:srgbClr val="000000"/>
                </a:solidFill>
                <a:effectLst/>
                <a:uLnTx/>
                <a:uFillTx/>
                <a:latin typeface="Arial"/>
                <a:cs typeface="Arial"/>
                <a:sym typeface="Arial"/>
              </a:rPr>
              <a:t>: depths between 700 m and 1,150 m and 2000 - 3000 m showed different communities compared to other depth ranges.</a:t>
            </a:r>
          </a:p>
          <a:p>
            <a:pPr marL="0" marR="0" lvl="0" indent="0" algn="l" defTabSz="914400" rtl="0" eaLnBrk="1" fontAlgn="auto" latinLnBrk="0" hangingPunct="1">
              <a:lnSpc>
                <a:spcPct val="100000"/>
              </a:lnSpc>
              <a:spcBef>
                <a:spcPts val="800"/>
              </a:spcBef>
              <a:spcAft>
                <a:spcPts val="0"/>
              </a:spcAft>
              <a:buClr>
                <a:srgbClr val="000000"/>
              </a:buClr>
              <a:buSzPts val="1500"/>
              <a:buFont typeface="Arial"/>
              <a:buNone/>
              <a:tabLst/>
              <a:defRPr/>
            </a:pPr>
            <a:endParaRPr kumimoji="0"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800"/>
              </a:spcBef>
              <a:spcAft>
                <a:spcPts val="0"/>
              </a:spcAft>
              <a:buClr>
                <a:srgbClr val="000000"/>
              </a:buClr>
              <a:buSzPts val="1500"/>
              <a:buFont typeface="Arial"/>
              <a:buNone/>
              <a:tabLst/>
              <a:defRPr/>
            </a:pPr>
            <a:r>
              <a:rPr kumimoji="0" lang="en-US" sz="1900" b="0" i="0" u="sng" strike="noStrike" kern="0" cap="none" spc="0" normalizeH="0" baseline="0" noProof="0" dirty="0">
                <a:ln>
                  <a:noFill/>
                </a:ln>
                <a:solidFill>
                  <a:srgbClr val="000000"/>
                </a:solidFill>
                <a:effectLst/>
                <a:uLnTx/>
                <a:uFillTx/>
                <a:latin typeface="Arial"/>
                <a:cs typeface="Arial"/>
                <a:sym typeface="Arial"/>
              </a:rPr>
              <a:t>ABYSSAL</a:t>
            </a:r>
            <a:r>
              <a:rPr kumimoji="0" lang="en-US" sz="1900" b="0" i="0" u="none" strike="noStrike" kern="0" cap="none" spc="0" normalizeH="0" baseline="0" noProof="0" dirty="0">
                <a:ln>
                  <a:noFill/>
                </a:ln>
                <a:solidFill>
                  <a:srgbClr val="000000"/>
                </a:solidFill>
                <a:effectLst/>
                <a:uLnTx/>
                <a:uFillTx/>
                <a:latin typeface="Arial"/>
                <a:cs typeface="Arial"/>
                <a:sym typeface="Arial"/>
              </a:rPr>
              <a:t>: At depths between 3,700 m and 4,000 m organisms were similar to lower bathyal depths but species appeared to be different and their sizes were generally smaller.</a:t>
            </a:r>
            <a:endParaRPr kumimoji="0" sz="19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800"/>
              </a:spcBef>
              <a:spcAft>
                <a:spcPts val="0"/>
              </a:spcAft>
              <a:buClr>
                <a:srgbClr val="000000"/>
              </a:buClr>
              <a:buSzTx/>
              <a:buFont typeface="Arial"/>
              <a:buNone/>
              <a:tabLst/>
              <a:defRPr/>
            </a:pPr>
            <a:endParaRPr kumimoji="0" sz="19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97" name="Google Shape;197;g8da14274d1_0_67"/>
          <p:cNvSpPr txBox="1"/>
          <p:nvPr/>
        </p:nvSpPr>
        <p:spPr>
          <a:xfrm>
            <a:off x="10598030" y="6550400"/>
            <a:ext cx="1618800" cy="3075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t>Source: NOAA OER</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332;g824a699b75_0_210">
            <a:extLst>
              <a:ext uri="{FF2B5EF4-FFF2-40B4-BE49-F238E27FC236}">
                <a16:creationId xmlns:a16="http://schemas.microsoft.com/office/drawing/2014/main" id="{5E3C1A8C-3915-4DCB-AC0D-932259773FC4}"/>
              </a:ext>
            </a:extLst>
          </p:cNvPr>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dirty="0">
                <a:solidFill>
                  <a:srgbClr val="FFFFFF"/>
                </a:solidFill>
                <a:latin typeface="Calibri"/>
                <a:ea typeface="Calibri"/>
                <a:cs typeface="Calibri"/>
                <a:sym typeface="Calibri"/>
              </a:rPr>
              <a:t>Question 8: </a:t>
            </a:r>
            <a:r>
              <a:rPr lang="en-US" sz="3200" b="1" i="1" dirty="0">
                <a:solidFill>
                  <a:srgbClr val="FFFFFF"/>
                </a:solidFill>
              </a:rPr>
              <a:t>Have recent, accelerated changes in climate altered water conditions and how are they changing?</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824a699b75_0_62"/>
          <p:cNvSpPr txBox="1">
            <a:spLocks noGrp="1"/>
          </p:cNvSpPr>
          <p:nvPr>
            <p:ph type="title"/>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graphicFrame>
        <p:nvGraphicFramePr>
          <p:cNvPr id="106" name="Google Shape;106;g824a699b75_0_62"/>
          <p:cNvGraphicFramePr/>
          <p:nvPr/>
        </p:nvGraphicFramePr>
        <p:xfrm>
          <a:off x="146850" y="1215800"/>
          <a:ext cx="5136325" cy="1482500"/>
        </p:xfrm>
        <a:graphic>
          <a:graphicData uri="http://schemas.openxmlformats.org/drawingml/2006/table">
            <a:tbl>
              <a:tblPr>
                <a:noFill/>
                <a:tableStyleId>{E0C90DBF-FC51-4E21-B4E3-DF21BC108ACA}</a:tableStyleId>
              </a:tblPr>
              <a:tblGrid>
                <a:gridCol w="1523225">
                  <a:extLst>
                    <a:ext uri="{9D8B030D-6E8A-4147-A177-3AD203B41FA5}">
                      <a16:colId xmlns:a16="http://schemas.microsoft.com/office/drawing/2014/main" val="20000"/>
                    </a:ext>
                  </a:extLst>
                </a:gridCol>
                <a:gridCol w="3613100">
                  <a:extLst>
                    <a:ext uri="{9D8B030D-6E8A-4147-A177-3AD203B41FA5}">
                      <a16:colId xmlns:a16="http://schemas.microsoft.com/office/drawing/2014/main" val="20001"/>
                    </a:ext>
                  </a:extLst>
                </a:gridCol>
              </a:tblGrid>
              <a:tr h="415700">
                <a:tc>
                  <a:txBody>
                    <a:bodyPr/>
                    <a:lstStyle/>
                    <a:p>
                      <a:pPr marL="1270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Arial"/>
                          <a:ea typeface="Arial"/>
                          <a:cs typeface="Arial"/>
                          <a:sym typeface="Arial"/>
                        </a:rPr>
                        <a:t>Previous rating</a:t>
                      </a:r>
                      <a:endParaRPr sz="1600" u="none" strike="noStrike" cap="none">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Narrow"/>
                        <a:buNone/>
                      </a:pPr>
                      <a:r>
                        <a:rPr lang="en-US" sz="1600" b="1" i="0" u="none" strike="noStrike" cap="none">
                          <a:solidFill>
                            <a:srgbClr val="000000"/>
                          </a:solidFill>
                          <a:latin typeface="Arial"/>
                          <a:ea typeface="Arial"/>
                          <a:cs typeface="Arial"/>
                          <a:sym typeface="Arial"/>
                        </a:rPr>
                        <a:t> </a:t>
                      </a:r>
                      <a:endParaRPr sz="1600" b="0" u="none" strike="noStrike" cap="none">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r h="1066800">
                <a:tc>
                  <a:txBody>
                    <a:bodyPr/>
                    <a:lstStyle/>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Arial"/>
                          <a:ea typeface="Arial"/>
                          <a:cs typeface="Arial"/>
                          <a:sym typeface="Arial"/>
                        </a:rPr>
                        <a:t>200</a:t>
                      </a:r>
                      <a:r>
                        <a:rPr lang="en-US" sz="1600">
                          <a:solidFill>
                            <a:schemeClr val="dk1"/>
                          </a:solidFill>
                        </a:rPr>
                        <a:t>7</a:t>
                      </a:r>
                      <a:r>
                        <a:rPr lang="en-US" sz="1600" b="0" i="0" u="none" strike="noStrike" cap="none">
                          <a:solidFill>
                            <a:schemeClr val="dk1"/>
                          </a:solidFill>
                          <a:latin typeface="Arial"/>
                          <a:ea typeface="Arial"/>
                          <a:cs typeface="Arial"/>
                          <a:sym typeface="Arial"/>
                        </a:rPr>
                        <a:t> rating based on</a:t>
                      </a:r>
                      <a:endParaRPr sz="1600" u="none" strike="noStrike" cap="none">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88900" marR="0" lvl="0" indent="-889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 </a:t>
                      </a:r>
                      <a:r>
                        <a:rPr lang="en-US" sz="1600" dirty="0">
                          <a:solidFill>
                            <a:schemeClr val="dk1"/>
                          </a:solidFill>
                        </a:rPr>
                        <a:t>Increasing number of warm-water events causing coral bleaching</a:t>
                      </a:r>
                      <a:endParaRPr sz="1600" u="none" strike="noStrike" cap="none" dirty="0">
                        <a:latin typeface="Arial"/>
                        <a:ea typeface="Arial"/>
                        <a:cs typeface="Arial"/>
                        <a:sym typeface="Arial"/>
                      </a:endParaRPr>
                    </a:p>
                  </a:txBody>
                  <a:tcPr marL="45725" marR="45725"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07" name="Google Shape;107;g824a699b75_0_62"/>
          <p:cNvSpPr/>
          <p:nvPr/>
        </p:nvSpPr>
        <p:spPr>
          <a:xfrm>
            <a:off x="146850" y="2694600"/>
            <a:ext cx="11987700" cy="4078775"/>
          </a:xfrm>
          <a:prstGeom prst="rect">
            <a:avLst/>
          </a:prstGeom>
          <a:noFill/>
          <a:ln w="25400" cap="flat" cmpd="sng">
            <a:solidFill>
              <a:srgbClr val="395E89"/>
            </a:solidFill>
            <a:prstDash val="solid"/>
            <a:round/>
            <a:headEnd type="none" w="sm" len="sm"/>
            <a:tailEnd type="none" w="sm" len="sm"/>
          </a:ln>
        </p:spPr>
        <p:txBody>
          <a:bodyPr spcFirstLastPara="1" wrap="square" lIns="121900" tIns="60925" rIns="121900" bIns="60925" anchor="ctr" anchorCtr="0">
            <a:noAutofit/>
          </a:bodyPr>
          <a:lstStyle/>
          <a:p>
            <a:pPr marL="0" marR="0" lvl="0" indent="0" algn="just" rtl="0">
              <a:lnSpc>
                <a:spcPct val="100000"/>
              </a:lnSpc>
              <a:spcBef>
                <a:spcPts val="0"/>
              </a:spcBef>
              <a:spcAft>
                <a:spcPts val="0"/>
              </a:spcAft>
              <a:buClr>
                <a:schemeClr val="dk1"/>
              </a:buClr>
              <a:buSzPts val="1100"/>
              <a:buFont typeface="Arial"/>
              <a:buNone/>
            </a:pPr>
            <a:r>
              <a:rPr lang="en-US" sz="1600" dirty="0">
                <a:solidFill>
                  <a:schemeClr val="dk1"/>
                </a:solidFill>
                <a:latin typeface="Calibri"/>
                <a:ea typeface="Calibri"/>
                <a:cs typeface="Calibri"/>
                <a:sym typeface="Calibri"/>
              </a:rPr>
              <a:t>The purpose of this question is to capture shifts in water quality, and associated impacts on sanctuary resources, due to climate change. Though temporal changes in climate have always occurred on Earth, evidence is strong that changes over the last century have been accelerated by human activities. Indicators of climate change in sanctuary waters include water temperature, acidity, sea level, upwelling intensity and timing, storm intensity and frequency, changes in erosion and sedimentation patterns, and freshwater delivery (e.g., rainfall patterns). Climate-related changes in one or more of these indicators can impact the condition of habitats, living resources, and maritime archaeological resources in sanctuaries.</a:t>
            </a:r>
            <a:endParaRPr sz="16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1100"/>
              <a:buFont typeface="Arial"/>
              <a:buNone/>
            </a:pPr>
            <a:endParaRPr sz="6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SzPts val="1100"/>
              <a:buNone/>
            </a:pPr>
            <a:r>
              <a:rPr lang="en-US" sz="1600" dirty="0">
                <a:solidFill>
                  <a:schemeClr val="dk1"/>
                </a:solidFill>
                <a:latin typeface="Calibri"/>
                <a:ea typeface="Calibri"/>
                <a:cs typeface="Calibri"/>
                <a:sym typeface="Calibri"/>
              </a:rPr>
              <a:t>Increasing water temperature has been linked to changing growth rates, reduced disease resistance, and disruptions in symbiotic relationships (e.g., bleaching on coral reefs), and changes in water temperature exposure may affect a species’ resistance or the capacity to adapt to disturbances. Acidification can affect the survival and growth of organisms throughout the food web, as well as the persistence of skeletal material after death (through changes in rates of dissolution and bioerosion). Recent findings also suggest acidification impacts at sensory and behavioral levels, which can alter vitality and species interactions. Sea level change alters habitats, as well as their use and persistence. Variations in the timing and intensity of upwelling is known to change water quality through factors such as oxygen content and nutrient flow, further disrupting food webs and the natural functioning of ecosystems. Changing patterns and intensities of storms alter community resistance and resilience within ecosystems that have, over long periods of time, adapted to such disturbances. Altered rates and volumes of freshwater delivery to coastal ecosystems affects salinity and turbidity regimes and can disrupt reproduction, recruitment, growth, disease incidence, phenology, and other important processes.</a:t>
            </a:r>
            <a:endParaRPr sz="2000" dirty="0">
              <a:solidFill>
                <a:schemeClr val="dk1"/>
              </a:solidFill>
            </a:endParaRPr>
          </a:p>
        </p:txBody>
      </p:sp>
      <p:sp>
        <p:nvSpPr>
          <p:cNvPr id="108" name="Google Shape;108;g824a699b75_0_62"/>
          <p:cNvSpPr/>
          <p:nvPr/>
        </p:nvSpPr>
        <p:spPr>
          <a:xfrm rot="10800000">
            <a:off x="1894774" y="1251896"/>
            <a:ext cx="383700" cy="264900"/>
          </a:xfrm>
          <a:prstGeom prst="triangle">
            <a:avLst>
              <a:gd name="adj"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109" name="Google Shape;109;g824a699b75_0_6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367126" y="1219500"/>
            <a:ext cx="6767424" cy="1475100"/>
          </a:xfrm>
          <a:prstGeom prst="rect">
            <a:avLst/>
          </a:prstGeom>
          <a:noFill/>
          <a:ln w="9525"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1352366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graphicFrame>
        <p:nvGraphicFramePr>
          <p:cNvPr id="373" name="Google Shape;373;g824a699b75_0_70"/>
          <p:cNvGraphicFramePr/>
          <p:nvPr>
            <p:extLst>
              <p:ext uri="{D42A27DB-BD31-4B8C-83A1-F6EECF244321}">
                <p14:modId xmlns:p14="http://schemas.microsoft.com/office/powerpoint/2010/main" val="542099718"/>
              </p:ext>
            </p:extLst>
          </p:nvPr>
        </p:nvGraphicFramePr>
        <p:xfrm>
          <a:off x="240321" y="3257550"/>
          <a:ext cx="11711353" cy="3550965"/>
        </p:xfrm>
        <a:graphic>
          <a:graphicData uri="http://schemas.openxmlformats.org/drawingml/2006/table">
            <a:tbl>
              <a:tblPr>
                <a:noFill/>
                <a:tableStyleId>{E0C90DBF-FC51-4E21-B4E3-DF21BC108ACA}</a:tableStyleId>
              </a:tblPr>
              <a:tblGrid>
                <a:gridCol w="2813539">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6459414">
                  <a:extLst>
                    <a:ext uri="{9D8B030D-6E8A-4147-A177-3AD203B41FA5}">
                      <a16:colId xmlns:a16="http://schemas.microsoft.com/office/drawing/2014/main" val="20002"/>
                    </a:ext>
                  </a:extLst>
                </a:gridCol>
              </a:tblGrid>
              <a:tr h="305295">
                <a:tc>
                  <a:txBody>
                    <a:bodyPr/>
                    <a:lstStyle/>
                    <a:p>
                      <a:pPr marL="0" marR="0" lvl="0" indent="0" algn="l" rtl="0">
                        <a:lnSpc>
                          <a:spcPct val="100000"/>
                        </a:lnSpc>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Indicator</a:t>
                      </a:r>
                      <a:endParaRPr sz="1900" u="none" strike="noStrike" cap="none"/>
                    </a:p>
                  </a:txBody>
                  <a:tcPr marL="73175" marR="0" marT="27425" marB="27425">
                    <a:lnL w="12700" cap="flat" cmpd="sng">
                      <a:solidFill>
                        <a:schemeClr val="dk1"/>
                      </a:solidFill>
                      <a:prstDash val="solid"/>
                      <a:round/>
                      <a:headEnd type="none" w="sm" len="sm"/>
                      <a:tailEnd type="none" w="sm" len="sm"/>
                    </a:lnL>
                    <a:lnR w="19050" cap="flat" cmpd="sng">
                      <a:solidFill>
                        <a:srgbClr val="203864"/>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538CD5"/>
                    </a:solidFill>
                  </a:tcPr>
                </a:tc>
                <a:tc>
                  <a:txBody>
                    <a:bodyPr/>
                    <a:lstStyle/>
                    <a:p>
                      <a:pPr marL="0" marR="0" lvl="0" indent="0" algn="l" rtl="0">
                        <a:lnSpc>
                          <a:spcPct val="100000"/>
                        </a:lnSpc>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Habitat</a:t>
                      </a:r>
                      <a:endParaRPr sz="1900" u="none" strike="noStrike" cap="none"/>
                    </a:p>
                  </a:txBody>
                  <a:tcPr marL="73175" marR="0" marT="27425" marB="27425">
                    <a:lnL w="19050" cap="flat" cmpd="sng">
                      <a:solidFill>
                        <a:srgbClr val="203864"/>
                      </a:solidFill>
                      <a:prstDash val="solid"/>
                      <a:round/>
                      <a:headEnd type="none" w="sm" len="sm"/>
                      <a:tailEnd type="none" w="sm" len="sm"/>
                    </a:lnL>
                    <a:lnR w="19050" cap="flat" cmpd="sng">
                      <a:solidFill>
                        <a:srgbClr val="203864"/>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538CD5"/>
                    </a:solidFill>
                  </a:tcPr>
                </a:tc>
                <a:tc>
                  <a:txBody>
                    <a:bodyPr/>
                    <a:lstStyle/>
                    <a:p>
                      <a:pPr marL="0" marR="0" lvl="0" indent="0" algn="l" rtl="0">
                        <a:lnSpc>
                          <a:spcPct val="100000"/>
                        </a:lnSpc>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Data Summary </a:t>
                      </a:r>
                      <a:endParaRPr sz="1900" u="none" strike="noStrike" cap="none"/>
                    </a:p>
                  </a:txBody>
                  <a:tcPr marL="73175" marR="0" marT="27425" marB="27425">
                    <a:lnL w="19050" cap="flat" cmpd="sng">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538CD5"/>
                    </a:solidFill>
                  </a:tcPr>
                </a:tc>
                <a:extLst>
                  <a:ext uri="{0D108BD9-81ED-4DB2-BD59-A6C34878D82A}">
                    <a16:rowId xmlns:a16="http://schemas.microsoft.com/office/drawing/2014/main" val="10000"/>
                  </a:ext>
                </a:extLst>
              </a:tr>
              <a:tr h="396393">
                <a:tc>
                  <a:txBody>
                    <a:bodyPr/>
                    <a:lstStyle/>
                    <a:p>
                      <a:pPr marL="0" marR="0" lvl="0" indent="0" algn="l" rtl="0">
                        <a:lnSpc>
                          <a:spcPct val="100000"/>
                        </a:lnSpc>
                        <a:spcBef>
                          <a:spcPts val="0"/>
                        </a:spcBef>
                        <a:spcAft>
                          <a:spcPts val="0"/>
                        </a:spcAft>
                        <a:buClr>
                          <a:schemeClr val="dk1"/>
                        </a:buClr>
                        <a:buSzPts val="1500"/>
                        <a:buFont typeface="Calibri"/>
                        <a:buNone/>
                      </a:pPr>
                      <a:r>
                        <a:rPr lang="en-US" sz="1900" u="none" strike="noStrike" cap="none" dirty="0">
                          <a:latin typeface="Calibri"/>
                          <a:ea typeface="Calibri"/>
                          <a:cs typeface="Calibri"/>
                          <a:sym typeface="Calibri"/>
                        </a:rPr>
                        <a:t>Indicator #1 </a:t>
                      </a:r>
                      <a:r>
                        <a:rPr lang="en-US" sz="1900" dirty="0">
                          <a:latin typeface="Calibri"/>
                          <a:ea typeface="Calibri"/>
                          <a:cs typeface="Calibri"/>
                          <a:sym typeface="Calibri"/>
                        </a:rPr>
                        <a:t>Temperature</a:t>
                      </a:r>
                      <a:endParaRPr sz="1900" dirty="0">
                        <a:latin typeface="Calibri"/>
                        <a:ea typeface="Calibri"/>
                        <a:cs typeface="Calibri"/>
                        <a:sym typeface="Calibri"/>
                      </a:endParaRPr>
                    </a:p>
                  </a:txBody>
                  <a:tcPr marL="73175" marR="0" marT="27425" marB="27425">
                    <a:lnL w="12700" cap="flat" cmpd="sng">
                      <a:solidFill>
                        <a:schemeClr val="dk1"/>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900" dirty="0">
                          <a:latin typeface="Calibri"/>
                          <a:ea typeface="Calibri"/>
                          <a:cs typeface="Calibri"/>
                          <a:sym typeface="Calibri"/>
                        </a:rPr>
                        <a:t>Shallow Habitats</a:t>
                      </a:r>
                      <a:endParaRPr sz="1900" u="none" strike="noStrike" cap="none" dirty="0">
                        <a:latin typeface="Calibri"/>
                        <a:ea typeface="Calibri"/>
                        <a:cs typeface="Calibri"/>
                        <a:sym typeface="Calibri"/>
                      </a:endParaRPr>
                    </a:p>
                  </a:txBody>
                  <a:tcPr marL="73175" marR="0" marT="27425" marB="27425">
                    <a:lnL w="19050" cap="flat" cmpd="sng">
                      <a:solidFill>
                        <a:srgbClr val="203864"/>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t>Rising temperatures causing more frequent bleaching events.</a:t>
                      </a:r>
                      <a:endParaRPr dirty="0"/>
                    </a:p>
                  </a:txBody>
                  <a:tcPr marL="73175" marR="0" marT="27425" marB="27425">
                    <a:lnL w="19050" cap="flat" cmpd="sng">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92351">
                <a:tc>
                  <a:txBody>
                    <a:bodyPr/>
                    <a:lstStyle/>
                    <a:p>
                      <a:pPr marL="0" marR="0" lvl="0" indent="0" algn="l" rtl="0">
                        <a:lnSpc>
                          <a:spcPct val="100000"/>
                        </a:lnSpc>
                        <a:spcBef>
                          <a:spcPts val="0"/>
                        </a:spcBef>
                        <a:spcAft>
                          <a:spcPts val="0"/>
                        </a:spcAft>
                        <a:buClr>
                          <a:schemeClr val="dk1"/>
                        </a:buClr>
                        <a:buSzPts val="1500"/>
                        <a:buFont typeface="Calibri"/>
                        <a:buNone/>
                      </a:pPr>
                      <a:r>
                        <a:rPr lang="en-US" sz="1900" u="none" strike="noStrike" cap="none" dirty="0">
                          <a:latin typeface="Calibri"/>
                          <a:ea typeface="Calibri"/>
                          <a:cs typeface="Calibri"/>
                          <a:sym typeface="Calibri"/>
                        </a:rPr>
                        <a:t>Indicator #2  </a:t>
                      </a:r>
                      <a:r>
                        <a:rPr lang="en-US" sz="1900" dirty="0">
                          <a:latin typeface="Calibri"/>
                          <a:ea typeface="Calibri"/>
                          <a:cs typeface="Calibri"/>
                          <a:sym typeface="Calibri"/>
                        </a:rPr>
                        <a:t>OA</a:t>
                      </a:r>
                      <a:endParaRPr sz="1900" dirty="0">
                        <a:latin typeface="Calibri"/>
                        <a:ea typeface="Calibri"/>
                        <a:cs typeface="Calibri"/>
                        <a:sym typeface="Calibri"/>
                      </a:endParaRPr>
                    </a:p>
                  </a:txBody>
                  <a:tcPr marL="73175" marR="0" marT="27425" marB="27425">
                    <a:lnL w="12700" cap="flat" cmpd="sng">
                      <a:solidFill>
                        <a:schemeClr val="dk1"/>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900" dirty="0">
                          <a:latin typeface="Calibri"/>
                          <a:ea typeface="Calibri"/>
                          <a:cs typeface="Calibri"/>
                          <a:sym typeface="Calibri"/>
                        </a:rPr>
                        <a:t>Shallow Habitats</a:t>
                      </a:r>
                      <a:endParaRPr lang="en-US" sz="1900" u="none" strike="noStrike" cap="none" dirty="0">
                        <a:latin typeface="Calibri"/>
                        <a:ea typeface="Calibri"/>
                        <a:cs typeface="Calibri"/>
                        <a:sym typeface="Calibri"/>
                      </a:endParaRPr>
                    </a:p>
                  </a:txBody>
                  <a:tcPr marL="73175" marR="0" marT="27425" marB="27425">
                    <a:lnL w="19050" cap="flat" cmpd="sng">
                      <a:solidFill>
                        <a:srgbClr val="203864"/>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t>Global pH is decreasing.  Lack of trend data for this region.</a:t>
                      </a:r>
                    </a:p>
                    <a:p>
                      <a:pPr marL="0" lvl="0" indent="0" algn="l" rtl="0">
                        <a:spcBef>
                          <a:spcPts val="0"/>
                        </a:spcBef>
                        <a:spcAft>
                          <a:spcPts val="0"/>
                        </a:spcAft>
                        <a:buNone/>
                      </a:pPr>
                      <a:r>
                        <a:rPr lang="en-US" dirty="0"/>
                        <a:t>Aragonite saturation has been stable and highest values in the US islands.</a:t>
                      </a:r>
                      <a:endParaRPr dirty="0"/>
                    </a:p>
                  </a:txBody>
                  <a:tcPr marL="73175" marR="0" marT="27425" marB="27425">
                    <a:lnL w="19050" cap="flat" cmpd="sng">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92351">
                <a:tc>
                  <a:txBody>
                    <a:bodyPr/>
                    <a:lstStyle/>
                    <a:p>
                      <a:pPr marL="0" marR="0" lvl="0" indent="0" algn="l" rtl="0">
                        <a:lnSpc>
                          <a:spcPct val="100000"/>
                        </a:lnSpc>
                        <a:spcBef>
                          <a:spcPts val="0"/>
                        </a:spcBef>
                        <a:spcAft>
                          <a:spcPts val="0"/>
                        </a:spcAft>
                        <a:buClr>
                          <a:schemeClr val="dk1"/>
                        </a:buClr>
                        <a:buSzPts val="1500"/>
                        <a:buFont typeface="Calibri"/>
                        <a:buNone/>
                      </a:pPr>
                      <a:r>
                        <a:rPr lang="en-US" sz="1900" u="none" strike="noStrike" cap="none" dirty="0">
                          <a:latin typeface="Calibri"/>
                          <a:ea typeface="Calibri"/>
                          <a:cs typeface="Calibri"/>
                          <a:sym typeface="Calibri"/>
                        </a:rPr>
                        <a:t>Indicator #3 </a:t>
                      </a:r>
                      <a:r>
                        <a:rPr lang="en-US" sz="1900" dirty="0">
                          <a:latin typeface="Calibri"/>
                          <a:ea typeface="Calibri"/>
                          <a:cs typeface="Calibri"/>
                          <a:sym typeface="Calibri"/>
                        </a:rPr>
                        <a:t>Sea Level Rise</a:t>
                      </a:r>
                      <a:endParaRPr sz="1900" dirty="0">
                        <a:latin typeface="Calibri"/>
                        <a:ea typeface="Calibri"/>
                        <a:cs typeface="Calibri"/>
                        <a:sym typeface="Calibri"/>
                      </a:endParaRPr>
                    </a:p>
                  </a:txBody>
                  <a:tcPr marL="73175" marR="0" marT="27425" marB="27425">
                    <a:lnL w="12700" cap="flat" cmpd="sng">
                      <a:solidFill>
                        <a:schemeClr val="dk1"/>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900" dirty="0" err="1">
                          <a:latin typeface="Calibri"/>
                          <a:ea typeface="Calibri"/>
                          <a:cs typeface="Calibri"/>
                          <a:sym typeface="Calibri"/>
                        </a:rPr>
                        <a:t>Nearhsore</a:t>
                      </a:r>
                      <a:r>
                        <a:rPr lang="en-US" sz="1900" dirty="0">
                          <a:latin typeface="Calibri"/>
                          <a:ea typeface="Calibri"/>
                          <a:cs typeface="Calibri"/>
                          <a:sym typeface="Calibri"/>
                        </a:rPr>
                        <a:t> Habitats</a:t>
                      </a:r>
                      <a:endParaRPr lang="en-US" sz="1900" u="none" strike="noStrike" cap="none" dirty="0">
                        <a:latin typeface="Calibri"/>
                        <a:ea typeface="Calibri"/>
                        <a:cs typeface="Calibri"/>
                        <a:sym typeface="Calibri"/>
                      </a:endParaRPr>
                    </a:p>
                  </a:txBody>
                  <a:tcPr marL="73175" marR="0" marT="27425" marB="27425">
                    <a:lnL w="19050" cap="flat" cmpd="sng">
                      <a:solidFill>
                        <a:srgbClr val="203864"/>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t>Sea level has risen 9 inches since 2009.  Climate impact exacerbated by subsidence from 2009 earthquake doublet.</a:t>
                      </a:r>
                      <a:endParaRPr dirty="0"/>
                    </a:p>
                  </a:txBody>
                  <a:tcPr marL="73175" marR="0" marT="27425" marB="27425">
                    <a:lnL w="19050" cap="flat" cmpd="sng">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92351">
                <a:tc>
                  <a:txBody>
                    <a:bodyPr/>
                    <a:lstStyle/>
                    <a:p>
                      <a:pPr marL="0" marR="0" lvl="0" indent="0" algn="l" rtl="0">
                        <a:lnSpc>
                          <a:spcPct val="100000"/>
                        </a:lnSpc>
                        <a:spcBef>
                          <a:spcPts val="0"/>
                        </a:spcBef>
                        <a:spcAft>
                          <a:spcPts val="0"/>
                        </a:spcAft>
                        <a:buClr>
                          <a:schemeClr val="dk1"/>
                        </a:buClr>
                        <a:buSzPts val="1500"/>
                        <a:buFont typeface="Calibri"/>
                        <a:buNone/>
                      </a:pPr>
                      <a:r>
                        <a:rPr lang="en-US" sz="1900" u="none" strike="noStrike" cap="none" dirty="0">
                          <a:latin typeface="Calibri"/>
                          <a:ea typeface="Calibri"/>
                          <a:cs typeface="Calibri"/>
                          <a:sym typeface="Calibri"/>
                        </a:rPr>
                        <a:t>Indicator #4 </a:t>
                      </a:r>
                      <a:r>
                        <a:rPr lang="en-US" sz="1900" dirty="0">
                          <a:latin typeface="Calibri"/>
                          <a:ea typeface="Calibri"/>
                          <a:cs typeface="Calibri"/>
                          <a:sym typeface="Calibri"/>
                        </a:rPr>
                        <a:t>Rainfall</a:t>
                      </a:r>
                      <a:endParaRPr sz="1900" dirty="0">
                        <a:latin typeface="Calibri"/>
                        <a:ea typeface="Calibri"/>
                        <a:cs typeface="Calibri"/>
                        <a:sym typeface="Calibri"/>
                      </a:endParaRPr>
                    </a:p>
                  </a:txBody>
                  <a:tcPr marL="73175" marR="0" marT="27425" marB="27425">
                    <a:lnL w="12700" cap="flat" cmpd="sng">
                      <a:solidFill>
                        <a:schemeClr val="dk1"/>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900" dirty="0">
                          <a:latin typeface="Calibri"/>
                          <a:ea typeface="Calibri"/>
                          <a:cs typeface="Calibri"/>
                          <a:sym typeface="Calibri"/>
                        </a:rPr>
                        <a:t>Nearshore Habitats</a:t>
                      </a:r>
                      <a:endParaRPr lang="en-US" sz="1900" u="none" strike="noStrike" cap="none" dirty="0">
                        <a:latin typeface="Calibri"/>
                        <a:ea typeface="Calibri"/>
                        <a:cs typeface="Calibri"/>
                        <a:sym typeface="Calibri"/>
                      </a:endParaRPr>
                    </a:p>
                  </a:txBody>
                  <a:tcPr marL="73175" marR="0" marT="27425" marB="27425">
                    <a:lnL w="19050" cap="flat" cmpd="sng">
                      <a:solidFill>
                        <a:srgbClr val="203864"/>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t>Slight increasing trend, not clear if these are linked to extreme events.</a:t>
                      </a:r>
                      <a:endParaRPr dirty="0"/>
                    </a:p>
                  </a:txBody>
                  <a:tcPr marL="73175" marR="0" marT="27425" marB="27425">
                    <a:lnL w="19050" cap="flat" cmpd="sng">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48694">
                <a:tc>
                  <a:txBody>
                    <a:bodyPr/>
                    <a:lstStyle/>
                    <a:p>
                      <a:pPr marL="0" lvl="0" indent="0" algn="l" rtl="0">
                        <a:spcBef>
                          <a:spcPts val="0"/>
                        </a:spcBef>
                        <a:spcAft>
                          <a:spcPts val="0"/>
                        </a:spcAft>
                        <a:buNone/>
                      </a:pPr>
                      <a:r>
                        <a:rPr lang="en-US" sz="1900" dirty="0">
                          <a:solidFill>
                            <a:schemeClr val="dk1"/>
                          </a:solidFill>
                          <a:latin typeface="Calibri"/>
                          <a:ea typeface="Calibri"/>
                          <a:cs typeface="Calibri"/>
                          <a:sym typeface="Calibri"/>
                        </a:rPr>
                        <a:t>Indicator #5 Currents</a:t>
                      </a:r>
                      <a:endParaRPr sz="1900" dirty="0">
                        <a:solidFill>
                          <a:schemeClr val="dk1"/>
                        </a:solidFill>
                        <a:latin typeface="Calibri"/>
                        <a:ea typeface="Calibri"/>
                        <a:cs typeface="Calibri"/>
                        <a:sym typeface="Calibri"/>
                      </a:endParaRPr>
                    </a:p>
                  </a:txBody>
                  <a:tcPr marL="73175" marR="0" marT="27425" marB="27425">
                    <a:lnL w="12700" cap="flat" cmpd="sng">
                      <a:solidFill>
                        <a:schemeClr val="dk1"/>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lgn="ctr">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900" dirty="0">
                          <a:latin typeface="Calibri"/>
                          <a:ea typeface="Calibri"/>
                          <a:cs typeface="Calibri"/>
                          <a:sym typeface="Calibri"/>
                        </a:rPr>
                        <a:t>Shallow Habitats</a:t>
                      </a:r>
                      <a:endParaRPr lang="en-US" sz="1900" u="none" strike="noStrike" cap="none" dirty="0">
                        <a:latin typeface="Calibri"/>
                        <a:ea typeface="Calibri"/>
                        <a:cs typeface="Calibri"/>
                        <a:sym typeface="Calibri"/>
                      </a:endParaRPr>
                    </a:p>
                  </a:txBody>
                  <a:tcPr marL="73175" marR="0" marT="27425" marB="27425">
                    <a:lnL w="19050" cap="flat" cmpd="sng">
                      <a:solidFill>
                        <a:srgbClr val="203864"/>
                      </a:solidFill>
                      <a:prstDash val="solid"/>
                      <a:round/>
                      <a:headEnd type="none" w="sm" len="sm"/>
                      <a:tailEnd type="none" w="sm" len="sm"/>
                    </a:lnL>
                    <a:lnR w="19050" cap="flat" cmpd="sng">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lgn="ctr">
                      <a:solidFill>
                        <a:schemeClr val="accen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US" dirty="0">
                          <a:solidFill>
                            <a:schemeClr val="dk1"/>
                          </a:solidFill>
                        </a:rPr>
                        <a:t>Lack of data to assess changes at this time.</a:t>
                      </a:r>
                      <a:endParaRPr dirty="0"/>
                    </a:p>
                  </a:txBody>
                  <a:tcPr marL="73175" marR="0" marT="27425" marB="27425">
                    <a:lnL w="19050" cap="flat" cmpd="sng">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lgn="ctr">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8229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dirty="0">
                          <a:solidFill>
                            <a:schemeClr val="dk1"/>
                          </a:solidFill>
                          <a:latin typeface="Calibri"/>
                          <a:ea typeface="Calibri"/>
                          <a:cs typeface="Calibri"/>
                          <a:sym typeface="Calibri"/>
                        </a:rPr>
                        <a:t>Indicator #5 Stratification and Thermohaline Circ.</a:t>
                      </a:r>
                    </a:p>
                    <a:p>
                      <a:pPr marL="0" lvl="0" indent="0" algn="l" rtl="0">
                        <a:spcBef>
                          <a:spcPts val="0"/>
                        </a:spcBef>
                        <a:spcAft>
                          <a:spcPts val="0"/>
                        </a:spcAft>
                        <a:buNone/>
                      </a:pPr>
                      <a:endParaRPr sz="1900" dirty="0">
                        <a:solidFill>
                          <a:schemeClr val="dk1"/>
                        </a:solidFill>
                        <a:latin typeface="Calibri"/>
                        <a:ea typeface="Calibri"/>
                        <a:cs typeface="Calibri"/>
                        <a:sym typeface="Calibri"/>
                      </a:endParaRPr>
                    </a:p>
                  </a:txBody>
                  <a:tcPr marL="73175" marR="0" marT="27425" marB="27425">
                    <a:lnL w="12700" cap="flat" cmpd="sng">
                      <a:solidFill>
                        <a:schemeClr val="dk1"/>
                      </a:solidFill>
                      <a:prstDash val="solid"/>
                      <a:round/>
                      <a:headEnd type="none" w="sm" len="sm"/>
                      <a:tailEnd type="none" w="sm" len="sm"/>
                    </a:lnL>
                    <a:lnR w="19050" cap="flat" cmpd="sng" algn="ctr">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900" dirty="0">
                          <a:latin typeface="Calibri"/>
                          <a:ea typeface="Calibri"/>
                          <a:cs typeface="Calibri"/>
                          <a:sym typeface="Calibri"/>
                        </a:rPr>
                        <a:t>Deep Habitats</a:t>
                      </a:r>
                    </a:p>
                    <a:p>
                      <a:pPr marL="0" marR="0" lvl="0" indent="0" algn="l" rtl="0">
                        <a:lnSpc>
                          <a:spcPct val="100000"/>
                        </a:lnSpc>
                        <a:spcBef>
                          <a:spcPts val="0"/>
                        </a:spcBef>
                        <a:spcAft>
                          <a:spcPts val="0"/>
                        </a:spcAft>
                        <a:buNone/>
                      </a:pPr>
                      <a:endParaRPr sz="1900" dirty="0">
                        <a:latin typeface="Calibri"/>
                        <a:ea typeface="Calibri"/>
                        <a:cs typeface="Calibri"/>
                        <a:sym typeface="Calibri"/>
                      </a:endParaRPr>
                    </a:p>
                  </a:txBody>
                  <a:tcPr marL="73175" marR="0" marT="27425" marB="27425">
                    <a:lnL w="19050" cap="flat" cmpd="sng" algn="ctr">
                      <a:solidFill>
                        <a:srgbClr val="203864"/>
                      </a:solidFill>
                      <a:prstDash val="solid"/>
                      <a:round/>
                      <a:headEnd type="none" w="sm" len="sm"/>
                      <a:tailEnd type="none" w="sm" len="sm"/>
                    </a:lnL>
                    <a:lnR w="19050" cap="flat" cmpd="sng" algn="ctr">
                      <a:solidFill>
                        <a:srgbClr val="203864"/>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US" dirty="0"/>
                        <a:t>Lack of data.  Evidence of temperature related zonation, but no analysis of temperature data or deep circulation.  </a:t>
                      </a:r>
                      <a:endParaRPr dirty="0"/>
                    </a:p>
                  </a:txBody>
                  <a:tcPr marL="73175" marR="0" marT="27425" marB="27425">
                    <a:lnL w="19050" cap="flat" cmpd="sng" algn="ctr">
                      <a:solidFill>
                        <a:srgbClr val="203864"/>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162255413"/>
                  </a:ext>
                </a:extLst>
              </a:tr>
            </a:tbl>
          </a:graphicData>
        </a:graphic>
      </p:graphicFrame>
      <p:pic>
        <p:nvPicPr>
          <p:cNvPr id="374" name="Google Shape;374;g824a699b75_0_70"/>
          <p:cNvPicPr preferRelativeResize="0"/>
          <p:nvPr/>
        </p:nvPicPr>
        <p:blipFill>
          <a:blip r:embed="rId3">
            <a:alphaModFix/>
          </a:blip>
          <a:stretch>
            <a:fillRect/>
          </a:stretch>
        </p:blipFill>
        <p:spPr>
          <a:xfrm>
            <a:off x="1550873" y="49485"/>
            <a:ext cx="9090251" cy="31289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g90c137ff13_0_17"/>
          <p:cNvPicPr preferRelativeResize="0"/>
          <p:nvPr/>
        </p:nvPicPr>
        <p:blipFill>
          <a:blip r:embed="rId3">
            <a:alphaModFix/>
          </a:blip>
          <a:stretch>
            <a:fillRect/>
          </a:stretch>
        </p:blipFill>
        <p:spPr>
          <a:xfrm>
            <a:off x="1200525" y="1852152"/>
            <a:ext cx="9512576" cy="4695300"/>
          </a:xfrm>
          <a:prstGeom prst="rect">
            <a:avLst/>
          </a:prstGeom>
          <a:noFill/>
          <a:ln>
            <a:noFill/>
          </a:ln>
        </p:spPr>
      </p:pic>
      <p:sp>
        <p:nvSpPr>
          <p:cNvPr id="381" name="Google Shape;381;g90c137ff13_0_17"/>
          <p:cNvSpPr txBox="1">
            <a:spLocks noGrp="1"/>
          </p:cNvSpPr>
          <p:nvPr>
            <p:ph type="title" idx="4294967295"/>
          </p:nvPr>
        </p:nvSpPr>
        <p:spPr>
          <a:xfrm>
            <a:off x="711200" y="76200"/>
            <a:ext cx="10908900" cy="11433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1" i="1" u="none" strike="noStrike" cap="none">
                <a:solidFill>
                  <a:srgbClr val="FFFFFF"/>
                </a:solidFill>
                <a:latin typeface="Calibri"/>
                <a:ea typeface="Calibri"/>
                <a:cs typeface="Calibri"/>
                <a:sym typeface="Calibri"/>
              </a:rPr>
              <a:t>Question 8: </a:t>
            </a:r>
            <a:r>
              <a:rPr lang="en-US" sz="3200" b="1" i="1">
                <a:solidFill>
                  <a:srgbClr val="FFFFFF"/>
                </a:solidFill>
              </a:rPr>
              <a:t>Have recent, accelerated changes in climate altered water conditions and how are they changing?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8c02618498_0_75"/>
          <p:cNvSpPr txBox="1"/>
          <p:nvPr/>
        </p:nvSpPr>
        <p:spPr>
          <a:xfrm>
            <a:off x="1524000" y="-260186"/>
            <a:ext cx="9144000" cy="14361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4300"/>
              <a:buFont typeface="Arial"/>
              <a:buNone/>
              <a:tabLst/>
              <a:defRPr/>
            </a:pPr>
            <a:r>
              <a:rPr kumimoji="0" lang="en-US" sz="4300" b="1" i="0" u="none" strike="noStrike" kern="0" cap="none" spc="0" normalizeH="0" baseline="0" noProof="0" dirty="0">
                <a:ln>
                  <a:noFill/>
                </a:ln>
                <a:solidFill>
                  <a:srgbClr val="FFFFFF"/>
                </a:solidFill>
                <a:effectLst/>
                <a:uLnTx/>
                <a:uFillTx/>
                <a:latin typeface="Calibri"/>
                <a:ea typeface="Calibri"/>
                <a:cs typeface="Calibri"/>
                <a:sym typeface="Calibri"/>
              </a:rPr>
              <a:t>Capturing Expert ‘Confidence</a:t>
            </a:r>
            <a:r>
              <a:rPr kumimoji="0" lang="en-US" sz="4300" b="0" i="0" u="none" strike="noStrike" kern="0" cap="none" spc="0" normalizeH="0" baseline="0" noProof="0" dirty="0">
                <a:ln>
                  <a:noFill/>
                </a:ln>
                <a:solidFill>
                  <a:srgbClr val="FFFFFF"/>
                </a:solidFill>
                <a:effectLst/>
                <a:uLnTx/>
                <a:uFillTx/>
                <a:latin typeface="Calibri"/>
                <a:ea typeface="Calibri"/>
                <a:cs typeface="Calibri"/>
                <a:sym typeface="Calibri"/>
              </a:rPr>
              <a:t>’ </a:t>
            </a:r>
            <a:endParaRPr kumimoji="0" sz="4300" b="1" i="1"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89" name="Google Shape;189;g8c02618498_0_75"/>
          <p:cNvSpPr/>
          <p:nvPr/>
        </p:nvSpPr>
        <p:spPr>
          <a:xfrm>
            <a:off x="7508449" y="4415139"/>
            <a:ext cx="4575300" cy="2344500"/>
          </a:xfrm>
          <a:prstGeom prst="rect">
            <a:avLst/>
          </a:prstGeom>
          <a:gradFill>
            <a:gsLst>
              <a:gs pos="0">
                <a:srgbClr val="A3C4FF"/>
              </a:gs>
              <a:gs pos="35000">
                <a:srgbClr val="BFD5FF"/>
              </a:gs>
              <a:gs pos="100000">
                <a:srgbClr val="E5EEFF"/>
              </a:gs>
            </a:gsLst>
            <a:lin ang="16200038" scaled="0"/>
          </a:gradFill>
          <a:ln w="9525" cap="flat" cmpd="sng">
            <a:solidFill>
              <a:srgbClr val="4A7EBB"/>
            </a:solidFill>
            <a:prstDash val="solid"/>
            <a:miter lim="800000"/>
            <a:headEnd type="none" w="sm" len="sm"/>
            <a:tailEnd type="none" w="sm" len="sm"/>
          </a:ln>
          <a:effectLst>
            <a:outerShdw blurRad="40000" dist="20000" dir="5400000" rotWithShape="0">
              <a:srgbClr val="000000">
                <a:alpha val="37650"/>
              </a:srgbClr>
            </a:outerShdw>
          </a:effectLst>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90" name="Google Shape;190;g8c02618498_0_75"/>
          <p:cNvSpPr/>
          <p:nvPr/>
        </p:nvSpPr>
        <p:spPr>
          <a:xfrm>
            <a:off x="163403" y="4423409"/>
            <a:ext cx="4456500" cy="2351100"/>
          </a:xfrm>
          <a:prstGeom prst="rect">
            <a:avLst/>
          </a:prstGeom>
          <a:gradFill>
            <a:gsLst>
              <a:gs pos="0">
                <a:srgbClr val="A3C4FF"/>
              </a:gs>
              <a:gs pos="35000">
                <a:srgbClr val="BFD5FF"/>
              </a:gs>
              <a:gs pos="100000">
                <a:srgbClr val="E5EEFF"/>
              </a:gs>
            </a:gsLst>
            <a:lin ang="16200038" scaled="0"/>
          </a:gradFill>
          <a:ln w="9525" cap="flat" cmpd="sng">
            <a:solidFill>
              <a:srgbClr val="4A7EBB"/>
            </a:solidFill>
            <a:prstDash val="solid"/>
            <a:miter lim="800000"/>
            <a:headEnd type="none" w="sm" len="sm"/>
            <a:tailEnd type="none" w="sm" len="sm"/>
          </a:ln>
          <a:effectLst>
            <a:outerShdw blurRad="40000" dist="20000" dir="5400000" rotWithShape="0">
              <a:srgbClr val="000000">
                <a:alpha val="37650"/>
              </a:srgbClr>
            </a:outerShdw>
          </a:effectLst>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91" name="Google Shape;191;g8c02618498_0_75"/>
          <p:cNvSpPr txBox="1"/>
          <p:nvPr/>
        </p:nvSpPr>
        <p:spPr>
          <a:xfrm>
            <a:off x="253597" y="4415139"/>
            <a:ext cx="1674000" cy="3384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00000"/>
                </a:solidFill>
                <a:effectLst/>
                <a:uLnTx/>
                <a:uFillTx/>
                <a:latin typeface="Arial"/>
                <a:ea typeface="Arial"/>
                <a:cs typeface="Arial"/>
                <a:sym typeface="Arial"/>
              </a:rPr>
              <a:t>1. Rate Evidence</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92;g8c02618498_0_75"/>
          <p:cNvSpPr/>
          <p:nvPr/>
        </p:nvSpPr>
        <p:spPr>
          <a:xfrm>
            <a:off x="253597" y="4621540"/>
            <a:ext cx="4484700" cy="7389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000000"/>
                </a:solidFill>
                <a:effectLst/>
                <a:uLnTx/>
                <a:uFillTx/>
                <a:latin typeface="Arial"/>
                <a:ea typeface="Arial"/>
                <a:cs typeface="Arial"/>
                <a:sym typeface="Arial"/>
              </a:rPr>
              <a:t>Consider three categories of evidence typically used to make status or trend ratings: </a:t>
            </a:r>
            <a:r>
              <a:rPr kumimoji="0" lang="en-US" sz="1300" b="0" i="1" u="none" strike="noStrike" kern="0" cap="none" spc="0" normalizeH="0" baseline="0" noProof="0">
                <a:ln>
                  <a:noFill/>
                </a:ln>
                <a:solidFill>
                  <a:srgbClr val="000000"/>
                </a:solidFill>
                <a:effectLst/>
                <a:uLnTx/>
                <a:uFillTx/>
                <a:latin typeface="Arial"/>
                <a:ea typeface="Arial"/>
                <a:cs typeface="Arial"/>
                <a:sym typeface="Arial"/>
              </a:rPr>
              <a:t>data</a:t>
            </a:r>
            <a:r>
              <a:rPr kumimoji="0" lang="en-US" sz="1300" b="0" i="0" u="none" strike="noStrike" kern="0" cap="none" spc="0" normalizeH="0" baseline="0" noProof="0">
                <a:ln>
                  <a:noFill/>
                </a:ln>
                <a:solidFill>
                  <a:srgbClr val="000000"/>
                </a:solidFill>
                <a:effectLst/>
                <a:uLnTx/>
                <a:uFillTx/>
                <a:latin typeface="Arial"/>
                <a:ea typeface="Arial"/>
                <a:cs typeface="Arial"/>
                <a:sym typeface="Arial"/>
              </a:rPr>
              <a:t>, </a:t>
            </a:r>
            <a:r>
              <a:rPr kumimoji="0" lang="en-US" sz="1300" b="0" i="1" u="none" strike="noStrike" kern="0" cap="none" spc="0" normalizeH="0" baseline="0" noProof="0">
                <a:ln>
                  <a:noFill/>
                </a:ln>
                <a:solidFill>
                  <a:srgbClr val="000000"/>
                </a:solidFill>
                <a:effectLst/>
                <a:uLnTx/>
                <a:uFillTx/>
                <a:latin typeface="Arial"/>
                <a:ea typeface="Arial"/>
                <a:cs typeface="Arial"/>
                <a:sym typeface="Arial"/>
              </a:rPr>
              <a:t>published information</a:t>
            </a:r>
            <a:r>
              <a:rPr kumimoji="0" lang="en-US" sz="1300" b="0" i="0" u="none" strike="noStrike" kern="0" cap="none" spc="0" normalizeH="0" baseline="0" noProof="0">
                <a:ln>
                  <a:noFill/>
                </a:ln>
                <a:solidFill>
                  <a:srgbClr val="000000"/>
                </a:solidFill>
                <a:effectLst/>
                <a:uLnTx/>
                <a:uFillTx/>
                <a:latin typeface="Arial"/>
                <a:ea typeface="Arial"/>
                <a:cs typeface="Arial"/>
                <a:sym typeface="Arial"/>
              </a:rPr>
              <a:t>, and </a:t>
            </a:r>
            <a:r>
              <a:rPr kumimoji="0" lang="en-US" sz="1300" b="0" i="1" u="none" strike="noStrike" kern="0" cap="none" spc="0" normalizeH="0" baseline="0" noProof="0">
                <a:ln>
                  <a:noFill/>
                </a:ln>
                <a:solidFill>
                  <a:srgbClr val="000000"/>
                </a:solidFill>
                <a:effectLst/>
                <a:uLnTx/>
                <a:uFillTx/>
                <a:latin typeface="Arial"/>
                <a:ea typeface="Arial"/>
                <a:cs typeface="Arial"/>
                <a:sym typeface="Arial"/>
              </a:rPr>
              <a:t>personal experience</a:t>
            </a:r>
            <a:r>
              <a:rPr kumimoji="0" lang="en-US" sz="1300" b="0" i="0" u="none" strike="noStrike" kern="0" cap="none" spc="0" normalizeH="0" baseline="0" noProof="0">
                <a:ln>
                  <a:noFill/>
                </a:ln>
                <a:solidFill>
                  <a:srgbClr val="000000"/>
                </a:solidFill>
                <a:effectLst/>
                <a:uLnTx/>
                <a:uFillTx/>
                <a:latin typeface="Arial"/>
                <a:ea typeface="Arial"/>
                <a:cs typeface="Arial"/>
                <a:sym typeface="Arial"/>
              </a:rPr>
              <a:t>. </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93;g8c02618498_0_75"/>
          <p:cNvSpPr/>
          <p:nvPr/>
        </p:nvSpPr>
        <p:spPr>
          <a:xfrm>
            <a:off x="4725974" y="4427708"/>
            <a:ext cx="2646000" cy="2328300"/>
          </a:xfrm>
          <a:prstGeom prst="rect">
            <a:avLst/>
          </a:prstGeom>
          <a:gradFill>
            <a:gsLst>
              <a:gs pos="0">
                <a:srgbClr val="A3C4FF"/>
              </a:gs>
              <a:gs pos="35000">
                <a:srgbClr val="BFD5FF"/>
              </a:gs>
              <a:gs pos="100000">
                <a:srgbClr val="E5EEFF"/>
              </a:gs>
            </a:gsLst>
            <a:lin ang="16200038" scaled="0"/>
          </a:gradFill>
          <a:ln w="9525" cap="flat" cmpd="sng">
            <a:solidFill>
              <a:srgbClr val="4A7EBB"/>
            </a:solidFill>
            <a:prstDash val="solid"/>
            <a:miter lim="800000"/>
            <a:headEnd type="none" w="sm" len="sm"/>
            <a:tailEnd type="none" w="sm" len="sm"/>
          </a:ln>
          <a:effectLst>
            <a:outerShdw blurRad="40000" dist="20000" dir="5400000" rotWithShape="0">
              <a:srgbClr val="000000">
                <a:alpha val="37650"/>
              </a:srgbClr>
            </a:outerShdw>
          </a:effectLst>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94" name="Google Shape;194;g8c02618498_0_75"/>
          <p:cNvSpPr txBox="1"/>
          <p:nvPr/>
        </p:nvSpPr>
        <p:spPr>
          <a:xfrm>
            <a:off x="4793809" y="4426527"/>
            <a:ext cx="2908500" cy="3384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00000"/>
                </a:solidFill>
                <a:effectLst/>
                <a:uLnTx/>
                <a:uFillTx/>
                <a:latin typeface="Arial"/>
                <a:ea typeface="Arial"/>
                <a:cs typeface="Arial"/>
                <a:sym typeface="Arial"/>
              </a:rPr>
              <a:t>2. Rate Agreement</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95;g8c02618498_0_75"/>
          <p:cNvSpPr/>
          <p:nvPr/>
        </p:nvSpPr>
        <p:spPr>
          <a:xfrm>
            <a:off x="4839141" y="4715408"/>
            <a:ext cx="2712300" cy="18777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ea typeface="Arial"/>
                <a:cs typeface="Arial"/>
                <a:sym typeface="Arial"/>
              </a:rPr>
              <a:t>Among those participating in determining the status and trend rating, or if possible, within the broader scientific community. Levels of agreement can be characterized as </a:t>
            </a:r>
            <a:r>
              <a:rPr kumimoji="0" lang="en-US" sz="1400" b="1" i="1" u="none" strike="noStrike" kern="0" cap="none" spc="0" normalizeH="0" baseline="0" noProof="0">
                <a:ln>
                  <a:noFill/>
                </a:ln>
                <a:solidFill>
                  <a:srgbClr val="000000"/>
                </a:solidFill>
                <a:effectLst/>
                <a:uLnTx/>
                <a:uFillTx/>
                <a:latin typeface="Arial"/>
                <a:ea typeface="Arial"/>
                <a:cs typeface="Arial"/>
                <a:sym typeface="Arial"/>
              </a:rPr>
              <a:t>“low,”</a:t>
            </a:r>
            <a:r>
              <a:rPr kumimoji="0" lang="en-US" sz="1400" b="0" i="1" u="none" strike="noStrike" kern="0" cap="none" spc="0" normalizeH="0" baseline="0" noProof="0">
                <a:ln>
                  <a:noFill/>
                </a:ln>
                <a:solidFill>
                  <a:srgbClr val="000000"/>
                </a:solidFill>
                <a:effectLst/>
                <a:uLnTx/>
                <a:uFillTx/>
                <a:latin typeface="Arial"/>
                <a:ea typeface="Arial"/>
                <a:cs typeface="Arial"/>
                <a:sym typeface="Arial"/>
              </a:rPr>
              <a:t> “</a:t>
            </a:r>
            <a:r>
              <a:rPr kumimoji="0" lang="en-US" sz="1400" b="1" i="1" u="none" strike="noStrike" kern="0" cap="none" spc="0" normalizeH="0" baseline="0" noProof="0">
                <a:ln>
                  <a:noFill/>
                </a:ln>
                <a:solidFill>
                  <a:srgbClr val="000000"/>
                </a:solidFill>
                <a:effectLst/>
                <a:uLnTx/>
                <a:uFillTx/>
                <a:latin typeface="Arial"/>
                <a:ea typeface="Arial"/>
                <a:cs typeface="Arial"/>
                <a:sym typeface="Arial"/>
              </a:rPr>
              <a:t>medium</a:t>
            </a:r>
            <a:r>
              <a:rPr kumimoji="0" lang="en-US" sz="1400" b="0" i="1" u="none" strike="noStrike" kern="0" cap="none" spc="0" normalizeH="0" baseline="0" noProof="0">
                <a:ln>
                  <a:noFill/>
                </a:ln>
                <a:solidFill>
                  <a:srgbClr val="000000"/>
                </a:solidFill>
                <a:effectLst/>
                <a:uLnTx/>
                <a:uFillTx/>
                <a:latin typeface="Arial"/>
                <a:ea typeface="Arial"/>
                <a:cs typeface="Arial"/>
                <a:sym typeface="Arial"/>
              </a:rPr>
              <a:t>,”</a:t>
            </a:r>
            <a:r>
              <a:rPr kumimoji="0" lang="en-US" sz="1400" b="0" i="0" u="none" strike="noStrike" kern="0" cap="none" spc="0" normalizeH="0" baseline="0" noProof="0">
                <a:ln>
                  <a:noFill/>
                </a:ln>
                <a:solidFill>
                  <a:srgbClr val="000000"/>
                </a:solidFill>
                <a:effectLst/>
                <a:uLnTx/>
                <a:uFillTx/>
                <a:latin typeface="Arial"/>
                <a:ea typeface="Arial"/>
                <a:cs typeface="Arial"/>
                <a:sym typeface="Arial"/>
              </a:rPr>
              <a:t> or </a:t>
            </a:r>
            <a:r>
              <a:rPr kumimoji="0" lang="en-US" sz="1400" b="0" i="1" u="none" strike="noStrike" kern="0" cap="none" spc="0" normalizeH="0" baseline="0" noProof="0">
                <a:ln>
                  <a:noFill/>
                </a:ln>
                <a:solidFill>
                  <a:srgbClr val="000000"/>
                </a:solidFill>
                <a:effectLst/>
                <a:uLnTx/>
                <a:uFillTx/>
                <a:latin typeface="Arial"/>
                <a:ea typeface="Arial"/>
                <a:cs typeface="Arial"/>
                <a:sym typeface="Arial"/>
              </a:rPr>
              <a:t>“</a:t>
            </a:r>
            <a:r>
              <a:rPr kumimoji="0" lang="en-US" sz="1400" b="1" i="1" u="none" strike="noStrike" kern="0" cap="none" spc="0" normalizeH="0" baseline="0" noProof="0">
                <a:ln>
                  <a:noFill/>
                </a:ln>
                <a:solidFill>
                  <a:srgbClr val="000000"/>
                </a:solidFill>
                <a:effectLst/>
                <a:uLnTx/>
                <a:uFillTx/>
                <a:latin typeface="Arial"/>
                <a:ea typeface="Arial"/>
                <a:cs typeface="Arial"/>
                <a:sym typeface="Arial"/>
              </a:rPr>
              <a:t>high</a:t>
            </a:r>
            <a:r>
              <a:rPr kumimoji="0" lang="en-US" sz="1400" b="0" i="1" u="none" strike="noStrike" kern="0" cap="none" spc="0" normalizeH="0" baseline="0" noProof="0">
                <a:ln>
                  <a:noFill/>
                </a:ln>
                <a:solidFill>
                  <a:srgbClr val="000000"/>
                </a:solidFill>
                <a:effectLst/>
                <a:uLnTx/>
                <a:uFillTx/>
                <a:latin typeface="Arial"/>
                <a:ea typeface="Arial"/>
                <a:cs typeface="Arial"/>
                <a:sym typeface="Arial"/>
              </a:rPr>
              <a:t>.”</a:t>
            </a: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 </a:t>
            </a:r>
            <a:endParaRPr kumimoji="0" sz="16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96" name="Google Shape;196;g8c02618498_0_75"/>
          <p:cNvSpPr txBox="1"/>
          <p:nvPr/>
        </p:nvSpPr>
        <p:spPr>
          <a:xfrm>
            <a:off x="8877300" y="2413000"/>
            <a:ext cx="246300" cy="4923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000000"/>
              </a:solidFill>
              <a:effectLst/>
              <a:uLnTx/>
              <a:uFillTx/>
              <a:latin typeface="Arial"/>
              <a:ea typeface="Arial"/>
              <a:cs typeface="Arial"/>
              <a:sym typeface="Arial"/>
            </a:endParaRPr>
          </a:p>
        </p:txBody>
      </p:sp>
      <p:graphicFrame>
        <p:nvGraphicFramePr>
          <p:cNvPr id="197" name="Google Shape;197;g8c02618498_0_75"/>
          <p:cNvGraphicFramePr/>
          <p:nvPr/>
        </p:nvGraphicFramePr>
        <p:xfrm>
          <a:off x="7775148" y="4749467"/>
          <a:ext cx="4237050" cy="1673325"/>
        </p:xfrm>
        <a:graphic>
          <a:graphicData uri="http://schemas.openxmlformats.org/drawingml/2006/table">
            <a:tbl>
              <a:tblPr>
                <a:noFill/>
              </a:tblPr>
              <a:tblGrid>
                <a:gridCol w="1412875">
                  <a:extLst>
                    <a:ext uri="{9D8B030D-6E8A-4147-A177-3AD203B41FA5}">
                      <a16:colId xmlns:a16="http://schemas.microsoft.com/office/drawing/2014/main" val="20000"/>
                    </a:ext>
                  </a:extLst>
                </a:gridCol>
                <a:gridCol w="1411300">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557775">
                <a:tc>
                  <a:txBody>
                    <a:bodyPr/>
                    <a:lstStyle/>
                    <a:p>
                      <a:pPr marL="0" marR="0" lvl="0" indent="0" algn="ctr" rtl="0">
                        <a:lnSpc>
                          <a:spcPct val="100000"/>
                        </a:lnSpc>
                        <a:spcBef>
                          <a:spcPts val="0"/>
                        </a:spcBef>
                        <a:spcAft>
                          <a:spcPts val="0"/>
                        </a:spcAft>
                        <a:buClr>
                          <a:schemeClr val="dk1"/>
                        </a:buClr>
                        <a:buSzPts val="1100"/>
                        <a:buFont typeface="Arial"/>
                        <a:buNone/>
                      </a:pPr>
                      <a:r>
                        <a:rPr lang="en-US" sz="1100" b="0" i="1" u="none" strike="noStrike" cap="none">
                          <a:solidFill>
                            <a:schemeClr val="dk1"/>
                          </a:solidFill>
                          <a:latin typeface="Calibri"/>
                          <a:ea typeface="Calibri"/>
                          <a:cs typeface="Calibri"/>
                          <a:sym typeface="Calibri"/>
                        </a:rPr>
                        <a:t>“</a:t>
                      </a:r>
                      <a:r>
                        <a:rPr lang="en-US" sz="1100" b="1" i="1" u="none" strike="noStrike" cap="none">
                          <a:solidFill>
                            <a:schemeClr val="dk1"/>
                          </a:solidFill>
                          <a:latin typeface="Calibri"/>
                          <a:ea typeface="Calibri"/>
                          <a:cs typeface="Calibri"/>
                          <a:sym typeface="Calibri"/>
                        </a:rPr>
                        <a:t>Medium”</a:t>
                      </a:r>
                      <a:endParaRPr sz="1100" b="1" i="1"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High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Limited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“High”</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High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Medium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“Very High”</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High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Robust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57775">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“Low”</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Medium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Limited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“Medium”</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Medium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Medium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“High”</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Medium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Robust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57775">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“Very Low”</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Low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Limited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“Low”</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Low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Medium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100" b="1" i="1" u="none" strike="noStrike" cap="none">
                          <a:solidFill>
                            <a:schemeClr val="dk1"/>
                          </a:solidFill>
                          <a:latin typeface="Calibri"/>
                          <a:ea typeface="Calibri"/>
                          <a:cs typeface="Calibri"/>
                          <a:sym typeface="Calibri"/>
                        </a:rPr>
                        <a:t>“Medium”</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Low agreement</a:t>
                      </a:r>
                      <a:endParaRPr sz="1900"/>
                    </a:p>
                    <a:p>
                      <a:pPr marL="0" marR="0" lvl="0" indent="0" algn="ctr"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Calibri"/>
                          <a:ea typeface="Calibri"/>
                          <a:cs typeface="Calibri"/>
                          <a:sym typeface="Calibri"/>
                        </a:rPr>
                        <a:t>Robust evidence</a:t>
                      </a:r>
                      <a:endParaRPr sz="1900"/>
                    </a:p>
                  </a:txBody>
                  <a:tcPr marL="91425" marR="91425" marT="27425" marB="27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cxnSp>
        <p:nvCxnSpPr>
          <p:cNvPr id="198" name="Google Shape;198;g8c02618498_0_75"/>
          <p:cNvCxnSpPr/>
          <p:nvPr/>
        </p:nvCxnSpPr>
        <p:spPr>
          <a:xfrm>
            <a:off x="11030606" y="6572395"/>
            <a:ext cx="692100" cy="0"/>
          </a:xfrm>
          <a:prstGeom prst="straightConnector1">
            <a:avLst/>
          </a:prstGeom>
          <a:noFill/>
          <a:ln w="38100" cap="flat" cmpd="sng">
            <a:solidFill>
              <a:srgbClr val="7F7F7F"/>
            </a:solidFill>
            <a:prstDash val="solid"/>
            <a:round/>
            <a:headEnd type="none" w="sm" len="sm"/>
            <a:tailEnd type="triangle" w="med" len="med"/>
          </a:ln>
        </p:spPr>
      </p:cxnSp>
      <p:sp>
        <p:nvSpPr>
          <p:cNvPr id="199" name="Google Shape;199;g8c02618498_0_75"/>
          <p:cNvSpPr txBox="1"/>
          <p:nvPr/>
        </p:nvSpPr>
        <p:spPr>
          <a:xfrm>
            <a:off x="7825948" y="6424202"/>
            <a:ext cx="3423300" cy="2871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000000"/>
                </a:solidFill>
                <a:effectLst/>
                <a:uLnTx/>
                <a:uFillTx/>
                <a:latin typeface="Arial"/>
                <a:ea typeface="Arial"/>
                <a:cs typeface="Arial"/>
                <a:sym typeface="Arial"/>
              </a:rPr>
              <a:t>Evidence (type, amount, quality, consistency)</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cxnSp>
        <p:nvCxnSpPr>
          <p:cNvPr id="200" name="Google Shape;200;g8c02618498_0_75"/>
          <p:cNvCxnSpPr/>
          <p:nvPr/>
        </p:nvCxnSpPr>
        <p:spPr>
          <a:xfrm rot="10800000">
            <a:off x="7626741" y="4764956"/>
            <a:ext cx="12900" cy="727200"/>
          </a:xfrm>
          <a:prstGeom prst="straightConnector1">
            <a:avLst/>
          </a:prstGeom>
          <a:noFill/>
          <a:ln w="38100" cap="flat" cmpd="sng">
            <a:solidFill>
              <a:srgbClr val="7F7F7F"/>
            </a:solidFill>
            <a:prstDash val="solid"/>
            <a:round/>
            <a:headEnd type="none" w="sm" len="sm"/>
            <a:tailEnd type="triangle" w="med" len="med"/>
          </a:ln>
        </p:spPr>
      </p:cxnSp>
      <p:sp>
        <p:nvSpPr>
          <p:cNvPr id="201" name="Google Shape;201;g8c02618498_0_75"/>
          <p:cNvSpPr txBox="1"/>
          <p:nvPr/>
        </p:nvSpPr>
        <p:spPr>
          <a:xfrm rot="-5400000">
            <a:off x="7147981" y="5763572"/>
            <a:ext cx="1008000" cy="2871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000000"/>
                </a:solidFill>
                <a:effectLst/>
                <a:uLnTx/>
                <a:uFillTx/>
                <a:latin typeface="Arial"/>
                <a:ea typeface="Arial"/>
                <a:cs typeface="Arial"/>
                <a:sym typeface="Arial"/>
              </a:rPr>
              <a:t>Agreement</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203;g8c02618498_0_75"/>
          <p:cNvSpPr txBox="1"/>
          <p:nvPr/>
        </p:nvSpPr>
        <p:spPr>
          <a:xfrm>
            <a:off x="8976849" y="4438663"/>
            <a:ext cx="1862100" cy="338400"/>
          </a:xfrm>
          <a:prstGeom prst="rect">
            <a:avLst/>
          </a:prstGeom>
          <a:no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00000"/>
                </a:solidFill>
                <a:effectLst/>
                <a:uLnTx/>
                <a:uFillTx/>
                <a:latin typeface="Arial"/>
                <a:ea typeface="Arial"/>
                <a:cs typeface="Arial"/>
                <a:sym typeface="Arial"/>
              </a:rPr>
              <a:t>3. Rate Confidence</a:t>
            </a:r>
            <a:endParaRPr kumimoji="0" sz="1900" b="0" i="0" u="none" strike="noStrike" kern="0" cap="none" spc="0" normalizeH="0" baseline="0" noProof="0">
              <a:ln>
                <a:noFill/>
              </a:ln>
              <a:solidFill>
                <a:srgbClr val="000000"/>
              </a:solidFill>
              <a:effectLst/>
              <a:uLnTx/>
              <a:uFillTx/>
              <a:latin typeface="Arial"/>
              <a:cs typeface="Arial"/>
              <a:sym typeface="Arial"/>
            </a:endParaRPr>
          </a:p>
        </p:txBody>
      </p:sp>
      <p:pic>
        <p:nvPicPr>
          <p:cNvPr id="204" name="Google Shape;204;g8c02618498_0_75"/>
          <p:cNvPicPr preferRelativeResize="0"/>
          <p:nvPr/>
        </p:nvPicPr>
        <p:blipFill rotWithShape="1">
          <a:blip r:embed="rId3" cstate="screen">
            <a:alphaModFix/>
            <a:extLst>
              <a:ext uri="{28A0092B-C50C-407E-A947-70E740481C1C}">
                <a14:useLocalDpi xmlns:a14="http://schemas.microsoft.com/office/drawing/2010/main"/>
              </a:ext>
            </a:extLst>
          </a:blip>
          <a:srcRect t="63043"/>
          <a:stretch/>
        </p:blipFill>
        <p:spPr>
          <a:xfrm>
            <a:off x="0" y="4323522"/>
            <a:ext cx="12192001" cy="2534479"/>
          </a:xfrm>
          <a:prstGeom prst="rect">
            <a:avLst/>
          </a:prstGeom>
          <a:noFill/>
          <a:ln>
            <a:noFill/>
          </a:ln>
        </p:spPr>
      </p:pic>
      <p:graphicFrame>
        <p:nvGraphicFramePr>
          <p:cNvPr id="2" name="Table 2">
            <a:extLst>
              <a:ext uri="{FF2B5EF4-FFF2-40B4-BE49-F238E27FC236}">
                <a16:creationId xmlns:a16="http://schemas.microsoft.com/office/drawing/2014/main" id="{642EA30F-4FDC-40A1-BA81-2764CE0295F1}"/>
              </a:ext>
            </a:extLst>
          </p:cNvPr>
          <p:cNvGraphicFramePr>
            <a:graphicFrameLocks noGrp="1"/>
          </p:cNvGraphicFramePr>
          <p:nvPr>
            <p:extLst>
              <p:ext uri="{D42A27DB-BD31-4B8C-83A1-F6EECF244321}">
                <p14:modId xmlns:p14="http://schemas.microsoft.com/office/powerpoint/2010/main" val="3552927360"/>
              </p:ext>
            </p:extLst>
          </p:nvPr>
        </p:nvGraphicFramePr>
        <p:xfrm>
          <a:off x="163403" y="811636"/>
          <a:ext cx="11848794" cy="3959701"/>
        </p:xfrm>
        <a:graphic>
          <a:graphicData uri="http://schemas.openxmlformats.org/drawingml/2006/table">
            <a:tbl>
              <a:tblPr firstRow="1" bandRow="1">
                <a:tableStyleId>{69012ECD-51FC-41F1-AA8D-1B2483CD663E}</a:tableStyleId>
              </a:tblPr>
              <a:tblGrid>
                <a:gridCol w="1553430">
                  <a:extLst>
                    <a:ext uri="{9D8B030D-6E8A-4147-A177-3AD203B41FA5}">
                      <a16:colId xmlns:a16="http://schemas.microsoft.com/office/drawing/2014/main" val="3991579079"/>
                    </a:ext>
                  </a:extLst>
                </a:gridCol>
                <a:gridCol w="1576873">
                  <a:extLst>
                    <a:ext uri="{9D8B030D-6E8A-4147-A177-3AD203B41FA5}">
                      <a16:colId xmlns:a16="http://schemas.microsoft.com/office/drawing/2014/main" val="1642043078"/>
                    </a:ext>
                  </a:extLst>
                </a:gridCol>
                <a:gridCol w="1735494">
                  <a:extLst>
                    <a:ext uri="{9D8B030D-6E8A-4147-A177-3AD203B41FA5}">
                      <a16:colId xmlns:a16="http://schemas.microsoft.com/office/drawing/2014/main" val="1198419035"/>
                    </a:ext>
                  </a:extLst>
                </a:gridCol>
                <a:gridCol w="1548882">
                  <a:extLst>
                    <a:ext uri="{9D8B030D-6E8A-4147-A177-3AD203B41FA5}">
                      <a16:colId xmlns:a16="http://schemas.microsoft.com/office/drawing/2014/main" val="2107079075"/>
                    </a:ext>
                  </a:extLst>
                </a:gridCol>
                <a:gridCol w="1698171">
                  <a:extLst>
                    <a:ext uri="{9D8B030D-6E8A-4147-A177-3AD203B41FA5}">
                      <a16:colId xmlns:a16="http://schemas.microsoft.com/office/drawing/2014/main" val="3191674950"/>
                    </a:ext>
                  </a:extLst>
                </a:gridCol>
                <a:gridCol w="3735944">
                  <a:extLst>
                    <a:ext uri="{9D8B030D-6E8A-4147-A177-3AD203B41FA5}">
                      <a16:colId xmlns:a16="http://schemas.microsoft.com/office/drawing/2014/main" val="964010657"/>
                    </a:ext>
                  </a:extLst>
                </a:gridCol>
              </a:tblGrid>
              <a:tr h="1216501">
                <a:tc>
                  <a:txBody>
                    <a:bodyPr/>
                    <a:lstStyle/>
                    <a:p>
                      <a:pPr algn="ctr"/>
                      <a:r>
                        <a:rPr lang="en-US" sz="1800" b="1" dirty="0"/>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New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Evidence</a:t>
                      </a:r>
                      <a:r>
                        <a:rPr lang="en-US" sz="1800" dirty="0"/>
                        <a:t> </a:t>
                      </a:r>
                      <a:r>
                        <a:rPr lang="en-US" sz="1600" dirty="0"/>
                        <a:t>(limited, medium, robust)</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Agreement</a:t>
                      </a:r>
                      <a:r>
                        <a:rPr lang="en-US" sz="1800" dirty="0"/>
                        <a:t> </a:t>
                      </a:r>
                    </a:p>
                    <a:p>
                      <a:pPr algn="ctr"/>
                      <a:r>
                        <a:rPr lang="en-US" sz="1600" dirty="0"/>
                        <a:t>(low, medium, or high)</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Confidence</a:t>
                      </a:r>
                      <a:r>
                        <a:rPr lang="en-US" sz="1800" dirty="0"/>
                        <a:t> </a:t>
                      </a:r>
                      <a:r>
                        <a:rPr lang="en-US" sz="1600" dirty="0"/>
                        <a:t>(very low, low, medium, high, or very high)</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5443611"/>
                  </a:ext>
                </a:extLst>
              </a:tr>
              <a:tr h="1520626">
                <a:tc>
                  <a:txBody>
                    <a:bodyPr/>
                    <a:lstStyle/>
                    <a:p>
                      <a:r>
                        <a:rPr lang="en-US" sz="1800" dirty="0"/>
                        <a:t>Question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Status:  </a:t>
                      </a:r>
                    </a:p>
                    <a:p>
                      <a:r>
                        <a:rPr lang="en-US" sz="1800" b="1" dirty="0"/>
                        <a:t>Fair</a:t>
                      </a:r>
                    </a:p>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Robust for temp / pH</a:t>
                      </a:r>
                    </a:p>
                    <a:p>
                      <a:endParaRPr lang="en-US" dirty="0"/>
                    </a:p>
                    <a:p>
                      <a:r>
                        <a:rPr lang="en-US" dirty="0"/>
                        <a:t>Limited for currents, deep sea</a:t>
                      </a:r>
                    </a:p>
                    <a:p>
                      <a:endParaRPr lang="en-US" dirty="0"/>
                    </a:p>
                    <a:p>
                      <a:r>
                        <a:rPr lang="en-US" b="1" dirty="0"/>
                        <a:t>Medium 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Temperature and pH data shows clear changes.  Bleaching mortality is low, but events are more frequent and longer.  Sea level exacerbated by subsidence may not be CC.  Tutuila / Swains may have worse climate impacts, </a:t>
                      </a:r>
                      <a:r>
                        <a:rPr lang="en-US" dirty="0" err="1"/>
                        <a:t>Manu’a</a:t>
                      </a:r>
                      <a:r>
                        <a:rPr lang="en-US" dirty="0"/>
                        <a:t> seems to be ok.  Note that Swains may be in Poor.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2362204"/>
                  </a:ext>
                </a:extLst>
              </a:tr>
              <a:tr h="782884">
                <a:tc>
                  <a:txBody>
                    <a:bodyPr/>
                    <a:lstStyle/>
                    <a:p>
                      <a:endParaRPr lang="en-US" sz="1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Trend: </a:t>
                      </a:r>
                    </a:p>
                    <a:p>
                      <a:r>
                        <a:rPr lang="en-US" sz="1800" b="1" dirty="0"/>
                        <a:t>Worsening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Medium overall</a:t>
                      </a:r>
                    </a:p>
                    <a:p>
                      <a:r>
                        <a:rPr lang="en-US" dirty="0"/>
                        <a:t>Robust for temp / pH, Limited for O2 currents, deep sea</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Need to capture that temperature and pH is robust, others limited.   Note data is more limited for outer islands.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504799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MBNMS_header">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MBNMS_header">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MBNMS_header">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MBNMS_header">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2546</TotalTime>
  <Words>6946</Words>
  <Application>Microsoft Office PowerPoint</Application>
  <PresentationFormat>Widescreen</PresentationFormat>
  <Paragraphs>539</Paragraphs>
  <Slides>37</Slides>
  <Notes>37</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37</vt:i4>
      </vt:variant>
    </vt:vector>
  </HeadingPairs>
  <TitlesOfParts>
    <vt:vector size="51" baseType="lpstr">
      <vt:lpstr>Arial</vt:lpstr>
      <vt:lpstr>Arial Narrow</vt:lpstr>
      <vt:lpstr>Calibri</vt:lpstr>
      <vt:lpstr>Comic Sans MS</vt:lpstr>
      <vt:lpstr>Helvetica Neue</vt:lpstr>
      <vt:lpstr>Inherit</vt:lpstr>
      <vt:lpstr>Inherit</vt:lpstr>
      <vt:lpstr>Source Sans Pro</vt:lpstr>
      <vt:lpstr>Times New Roman</vt:lpstr>
      <vt:lpstr>Office Theme</vt:lpstr>
      <vt:lpstr>1_MBNMS_header</vt:lpstr>
      <vt:lpstr>2_MBNMS_header</vt:lpstr>
      <vt:lpstr>3_MBNMS_header</vt:lpstr>
      <vt:lpstr>4_MBNMS_header</vt:lpstr>
      <vt:lpstr>ONMS Condition Report Questions  </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PowerPoint Presentation</vt:lpstr>
      <vt:lpstr>Question 8: Have recent, accelerated changes in climate altered water conditions and how are they changing?</vt:lpstr>
      <vt:lpstr>Question 8: Have recent, accelerated changes in climate altered water conditions and how are they changing?</vt:lpstr>
      <vt:lpstr>PowerPoint Presentation</vt:lpstr>
      <vt:lpstr>PowerPoint Presentation</vt:lpstr>
      <vt:lpstr>Question 8: Have recent, accelerated changes in climate altered water conditions and how are they changing?</vt:lpstr>
      <vt:lpstr>Question 8: Have recent, accelerated changes in climate altered water conditions and how are they changing?</vt:lpstr>
      <vt:lpstr>PowerPoint Presentation</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Question 8: Have recent, accelerated changes in climate altered water conditions and how are they changing?</vt:lpstr>
      <vt:lpstr>PowerPoint Presentation</vt:lpstr>
      <vt:lpstr>Question 8: Have recent, accelerated changes in climate altered water conditions and how are they changing?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ONMS Condition Report Questions  </dc:title>
  <dc:creator>Valerie Brown</dc:creator>
  <cp:lastModifiedBy>Val B</cp:lastModifiedBy>
  <cp:revision>57</cp:revision>
  <dcterms:created xsi:type="dcterms:W3CDTF">2020-07-07T18:09:10Z</dcterms:created>
  <dcterms:modified xsi:type="dcterms:W3CDTF">2020-08-31T21:53:51Z</dcterms:modified>
</cp:coreProperties>
</file>